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MAE</c:v>
                </c:pt>
              </c:strCache>
            </c:strRef>
          </c:tx>
          <c:spPr>
            <a:solidFill>
              <a:srgbClr val="A99C8E"/>
            </a:solidFill>
            <a:effectLst/>
          </c:spPr>
          <c:invertIfNegative val="0"/>
          <c:dLbls>
            <c:numFmt formatCode="0.0000" sourceLinked="0"/>
            <c:txPr>
              <a:bodyPr/>
              <a:lstStyle/>
              <a:p>
                <a:pPr>
                  <a:defRPr b="0" i="0" strike="noStrike" sz="1100" u="none">
                    <a:solidFill>
                      <a:srgbClr val="000000"/>
                    </a:solidFill>
                    <a:latin typeface="Calibri"/>
                  </a:defRPr>
                </a:pPr>
              </a:p>
            </c:txPr>
            <c:showLegendKey val="0"/>
            <c:showVal val="1"/>
            <c:showCatName val="0"/>
            <c:showSerName val="0"/>
            <c:showPercent val="0"/>
            <c:showBubbleSize val="0"/>
            <c:showLeaderLines val="0"/>
          </c:dLbls>
          <c:dPt>
            <c:idx val="0"/>
            <c:invertIfNegative val="0"/>
            <c:bubble3D val="0"/>
            <c:spPr>
              <a:solidFill>
                <a:srgbClr val="A99C8E"/>
              </a:solidFill>
              <a:effectLst/>
            </c:spPr>
          </c:dPt>
          <c:dPt>
            <c:idx val="1"/>
            <c:invertIfNegative val="0"/>
            <c:bubble3D val="0"/>
            <c:spPr>
              <a:solidFill>
                <a:srgbClr val="5E8272"/>
              </a:solidFill>
              <a:effectLst/>
            </c:spPr>
          </c:dPt>
          <c:dPt>
            <c:idx val="2"/>
            <c:invertIfNegative val="0"/>
            <c:bubble3D val="0"/>
            <c:spPr>
              <a:solidFill>
                <a:srgbClr val="B85042"/>
              </a:solidFill>
              <a:effectLst/>
            </c:spPr>
          </c:dPt>
          <c:cat>
            <c:multiLvlStrRef>
              <c:f>Sheet1!$A$2:$A$4</c:f>
              <c:multiLvlStrCache>
                <c:ptCount val="3"/>
                <c:lvl>
                  <c:pt idx="0">
                    <c:v>Baseline
(predict the mean)</c:v>
                  </c:pt>
                  <c:pt idx="1">
                    <c:v>Prophet</c:v>
                  </c:pt>
                  <c:pt idx="2">
                    <c:v>Gradient Boosting</c:v>
                  </c:pt>
                </c:lvl>
              </c:multiLvlStrCache>
            </c:multiLvlStrRef>
          </c:cat>
          <c:val>
            <c:numRef>
              <c:f>Sheet1!$B$2:$B$4</c:f>
              <c:numCache>
                <c:formatCode>General</c:formatCode>
                <c:ptCount val="3"/>
                <c:pt idx="0">
                  <c:v>0.143</c:v>
                </c:pt>
                <c:pt idx="1">
                  <c:v>0.0879</c:v>
                </c:pt>
                <c:pt idx="2">
                  <c:v>0.0644</c:v>
                </c:pt>
              </c:numCache>
            </c:numRef>
          </c:val>
        </c:ser>
        <c:dLbls>
          <c:numFmt formatCode="0.0000" sourceLinked="0"/>
          <c:txPr>
            <a:bodyPr/>
            <a:lstStyle/>
            <a:p>
              <a:pPr>
                <a:defRPr b="0" i="0" strike="noStrike" sz="110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76A5F"/>
                </a:solidFill>
                <a:latin typeface="Calibri"/>
              </a:defRPr>
            </a:pPr>
            <a:endParaRPr lang="en-US"/>
          </a:p>
        </c:txPr>
        <c:crossAx val="2094734552"/>
        <c:crosses val="autoZero"/>
        <c:auto val="1"/>
        <c:lblAlgn val="ctr"/>
        <c:noMultiLvlLbl val="1"/>
      </c:catAx>
      <c:valAx>
        <c:axId val="2094734552"/>
        <c:scaling>
          <c:orientation val="minMax"/>
          <c:max val="0.18"/>
        </c:scaling>
        <c:delete val="0"/>
        <c:axPos val="l"/>
        <c:majorGridlines>
          <c:spPr>
            <a:ln w="12700" cap="flat">
              <a:solidFill>
                <a:srgbClr val="DFD8C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76A5F"/>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Model</c:v>
                </c:pt>
              </c:strCache>
            </c:strRef>
          </c:tx>
          <c:spPr>
            <a:solidFill>
              <a:srgbClr val="B85042"/>
            </a:solidFill>
            <a:ln w="38100" cap="flat">
              <a:solidFill>
                <a:srgbClr val="B85042"/>
              </a:solidFill>
              <a:prstDash val="solid"/>
              <a:round/>
            </a:ln>
            <a:effectLst/>
          </c:spPr>
          <c:invertIfNegative val="0"/>
          <c:dLbls>
            <c:numFmt formatCode="#,##0" sourceLinked="0"/>
            <c:txPr>
              <a:bodyPr/>
              <a:lstStyle/>
              <a:p>
                <a:pPr>
                  <a:defRPr b="0" i="0" strike="noStrike" sz="1100" u="none">
                    <a:solidFill>
                      <a:srgbClr val="000000"/>
                    </a:solidFill>
                    <a:latin typeface="Calibri"/>
                  </a:defRPr>
                </a:pPr>
              </a:p>
            </c:txPr>
            <c:showLegendKey val="0"/>
            <c:showVal val="0"/>
            <c:showCatName val="0"/>
            <c:showSerName val="0"/>
            <c:showPercent val="0"/>
            <c:showBubbleSize val="0"/>
            <c:showLeaderLines val="0"/>
          </c:dLbls>
          <c:marker>
            <c:symbol val="circle"/>
            <c:size val="6"/>
            <c:spPr>
              <a:solidFill>
                <a:srgbClr val="B85042"/>
              </a:solidFill>
              <a:ln w="9525" cap="flat">
                <a:solidFill>
                  <a:srgbClr val="B85042"/>
                </a:solidFill>
                <a:prstDash val="solid"/>
                <a:round/>
              </a:ln>
              <a:effectLst/>
            </c:spPr>
          </c:marker>
          <c:cat>
            <c:multiLvlStrRef>
              <c:f>Sheet1!$A$2:$A$13</c:f>
              <c:multiLvlStrCache>
                <c:ptCount val="12"/>
                <c:lvl>
                  <c:pt idx="0">
                    <c:v>0</c:v>
                  </c:pt>
                  <c:pt idx="1">
                    <c:v>1</c:v>
                  </c:pt>
                  <c:pt idx="2">
                    <c:v>2</c:v>
                  </c:pt>
                  <c:pt idx="3">
                    <c:v>3</c:v>
                  </c:pt>
                  <c:pt idx="4">
                    <c:v>5</c:v>
                  </c:pt>
                  <c:pt idx="5">
                    <c:v>7</c:v>
                  </c:pt>
                  <c:pt idx="6">
                    <c:v>10</c:v>
                  </c:pt>
                  <c:pt idx="7">
                    <c:v>14</c:v>
                  </c:pt>
                  <c:pt idx="8">
                    <c:v>21</c:v>
                  </c:pt>
                  <c:pt idx="9">
                    <c:v>30</c:v>
                  </c:pt>
                  <c:pt idx="10">
                    <c:v>45</c:v>
                  </c:pt>
                  <c:pt idx="11">
                    <c:v>60</c:v>
                  </c:pt>
                </c:lvl>
              </c:multiLvlStrCache>
            </c:multiLvlStrRef>
          </c:cat>
          <c:val>
            <c:numRef>
              <c:f>Sheet1!$B$2:$B$13</c:f>
              <c:numCache>
                <c:formatCode>General</c:formatCode>
                <c:ptCount val="12"/>
                <c:pt idx="0">
                  <c:v>0.0447</c:v>
                </c:pt>
                <c:pt idx="1">
                  <c:v>0.0462</c:v>
                </c:pt>
                <c:pt idx="2">
                  <c:v>0.0497</c:v>
                </c:pt>
                <c:pt idx="3">
                  <c:v>0.0542</c:v>
                </c:pt>
                <c:pt idx="4">
                  <c:v>0.0602</c:v>
                </c:pt>
                <c:pt idx="5">
                  <c:v>0.0636</c:v>
                </c:pt>
                <c:pt idx="6">
                  <c:v>0.0678</c:v>
                </c:pt>
                <c:pt idx="7">
                  <c:v>0.0847</c:v>
                </c:pt>
                <c:pt idx="8">
                  <c:v>0.0734</c:v>
                </c:pt>
                <c:pt idx="9">
                  <c:v>0.0766</c:v>
                </c:pt>
                <c:pt idx="10">
                  <c:v>0.0786</c:v>
                </c:pt>
                <c:pt idx="11">
                  <c:v>0.0805</c:v>
                </c:pt>
              </c:numCache>
            </c:numRef>
          </c:val>
          <c:smooth val="0"/>
        </c:ser>
        <c:dLbls>
          <c:numFmt formatCode="#,##0" sourceLinked="0"/>
          <c:txPr>
            <a:bodyPr/>
            <a:lstStyle/>
            <a:p>
              <a:pPr>
                <a:defRPr b="0" i="0" strike="noStrike" sz="1100" u="none">
                  <a:solidFill>
                    <a:srgbClr val="000000"/>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Baseline</c:v>
                </c:pt>
              </c:strCache>
            </c:strRef>
          </c:tx>
          <c:spPr>
            <a:solidFill>
              <a:srgbClr val="B85042"/>
            </a:solidFill>
            <a:ln w="38100" cap="flat">
              <a:solidFill>
                <a:srgbClr val="B85042"/>
              </a:solidFill>
              <a:prstDash val="solid"/>
              <a:round/>
            </a:ln>
            <a:effectLst/>
          </c:spPr>
          <c:invertIfNegative val="0"/>
          <c:dLbls>
            <c:numFmt formatCode="#,##0" sourceLinked="0"/>
            <c:txPr>
              <a:bodyPr/>
              <a:lstStyle/>
              <a:p>
                <a:pPr>
                  <a:defRPr b="0" i="0" strike="noStrike" sz="1100" u="none">
                    <a:solidFill>
                      <a:srgbClr val="000000"/>
                    </a:solidFill>
                    <a:latin typeface="Calibri"/>
                  </a:defRPr>
                </a:pPr>
              </a:p>
            </c:txPr>
            <c:showLegendKey val="0"/>
            <c:showVal val="0"/>
            <c:showCatName val="0"/>
            <c:showSerName val="0"/>
            <c:showPercent val="0"/>
            <c:showBubbleSize val="0"/>
            <c:showLeaderLines val="0"/>
          </c:dLbls>
          <c:marker>
            <c:symbol val="circle"/>
            <c:size val="6"/>
            <c:spPr>
              <a:solidFill>
                <a:srgbClr val="A99C8E"/>
              </a:solidFill>
              <a:ln w="9525" cap="flat">
                <a:solidFill>
                  <a:srgbClr val="B85042"/>
                </a:solidFill>
                <a:prstDash val="solid"/>
                <a:round/>
              </a:ln>
              <a:effectLst/>
            </c:spPr>
          </c:marker>
          <c:cat>
            <c:multiLvlStrRef>
              <c:f>Sheet1!$A$2:$A$13</c:f>
              <c:multiLvlStrCache>
                <c:ptCount val="12"/>
                <c:lvl>
                  <c:pt idx="0">
                    <c:v>0</c:v>
                  </c:pt>
                  <c:pt idx="1">
                    <c:v>1</c:v>
                  </c:pt>
                  <c:pt idx="2">
                    <c:v>2</c:v>
                  </c:pt>
                  <c:pt idx="3">
                    <c:v>3</c:v>
                  </c:pt>
                  <c:pt idx="4">
                    <c:v>5</c:v>
                  </c:pt>
                  <c:pt idx="5">
                    <c:v>7</c:v>
                  </c:pt>
                  <c:pt idx="6">
                    <c:v>10</c:v>
                  </c:pt>
                  <c:pt idx="7">
                    <c:v>14</c:v>
                  </c:pt>
                  <c:pt idx="8">
                    <c:v>21</c:v>
                  </c:pt>
                  <c:pt idx="9">
                    <c:v>30</c:v>
                  </c:pt>
                  <c:pt idx="10">
                    <c:v>45</c:v>
                  </c:pt>
                  <c:pt idx="11">
                    <c:v>60</c:v>
                  </c:pt>
                </c:lvl>
              </c:multiLvlStrCache>
            </c:multiLvlStrRef>
          </c:cat>
          <c:val>
            <c:numRef>
              <c:f>Sheet1!$C$2:$C$13</c:f>
              <c:numCache>
                <c:formatCode>General</c:formatCode>
                <c:ptCount val="12"/>
                <c:pt idx="0">
                  <c:v>0.1443</c:v>
                </c:pt>
                <c:pt idx="1">
                  <c:v>0.1415</c:v>
                </c:pt>
                <c:pt idx="2">
                  <c:v>0.1535</c:v>
                </c:pt>
                <c:pt idx="3">
                  <c:v>0.1488</c:v>
                </c:pt>
                <c:pt idx="4">
                  <c:v>0.1577</c:v>
                </c:pt>
                <c:pt idx="5">
                  <c:v>0.1306</c:v>
                </c:pt>
                <c:pt idx="6">
                  <c:v>0.1381</c:v>
                </c:pt>
                <c:pt idx="7">
                  <c:v>0.1441</c:v>
                </c:pt>
                <c:pt idx="8">
                  <c:v>0.1318</c:v>
                </c:pt>
                <c:pt idx="9">
                  <c:v>0.1509</c:v>
                </c:pt>
                <c:pt idx="10">
                  <c:v>0.1273</c:v>
                </c:pt>
                <c:pt idx="11">
                  <c:v>0.1438</c:v>
                </c:pt>
              </c:numCache>
            </c:numRef>
          </c:val>
          <c:smooth val="0"/>
        </c:ser>
        <c:dLbls>
          <c:numFmt formatCode="#,##0" sourceLinked="0"/>
          <c:txPr>
            <a:bodyPr/>
            <a:lstStyle/>
            <a:p>
              <a:pPr>
                <a:defRPr b="0" i="0" strike="noStrike" sz="1100" u="none">
                  <a:solidFill>
                    <a:srgbClr val="000000"/>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76A5F"/>
                </a:solidFill>
                <a:latin typeface="Calibri"/>
              </a:defRPr>
            </a:pPr>
            <a:endParaRPr lang="en-US"/>
          </a:p>
        </c:txPr>
        <c:crossAx val="2094734552"/>
        <c:crosses val="autoZero"/>
        <c:auto val="1"/>
        <c:lblAlgn val="ctr"/>
        <c:noMultiLvlLbl val="1"/>
      </c:catAx>
      <c:valAx>
        <c:axId val="2094734552"/>
        <c:scaling>
          <c:orientation val="minMax"/>
          <c:max val="0.18"/>
          <c:min val="0"/>
        </c:scaling>
        <c:delete val="0"/>
        <c:axPos val="l"/>
        <c:majorGridlines>
          <c:spPr>
            <a:ln w="12700" cap="flat">
              <a:solidFill>
                <a:srgbClr val="DFD8C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76A5F"/>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Permutation importance</c:v>
                </c:pt>
              </c:strCache>
            </c:strRef>
          </c:tx>
          <c:spPr>
            <a:solidFill>
              <a:srgbClr val="B85042"/>
            </a:solidFill>
            <a:effectLst/>
          </c:spPr>
          <c:invertIfNegative val="0"/>
          <c:dLbls>
            <c:numFmt formatCode="0.0000" sourceLinked="0"/>
            <c:txPr>
              <a:bodyPr/>
              <a:lstStyle/>
              <a:p>
                <a:pPr>
                  <a:defRPr b="0" i="0" strike="noStrike" sz="1100" u="none">
                    <a:solidFill>
                      <a:srgbClr val="000000"/>
                    </a:solidFill>
                    <a:latin typeface="Calibri"/>
                  </a:defRPr>
                </a:pPr>
              </a:p>
            </c:txPr>
            <c:showLegendKey val="0"/>
            <c:showVal val="1"/>
            <c:showCatName val="0"/>
            <c:showSerName val="0"/>
            <c:showPercent val="0"/>
            <c:showBubbleSize val="0"/>
            <c:showLeaderLines val="0"/>
          </c:dLbls>
          <c:cat>
            <c:multiLvlStrRef>
              <c:f>Sheet1!$A$2:$A$9</c:f>
              <c:multiLvlStrCache>
                <c:ptCount val="8"/>
                <c:lvl>
                  <c:pt idx="0">
                    <c:v>price_to_competitor</c:v>
                  </c:pt>
                  <c:pt idx="1">
                    <c:v>demand_pressure</c:v>
                  </c:pt>
                  <c:pt idx="2">
                    <c:v>historical_demand</c:v>
                  </c:pt>
                  <c:pt idx="3">
                    <c:v>lead_time</c:v>
                  </c:pt>
                  <c:pt idx="4">
                    <c:v>search_demand</c:v>
                  </c:pt>
                  <c:pt idx="5">
                    <c:v>occupancy × lead</c:v>
                  </c:pt>
                  <c:pt idx="6">
                    <c:v>days_to_checkin</c:v>
                  </c:pt>
                  <c:pt idx="7">
                    <c:v>occupancy_rate</c:v>
                  </c:pt>
                </c:lvl>
              </c:multiLvlStrCache>
            </c:multiLvlStrRef>
          </c:cat>
          <c:val>
            <c:numRef>
              <c:f>Sheet1!$B$2:$B$9</c:f>
              <c:numCache>
                <c:formatCode>General</c:formatCode>
                <c:ptCount val="8"/>
                <c:pt idx="0">
                  <c:v>0.0039</c:v>
                </c:pt>
                <c:pt idx="1">
                  <c:v>0.0045</c:v>
                </c:pt>
                <c:pt idx="2">
                  <c:v>0.0056</c:v>
                </c:pt>
                <c:pt idx="3">
                  <c:v>0.0071</c:v>
                </c:pt>
                <c:pt idx="4">
                  <c:v>0.0073</c:v>
                </c:pt>
                <c:pt idx="5">
                  <c:v>0.008</c:v>
                </c:pt>
                <c:pt idx="6">
                  <c:v>0.0147</c:v>
                </c:pt>
                <c:pt idx="7">
                  <c:v>0.0298</c:v>
                </c:pt>
              </c:numCache>
            </c:numRef>
          </c:val>
        </c:ser>
        <c:dLbls>
          <c:numFmt formatCode="0.0000" sourceLinked="0"/>
          <c:txPr>
            <a:bodyPr/>
            <a:lstStyle/>
            <a:p>
              <a:pPr>
                <a:defRPr b="0" i="0" strike="noStrike" sz="110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776A5F"/>
                </a:solidFill>
                <a:latin typeface="Calibri"/>
              </a:defRPr>
            </a:pPr>
            <a:endParaRPr lang="en-US"/>
          </a:p>
        </c:txPr>
        <c:crossAx val="2094734552"/>
        <c:crosses val="autoZero"/>
        <c:auto val="1"/>
        <c:lblAlgn val="ctr"/>
        <c:noMultiLvlLbl val="1"/>
      </c:catAx>
      <c:valAx>
        <c:axId val="2094734552"/>
        <c:scaling>
          <c:orientation val="minMax"/>
          <c:max val="0.036"/>
        </c:scaling>
        <c:delete val="0"/>
        <c:axPos val="b"/>
        <c:majorGridlines>
          <c:spPr>
            <a:ln w="12700" cap="flat">
              <a:solidFill>
                <a:srgbClr val="DFD8C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76A5F"/>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not the stack. 'A hotel room is the most perishable product there is — an unsold room-night is worth exactly zero at midnight and there is no inventory to carry forward.' Then the constraint that shaped everything: it has to be explainable, because a price a revenue manager cannot interrogate is a price they will override, and an overridden pricing system is a switched-off pricing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RevPAR and not occupancy or ADR: occupancy alone rewards giving rooms away, ADR alone rewards an empty hotel with one expensive suite sold. RevPAR is the only one you cannot game by sacrificing the other. If asked about the data: it is a simulator, not a random number generator — every relationship the pricing engine later claims to exploit is put there deliberately and asserted in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top to bottom — it is one path. The three rules at the bottom are the architectural claims; each is enforced, not aspirational. If asked why Prophet AND a gradient booster: they answer different questions. Prophet knows calendar structure but nothing about today; the booster knows today but has no notion of a seasonal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list aloud. Use it to answer 'walk me through the codebase' by pointing at the three boundaries: ingestion is swappable behind one interface, pricing is pure, and the dashboard is a pure API consumer. The interesting one is pricing/ — it imports no framework at all, which is what lets every pricing rule be tested in a single line and keeps HTTP and ORM concerns out of the part an auditor cares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pickup grid is the answer to 'how do you prevent leakage' — it is structural, not a code review habit. The counterfactual test: change only FUTURE bookings for a stay date, rebuild the features, and assert nothing that claims to be as-of-today moved. The occupancy table is worth memorising — it is the sanity check that told me the model was broken (see the merge_asof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ask about leakage, lead with the counterfactual test — it is the strongest thing in this project because it tests the property rather than the implementation. The train/serve parity seam matters too: FEATURE_VERSION is stamped into every artifact and validated at load, so a model trained on v1 features cannot silently be served v2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two models' is a guaranteed question. The answer is that they are not redundant — one is a time-series model with no situational awareness, the other is situational with no calendar. The detail that shows rigour: scoring both on the SAME holdout. If you score Prophet on its own backtest and the booster on a holdout, the blend weight is comparing two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'against a baseline of' every single time you quote a metric. R² of 0.765 sounds good until you learn what the baseline gets — here it is 0.000 by construction, so the number is meaningful. Also volunteer 'chronological split, never shuffled' before you are asked. A random split on time-series data leaks the future into training, and saying it first signals you know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answer to 'how do you know the model is good' beyond a single number. The SHAPE is the argument. Point at the 14-day bump — it is real, it is in the data, and not pretending it is smooth is more honest than a cleaned-up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claim: the model was not told that occupancy matters most. It was given 30 features and permutation importance on held-out data ranked them. Mention the impurity-measure distinction unprompted — it is a small thing that signals you have read past the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details that get asked about. First: adjustments are ADDITIVE inside one multiplier and each is individually clamped — never chained multiplicatively, because chaining lets three moderate signals compound into an extreme move nobody intended. Second: confidence scaling with a floor of 0.5. Explain it as 'the system's willingness to act is proportional to how sure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type gate is the single best thing to volunteer in a design discussion. The question 'how do you guarantee guardrails always run' normally gets answered with 'we always call them' — here the answer is that a price that skipped them cannot be represented. Same pattern shows up again in the AI agent's allowlist. Make the violating state unrepresentable rather than merely discouraged.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distinctive slide in the deck — spend time here. The point is not that I built a scraper; it is that I hit a constraint and chose the option that kept a real guarantee instead of the option that produced a better screenshot. If they push: parse() raises ScraperParseError rather than returning an empty list, because to a pricing engine 'the market published no rates' and 'our parser broke' must never look the same. There is a layout=v2 switch that triggers exactly that failure on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that lands: at-least-once is not a compromise you tolerate, it is a choice you make safe. The unique event_id turns redelivery from a correctness problem into a no-op insert. Four topics, single broker with replication factor 1 — correct for local development and explicitly listed as a production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bar is the strongest single idea in the project — deliver it slowly. A model that hallucinates 'Diwali is next week' produces a price inside every band, confidently justified, and completely wrong. Guardrails bound damage. They do not create correctness. That distinction is what separates someone who has deployed an LLM from someone who has read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the boundary before they find it: the allowlist is in-process, so it binds this code and not a different process holding the same URL. The complete control is an API credential with no write scope, and this project does not have one because it ships no auth layer. Naming your own limitation is worth more than a stronger-sounding claim a reviewer can puncture in one question. Also mention: anthropic is not in requirements.txt at all. Delete the package and the pricing system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monitoring caveat is worth leading with — it is an example of the system being honest about its own limits in code rather than in a comment. It is emitted as a check, so anyone reading a drift alert sees it. 'Degrade, don't die' is the design principle: Kafka down means the API still serves; competitor data missing means fall back to the hotel's own recent rate and LOWER the confidence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that matters: the suite needs nothing running. In-memory SQLite is only sound because database/models.py deliberately avoids PostgreSQL-only constructs — portable enums as VARCHAR plus CHECK. If asked what you would add: property-based tests on the guardrail chain, and a rolling-origin cross-validation instead of the current single-fold backtest.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story to lead with if you only tell one. It has a clean arc and the lesson generalises past this project. The measurements are in the model's docstring so nobody 'fixes' the setting back — that detail usually gets a nod. Interval coverage went from 0.53 to 0.82 against a nominal 0.80, which is the calibration half of the same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one with a data-heavy interviewer. 'Right range, right mean, wrong values' is a failure mode they will recognise immediately. The deeper point is the second card: I had a test for this behaviour and it was asserting nothing, because its fixture used one horizon for every row. Coverage said the line was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one if the role has any security or data-engineering flavour. It is small, concrete, and the lesson is immediately transferable. The uncomfortable part worth admitting: every 'we honour robots.txt' claim in the codebase was false for that path, and the code looked completely correct. A fourth bug if they want more: a request guard capped at 400 when the schema made 384 the maximum — it could never fire. The real risk was wall-clock, not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say 'production-ready' about this. Say 'production-shaped, and here is the gap list' — then show it. Volunteering limitations reads as judgement; being caught without them reads as inexperience. Have the ordered next-steps ready. Knowing what is missing is different from thinking nothing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bugs, not the stack. Anyone can list technologies; very few candidates can describe a defect that was invisible, explain why it was invisible, and say what they changed about their testing as a result. If there is time for one question back: ask how they currently handle the explainability problem — every pricing team has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118"/>
        </a:solidFill>
      </p:bgPr>
    </p:bg>
    <p:spTree>
      <p:nvGrpSpPr>
        <p:cNvPr id="1" name=""/>
        <p:cNvGrpSpPr/>
        <p:nvPr/>
      </p:nvGrpSpPr>
      <p:grpSpPr>
        <a:xfrm>
          <a:off x="0" y="0"/>
          <a:ext cx="0" cy="0"/>
          <a:chOff x="0" y="0"/>
          <a:chExt cx="0" cy="0"/>
        </a:xfrm>
      </p:grpSpPr>
      <p:sp>
        <p:nvSpPr>
          <p:cNvPr id="2" name="Text 0"/>
          <p:cNvSpPr/>
          <p:nvPr/>
        </p:nvSpPr>
        <p:spPr>
          <a:xfrm>
            <a:off x="566928" y="1481328"/>
            <a:ext cx="11055096" cy="786384"/>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AI-Driven Dynamic</a:t>
            </a:r>
            <a:endParaRPr lang="en-US" sz="5000" dirty="0"/>
          </a:p>
        </p:txBody>
      </p:sp>
      <p:sp>
        <p:nvSpPr>
          <p:cNvPr id="3" name="Text 1"/>
          <p:cNvSpPr/>
          <p:nvPr/>
        </p:nvSpPr>
        <p:spPr>
          <a:xfrm>
            <a:off x="566928" y="2212848"/>
            <a:ext cx="11055096" cy="786384"/>
          </a:xfrm>
          <a:prstGeom prst="rect">
            <a:avLst/>
          </a:prstGeom>
          <a:noFill/>
          <a:ln/>
        </p:spPr>
        <p:txBody>
          <a:bodyPr wrap="square" lIns="0" tIns="0" rIns="0" bIns="0" rtlCol="0" anchor="ctr"/>
          <a:lstStyle/>
          <a:p>
            <a:pPr indent="0" marL="0">
              <a:buNone/>
            </a:pPr>
            <a:r>
              <a:rPr lang="en-US" sz="5000" b="1" dirty="0">
                <a:solidFill>
                  <a:srgbClr val="B85042"/>
                </a:solidFill>
                <a:latin typeface="Cambria" pitchFamily="34" charset="0"/>
                <a:ea typeface="Cambria" pitchFamily="34" charset="-122"/>
                <a:cs typeface="Cambria" pitchFamily="34" charset="-120"/>
              </a:rPr>
              <a:t>Hotel Pricing System</a:t>
            </a:r>
            <a:endParaRPr lang="en-US" sz="5000" dirty="0"/>
          </a:p>
        </p:txBody>
      </p:sp>
      <p:sp>
        <p:nvSpPr>
          <p:cNvPr id="4" name="Text 2"/>
          <p:cNvSpPr/>
          <p:nvPr/>
        </p:nvSpPr>
        <p:spPr>
          <a:xfrm>
            <a:off x="566928" y="3200400"/>
            <a:ext cx="7863840" cy="822960"/>
          </a:xfrm>
          <a:prstGeom prst="rect">
            <a:avLst/>
          </a:prstGeom>
          <a:noFill/>
          <a:ln/>
        </p:spPr>
        <p:txBody>
          <a:bodyPr wrap="square" lIns="0" tIns="0" rIns="0" bIns="0" rtlCol="0" anchor="ctr"/>
          <a:lstStyle/>
          <a:p>
            <a:pPr indent="0" marL="0">
              <a:lnSpc>
                <a:spcPts val="2200"/>
              </a:lnSpc>
              <a:buNone/>
            </a:pPr>
            <a:r>
              <a:rPr lang="en-US" sz="1500" dirty="0">
                <a:solidFill>
                  <a:srgbClr val="C9BFB2"/>
                </a:solidFill>
                <a:latin typeface="Calibri" pitchFamily="34" charset="0"/>
                <a:ea typeface="Calibri" pitchFamily="34" charset="-122"/>
                <a:cs typeface="Calibri" pitchFamily="34" charset="-120"/>
              </a:rPr>
              <a:t>End-to-end revenue management: streaming ingestion, leakage-free features,</a:t>
            </a:r>
            <a:endParaRPr lang="en-US" sz="1500" dirty="0"/>
          </a:p>
          <a:p>
            <a:pPr indent="0" marL="0">
              <a:lnSpc>
                <a:spcPts val="2200"/>
              </a:lnSpc>
              <a:buNone/>
            </a:pPr>
            <a:r>
              <a:rPr lang="en-US" sz="1500" dirty="0">
                <a:solidFill>
                  <a:srgbClr val="C9BFB2"/>
                </a:solidFill>
                <a:latin typeface="Calibri" pitchFamily="34" charset="0"/>
                <a:ea typeface="Calibri" pitchFamily="34" charset="-122"/>
                <a:cs typeface="Calibri" pitchFamily="34" charset="-120"/>
              </a:rPr>
              <a:t>two demand models, and a deterministic pricing engine that can be audited.</a:t>
            </a:r>
            <a:endParaRPr lang="en-US" sz="1500" dirty="0"/>
          </a:p>
        </p:txBody>
      </p:sp>
      <p:sp>
        <p:nvSpPr>
          <p:cNvPr id="5" name="Text 3"/>
          <p:cNvSpPr/>
          <p:nvPr/>
        </p:nvSpPr>
        <p:spPr>
          <a:xfrm>
            <a:off x="566928" y="4370832"/>
            <a:ext cx="2194560" cy="47548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840</a:t>
            </a:r>
            <a:endParaRPr lang="en-US" sz="2700" dirty="0"/>
          </a:p>
        </p:txBody>
      </p:sp>
      <p:sp>
        <p:nvSpPr>
          <p:cNvPr id="6" name="Text 4"/>
          <p:cNvSpPr/>
          <p:nvPr/>
        </p:nvSpPr>
        <p:spPr>
          <a:xfrm>
            <a:off x="566928" y="4846320"/>
            <a:ext cx="2194560" cy="310896"/>
          </a:xfrm>
          <a:prstGeom prst="rect">
            <a:avLst/>
          </a:prstGeom>
          <a:noFill/>
          <a:ln/>
        </p:spPr>
        <p:txBody>
          <a:bodyPr wrap="square" lIns="0" tIns="0" rIns="0" bIns="0" rtlCol="0" anchor="ctr"/>
          <a:lstStyle/>
          <a:p>
            <a:pPr indent="0" marL="0">
              <a:buNone/>
            </a:pPr>
            <a:r>
              <a:rPr lang="en-US" sz="1100" dirty="0">
                <a:solidFill>
                  <a:srgbClr val="9C8F82"/>
                </a:solidFill>
                <a:latin typeface="Calibri" pitchFamily="34" charset="0"/>
                <a:ea typeface="Calibri" pitchFamily="34" charset="-122"/>
                <a:cs typeface="Calibri" pitchFamily="34" charset="-120"/>
              </a:rPr>
              <a:t>tests</a:t>
            </a:r>
            <a:endParaRPr lang="en-US" sz="1100" dirty="0"/>
          </a:p>
        </p:txBody>
      </p:sp>
      <p:sp>
        <p:nvSpPr>
          <p:cNvPr id="7" name="Text 5"/>
          <p:cNvSpPr/>
          <p:nvPr/>
        </p:nvSpPr>
        <p:spPr>
          <a:xfrm>
            <a:off x="2962656" y="4370832"/>
            <a:ext cx="2194560" cy="47548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55%</a:t>
            </a:r>
            <a:endParaRPr lang="en-US" sz="2700" dirty="0"/>
          </a:p>
        </p:txBody>
      </p:sp>
      <p:sp>
        <p:nvSpPr>
          <p:cNvPr id="8" name="Text 6"/>
          <p:cNvSpPr/>
          <p:nvPr/>
        </p:nvSpPr>
        <p:spPr>
          <a:xfrm>
            <a:off x="2962656" y="4846320"/>
            <a:ext cx="2194560" cy="310896"/>
          </a:xfrm>
          <a:prstGeom prst="rect">
            <a:avLst/>
          </a:prstGeom>
          <a:noFill/>
          <a:ln/>
        </p:spPr>
        <p:txBody>
          <a:bodyPr wrap="square" lIns="0" tIns="0" rIns="0" bIns="0" rtlCol="0" anchor="ctr"/>
          <a:lstStyle/>
          <a:p>
            <a:pPr indent="0" marL="0">
              <a:buNone/>
            </a:pPr>
            <a:r>
              <a:rPr lang="en-US" sz="1100" dirty="0">
                <a:solidFill>
                  <a:srgbClr val="9C8F82"/>
                </a:solidFill>
                <a:latin typeface="Calibri" pitchFamily="34" charset="0"/>
                <a:ea typeface="Calibri" pitchFamily="34" charset="-122"/>
                <a:cs typeface="Calibri" pitchFamily="34" charset="-120"/>
              </a:rPr>
              <a:t>better than baseline</a:t>
            </a:r>
            <a:endParaRPr lang="en-US" sz="1100" dirty="0"/>
          </a:p>
        </p:txBody>
      </p:sp>
      <p:sp>
        <p:nvSpPr>
          <p:cNvPr id="9" name="Text 7"/>
          <p:cNvSpPr/>
          <p:nvPr/>
        </p:nvSpPr>
        <p:spPr>
          <a:xfrm>
            <a:off x="5358384" y="4370832"/>
            <a:ext cx="2194560" cy="47548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~25 ms</a:t>
            </a:r>
            <a:endParaRPr lang="en-US" sz="2700" dirty="0"/>
          </a:p>
        </p:txBody>
      </p:sp>
      <p:sp>
        <p:nvSpPr>
          <p:cNvPr id="10" name="Text 8"/>
          <p:cNvSpPr/>
          <p:nvPr/>
        </p:nvSpPr>
        <p:spPr>
          <a:xfrm>
            <a:off x="5358384" y="4846320"/>
            <a:ext cx="2194560" cy="310896"/>
          </a:xfrm>
          <a:prstGeom prst="rect">
            <a:avLst/>
          </a:prstGeom>
          <a:noFill/>
          <a:ln/>
        </p:spPr>
        <p:txBody>
          <a:bodyPr wrap="square" lIns="0" tIns="0" rIns="0" bIns="0" rtlCol="0" anchor="ctr"/>
          <a:lstStyle/>
          <a:p>
            <a:pPr indent="0" marL="0">
              <a:buNone/>
            </a:pPr>
            <a:r>
              <a:rPr lang="en-US" sz="1100" dirty="0">
                <a:solidFill>
                  <a:srgbClr val="9C8F82"/>
                </a:solidFill>
                <a:latin typeface="Calibri" pitchFamily="34" charset="0"/>
                <a:ea typeface="Calibri" pitchFamily="34" charset="-122"/>
                <a:cs typeface="Calibri" pitchFamily="34" charset="-120"/>
              </a:rPr>
              <a:t>per priced night</a:t>
            </a:r>
            <a:endParaRPr lang="en-US" sz="1100" dirty="0"/>
          </a:p>
        </p:txBody>
      </p:sp>
      <p:sp>
        <p:nvSpPr>
          <p:cNvPr id="11" name="Text 9"/>
          <p:cNvSpPr/>
          <p:nvPr/>
        </p:nvSpPr>
        <p:spPr>
          <a:xfrm>
            <a:off x="7754112" y="4370832"/>
            <a:ext cx="2194560" cy="47548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12</a:t>
            </a:r>
            <a:endParaRPr lang="en-US" sz="2700" dirty="0"/>
          </a:p>
        </p:txBody>
      </p:sp>
      <p:sp>
        <p:nvSpPr>
          <p:cNvPr id="12" name="Text 10"/>
          <p:cNvSpPr/>
          <p:nvPr/>
        </p:nvSpPr>
        <p:spPr>
          <a:xfrm>
            <a:off x="7754112" y="4846320"/>
            <a:ext cx="2194560" cy="310896"/>
          </a:xfrm>
          <a:prstGeom prst="rect">
            <a:avLst/>
          </a:prstGeom>
          <a:noFill/>
          <a:ln/>
        </p:spPr>
        <p:txBody>
          <a:bodyPr wrap="square" lIns="0" tIns="0" rIns="0" bIns="0" rtlCol="0" anchor="ctr"/>
          <a:lstStyle/>
          <a:p>
            <a:pPr indent="0" marL="0">
              <a:buNone/>
            </a:pPr>
            <a:r>
              <a:rPr lang="en-US" sz="1100" dirty="0">
                <a:solidFill>
                  <a:srgbClr val="9C8F82"/>
                </a:solidFill>
                <a:latin typeface="Calibri" pitchFamily="34" charset="0"/>
                <a:ea typeface="Calibri" pitchFamily="34" charset="-122"/>
                <a:cs typeface="Calibri" pitchFamily="34" charset="-120"/>
              </a:rPr>
              <a:t>REST endpoints</a:t>
            </a:r>
            <a:endParaRPr lang="en-US" sz="1100" dirty="0"/>
          </a:p>
        </p:txBody>
      </p:sp>
      <p:sp>
        <p:nvSpPr>
          <p:cNvPr id="13" name="Text 11"/>
          <p:cNvSpPr/>
          <p:nvPr/>
        </p:nvSpPr>
        <p:spPr>
          <a:xfrm>
            <a:off x="566928" y="5943600"/>
            <a:ext cx="11055096" cy="310896"/>
          </a:xfrm>
          <a:prstGeom prst="rect">
            <a:avLst/>
          </a:prstGeom>
          <a:noFill/>
          <a:ln/>
        </p:spPr>
        <p:txBody>
          <a:bodyPr wrap="square" lIns="0" tIns="0" rIns="0" bIns="0" rtlCol="0" anchor="ctr"/>
          <a:lstStyle/>
          <a:p>
            <a:pPr indent="0" marL="0">
              <a:buNone/>
            </a:pPr>
            <a:r>
              <a:rPr lang="en-US" sz="1150" dirty="0">
                <a:solidFill>
                  <a:srgbClr val="776A5F"/>
                </a:solidFill>
                <a:latin typeface="Calibri" pitchFamily="34" charset="0"/>
                <a:ea typeface="Calibri" pitchFamily="34" charset="-122"/>
                <a:cs typeface="Calibri" pitchFamily="34" charset="-120"/>
              </a:rPr>
              <a:t>Python · FastAPI · PostgreSQL · Kafka · Prophet · scikit-learn · Streamlit · Docker</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Perishable inventory, and a decision every single day</a:t>
            </a:r>
            <a:endParaRPr lang="en-US" sz="3200" dirty="0"/>
          </a:p>
        </p:txBody>
      </p:sp>
      <p:sp>
        <p:nvSpPr>
          <p:cNvPr id="4" name="Text 2"/>
          <p:cNvSpPr/>
          <p:nvPr/>
        </p:nvSpPr>
        <p:spPr>
          <a:xfrm>
            <a:off x="566928" y="1481328"/>
            <a:ext cx="6309360" cy="21945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2B2118"/>
                </a:solidFill>
                <a:latin typeface="Calibri" pitchFamily="34" charset="0"/>
                <a:ea typeface="Calibri" pitchFamily="34" charset="-122"/>
                <a:cs typeface="Calibri" pitchFamily="34" charset="-120"/>
              </a:rPr>
              <a:t>An unsold room-night is worth exactly zero at midnight. There is no inventory to carry forward and no second chance to sell it.</a:t>
            </a:r>
            <a:endParaRPr lang="en-US" sz="1400" dirty="0"/>
          </a:p>
          <a:p>
            <a:pPr marL="342900" indent="-342900">
              <a:spcAft>
                <a:spcPts val="700"/>
              </a:spcAft>
              <a:buSzPct val="100000"/>
              <a:buChar char="•"/>
            </a:pPr>
            <a:r>
              <a:rPr lang="en-US" sz="1400" dirty="0">
                <a:solidFill>
                  <a:srgbClr val="2B2118"/>
                </a:solidFill>
                <a:latin typeface="Calibri" pitchFamily="34" charset="0"/>
                <a:ea typeface="Calibri" pitchFamily="34" charset="-122"/>
                <a:cs typeface="Calibri" pitchFamily="34" charset="-120"/>
              </a:rPr>
              <a:t>So the system must decide — daily, for every room type and every future night — what to charge, while demand is uncertain and competitors are moving.</a:t>
            </a:r>
            <a:endParaRPr lang="en-US" sz="1400" dirty="0"/>
          </a:p>
          <a:p>
            <a:pPr marL="342900" indent="-342900">
              <a:spcAft>
                <a:spcPts val="700"/>
              </a:spcAft>
              <a:buSzPct val="100000"/>
              <a:buChar char="•"/>
            </a:pPr>
            <a:r>
              <a:rPr lang="en-US" sz="1400" dirty="0">
                <a:solidFill>
                  <a:srgbClr val="2B2118"/>
                </a:solidFill>
                <a:latin typeface="Calibri" pitchFamily="34" charset="0"/>
                <a:ea typeface="Calibri" pitchFamily="34" charset="-122"/>
                <a:cs typeface="Calibri" pitchFamily="34" charset="-120"/>
              </a:rPr>
              <a:t>The answer changes as check-in approaches: the same night is a different pricing problem 60 days out and 2 days out.</a:t>
            </a:r>
            <a:endParaRPr lang="en-US" sz="1400" dirty="0"/>
          </a:p>
        </p:txBody>
      </p:sp>
      <p:sp>
        <p:nvSpPr>
          <p:cNvPr id="5" name="Shape 3"/>
          <p:cNvSpPr/>
          <p:nvPr/>
        </p:nvSpPr>
        <p:spPr>
          <a:xfrm>
            <a:off x="566928" y="3913632"/>
            <a:ext cx="6309360" cy="1298448"/>
          </a:xfrm>
          <a:prstGeom prst="roundRect">
            <a:avLst>
              <a:gd name="adj" fmla="val 5634"/>
            </a:avLst>
          </a:prstGeom>
          <a:solidFill>
            <a:srgbClr val="EFEAD8"/>
          </a:solidFill>
          <a:ln/>
        </p:spPr>
      </p:sp>
      <p:sp>
        <p:nvSpPr>
          <p:cNvPr id="6" name="Text 4"/>
          <p:cNvSpPr/>
          <p:nvPr/>
        </p:nvSpPr>
        <p:spPr>
          <a:xfrm>
            <a:off x="841248" y="4059936"/>
            <a:ext cx="5760720" cy="310896"/>
          </a:xfrm>
          <a:prstGeom prst="rect">
            <a:avLst/>
          </a:prstGeom>
          <a:noFill/>
          <a:ln/>
        </p:spPr>
        <p:txBody>
          <a:bodyPr wrap="square" lIns="0" tIns="0" rIns="0" bIns="0" rtlCol="0" anchor="ctr"/>
          <a:lstStyle/>
          <a:p>
            <a:pPr indent="0" marL="0">
              <a:buNone/>
            </a:pPr>
            <a:r>
              <a:rPr lang="en-US" sz="1600" b="1" dirty="0">
                <a:solidFill>
                  <a:srgbClr val="8E3B32"/>
                </a:solidFill>
                <a:latin typeface="Cambria" pitchFamily="34" charset="0"/>
                <a:ea typeface="Cambria" pitchFamily="34" charset="-122"/>
                <a:cs typeface="Cambria" pitchFamily="34" charset="-120"/>
              </a:rPr>
              <a:t>And it has to be explainable.</a:t>
            </a:r>
            <a:endParaRPr lang="en-US" sz="1600" dirty="0"/>
          </a:p>
        </p:txBody>
      </p:sp>
      <p:sp>
        <p:nvSpPr>
          <p:cNvPr id="7" name="Text 5"/>
          <p:cNvSpPr/>
          <p:nvPr/>
        </p:nvSpPr>
        <p:spPr>
          <a:xfrm>
            <a:off x="841248" y="4370832"/>
            <a:ext cx="5760720" cy="731520"/>
          </a:xfrm>
          <a:prstGeom prst="rect">
            <a:avLst/>
          </a:prstGeom>
          <a:noFill/>
          <a:ln/>
        </p:spPr>
        <p:txBody>
          <a:bodyPr wrap="square" lIns="0" tIns="0" rIns="0" bIns="0" rtlCol="0" anchor="ctr"/>
          <a:lstStyle/>
          <a:p>
            <a:pPr indent="0" marL="0">
              <a:buNone/>
            </a:pPr>
            <a:r>
              <a:rPr lang="en-US" sz="1250" dirty="0">
                <a:solidFill>
                  <a:srgbClr val="2B2118"/>
                </a:solidFill>
                <a:latin typeface="Calibri" pitchFamily="34" charset="0"/>
                <a:ea typeface="Calibri" pitchFamily="34" charset="-122"/>
                <a:cs typeface="Calibri" pitchFamily="34" charset="-120"/>
              </a:rPr>
              <a:t>A price a revenue manager cannot interrogate is a price they will override — and an overridden pricing system is a switched-off pricing system.</a:t>
            </a:r>
            <a:endParaRPr lang="en-US" sz="1250" dirty="0"/>
          </a:p>
        </p:txBody>
      </p:sp>
      <p:sp>
        <p:nvSpPr>
          <p:cNvPr id="8" name="Shape 6"/>
          <p:cNvSpPr/>
          <p:nvPr/>
        </p:nvSpPr>
        <p:spPr>
          <a:xfrm>
            <a:off x="7187184" y="1463040"/>
            <a:ext cx="4434840" cy="3749040"/>
          </a:xfrm>
          <a:prstGeom prst="roundRect">
            <a:avLst>
              <a:gd name="adj" fmla="val 1463"/>
            </a:avLst>
          </a:prstGeom>
          <a:solidFill>
            <a:srgbClr val="FBF8F2"/>
          </a:solidFill>
          <a:ln/>
          <a:effectLst>
            <a:outerShdw sx="100000" sy="100000" kx="0" ky="0" algn="bl" rotWithShape="0" blurRad="101600" dist="508" dir="5400000">
              <a:srgbClr val="000000">
                <a:alpha val="10000"/>
              </a:srgbClr>
            </a:outerShdw>
          </a:effectLst>
        </p:spPr>
      </p:sp>
      <p:sp>
        <p:nvSpPr>
          <p:cNvPr id="9" name="Text 7"/>
          <p:cNvSpPr/>
          <p:nvPr/>
        </p:nvSpPr>
        <p:spPr>
          <a:xfrm>
            <a:off x="7461504" y="1664208"/>
            <a:ext cx="3886200" cy="292608"/>
          </a:xfrm>
          <a:prstGeom prst="rect">
            <a:avLst/>
          </a:prstGeom>
          <a:noFill/>
          <a:ln/>
        </p:spPr>
        <p:txBody>
          <a:bodyPr wrap="square" lIns="0" tIns="0" rIns="0" bIns="0" rtlCol="0" anchor="ctr"/>
          <a:lstStyle/>
          <a:p>
            <a:pPr indent="0" marL="0">
              <a:buNone/>
            </a:pPr>
            <a:r>
              <a:rPr lang="en-US" sz="1500" b="1" dirty="0">
                <a:solidFill>
                  <a:srgbClr val="2B2118"/>
                </a:solidFill>
                <a:latin typeface="Cambria" pitchFamily="34" charset="0"/>
                <a:ea typeface="Cambria" pitchFamily="34" charset="-122"/>
                <a:cs typeface="Cambria" pitchFamily="34" charset="-120"/>
              </a:rPr>
              <a:t>What it manages</a:t>
            </a:r>
            <a:endParaRPr lang="en-US" sz="1500" dirty="0"/>
          </a:p>
        </p:txBody>
      </p:sp>
      <p:sp>
        <p:nvSpPr>
          <p:cNvPr id="10" name="Shape 8"/>
          <p:cNvSpPr/>
          <p:nvPr/>
        </p:nvSpPr>
        <p:spPr>
          <a:xfrm>
            <a:off x="7461504" y="2139696"/>
            <a:ext cx="457200" cy="457200"/>
          </a:xfrm>
          <a:prstGeom prst="ellipse">
            <a:avLst/>
          </a:prstGeom>
          <a:solidFill>
            <a:srgbClr val="B85042"/>
          </a:solidFill>
          <a:ln/>
        </p:spPr>
      </p:sp>
      <p:sp>
        <p:nvSpPr>
          <p:cNvPr id="11" name="Text 9"/>
          <p:cNvSpPr/>
          <p:nvPr/>
        </p:nvSpPr>
        <p:spPr>
          <a:xfrm>
            <a:off x="7461504" y="21396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12" name="Text 10"/>
          <p:cNvSpPr/>
          <p:nvPr/>
        </p:nvSpPr>
        <p:spPr>
          <a:xfrm>
            <a:off x="8065008" y="2176272"/>
            <a:ext cx="3291840" cy="384048"/>
          </a:xfrm>
          <a:prstGeom prst="rect">
            <a:avLst/>
          </a:prstGeom>
          <a:noFill/>
          <a:ln/>
        </p:spPr>
        <p:txBody>
          <a:bodyPr wrap="square" lIns="0" tIns="0" rIns="0" bIns="0" rtlCol="0" anchor="ctr"/>
          <a:lstStyle/>
          <a:p>
            <a:pPr indent="0" marL="0">
              <a:buNone/>
            </a:pPr>
            <a:r>
              <a:rPr lang="en-US" sz="1250" dirty="0">
                <a:solidFill>
                  <a:srgbClr val="2B2118"/>
                </a:solidFill>
                <a:latin typeface="Calibri" pitchFamily="34" charset="0"/>
                <a:ea typeface="Calibri" pitchFamily="34" charset="-122"/>
                <a:cs typeface="Calibri" pitchFamily="34" charset="-120"/>
              </a:rPr>
              <a:t>hotels across 6 Indian cities</a:t>
            </a:r>
            <a:endParaRPr lang="en-US" sz="1250" dirty="0"/>
          </a:p>
        </p:txBody>
      </p:sp>
      <p:sp>
        <p:nvSpPr>
          <p:cNvPr id="13" name="Shape 11"/>
          <p:cNvSpPr/>
          <p:nvPr/>
        </p:nvSpPr>
        <p:spPr>
          <a:xfrm>
            <a:off x="7461504" y="2852928"/>
            <a:ext cx="457200" cy="457200"/>
          </a:xfrm>
          <a:prstGeom prst="ellipse">
            <a:avLst/>
          </a:prstGeom>
          <a:solidFill>
            <a:srgbClr val="B85042"/>
          </a:solidFill>
          <a:ln/>
        </p:spPr>
      </p:sp>
      <p:sp>
        <p:nvSpPr>
          <p:cNvPr id="14" name="Text 12"/>
          <p:cNvSpPr/>
          <p:nvPr/>
        </p:nvSpPr>
        <p:spPr>
          <a:xfrm>
            <a:off x="7461504" y="28529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8065008" y="2889504"/>
            <a:ext cx="3291840" cy="384048"/>
          </a:xfrm>
          <a:prstGeom prst="rect">
            <a:avLst/>
          </a:prstGeom>
          <a:noFill/>
          <a:ln/>
        </p:spPr>
        <p:txBody>
          <a:bodyPr wrap="square" lIns="0" tIns="0" rIns="0" bIns="0" rtlCol="0" anchor="ctr"/>
          <a:lstStyle/>
          <a:p>
            <a:pPr indent="0" marL="0">
              <a:buNone/>
            </a:pPr>
            <a:r>
              <a:rPr lang="en-US" sz="1250" dirty="0">
                <a:solidFill>
                  <a:srgbClr val="2B2118"/>
                </a:solidFill>
                <a:latin typeface="Calibri" pitchFamily="34" charset="0"/>
                <a:ea typeface="Calibri" pitchFamily="34" charset="-122"/>
                <a:cs typeface="Calibri" pitchFamily="34" charset="-120"/>
              </a:rPr>
              <a:t>room categories per property</a:t>
            </a:r>
            <a:endParaRPr lang="en-US" sz="1250" dirty="0"/>
          </a:p>
        </p:txBody>
      </p:sp>
      <p:sp>
        <p:nvSpPr>
          <p:cNvPr id="16" name="Shape 14"/>
          <p:cNvSpPr/>
          <p:nvPr/>
        </p:nvSpPr>
        <p:spPr>
          <a:xfrm>
            <a:off x="7461504" y="3566160"/>
            <a:ext cx="457200" cy="457200"/>
          </a:xfrm>
          <a:prstGeom prst="ellipse">
            <a:avLst/>
          </a:prstGeom>
          <a:solidFill>
            <a:srgbClr val="B85042"/>
          </a:solidFill>
          <a:ln/>
        </p:spPr>
      </p:sp>
      <p:sp>
        <p:nvSpPr>
          <p:cNvPr id="17" name="Text 15"/>
          <p:cNvSpPr/>
          <p:nvPr/>
        </p:nvSpPr>
        <p:spPr>
          <a:xfrm>
            <a:off x="7461504" y="356616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365</a:t>
            </a:r>
            <a:endParaRPr lang="en-US" sz="1100" dirty="0"/>
          </a:p>
        </p:txBody>
      </p:sp>
      <p:sp>
        <p:nvSpPr>
          <p:cNvPr id="18" name="Text 16"/>
          <p:cNvSpPr/>
          <p:nvPr/>
        </p:nvSpPr>
        <p:spPr>
          <a:xfrm>
            <a:off x="8065008" y="3602736"/>
            <a:ext cx="3291840" cy="384048"/>
          </a:xfrm>
          <a:prstGeom prst="rect">
            <a:avLst/>
          </a:prstGeom>
          <a:noFill/>
          <a:ln/>
        </p:spPr>
        <p:txBody>
          <a:bodyPr wrap="square" lIns="0" tIns="0" rIns="0" bIns="0" rtlCol="0" anchor="ctr"/>
          <a:lstStyle/>
          <a:p>
            <a:pPr indent="0" marL="0">
              <a:buNone/>
            </a:pPr>
            <a:r>
              <a:rPr lang="en-US" sz="1250" dirty="0">
                <a:solidFill>
                  <a:srgbClr val="2B2118"/>
                </a:solidFill>
                <a:latin typeface="Calibri" pitchFamily="34" charset="0"/>
                <a:ea typeface="Calibri" pitchFamily="34" charset="-122"/>
                <a:cs typeface="Calibri" pitchFamily="34" charset="-120"/>
              </a:rPr>
              <a:t>days of history, 312,586 rows</a:t>
            </a:r>
            <a:endParaRPr lang="en-US" sz="1250" dirty="0"/>
          </a:p>
        </p:txBody>
      </p:sp>
      <p:sp>
        <p:nvSpPr>
          <p:cNvPr id="19" name="Shape 17"/>
          <p:cNvSpPr/>
          <p:nvPr/>
        </p:nvSpPr>
        <p:spPr>
          <a:xfrm>
            <a:off x="7461504" y="4279392"/>
            <a:ext cx="457200" cy="457200"/>
          </a:xfrm>
          <a:prstGeom prst="ellipse">
            <a:avLst/>
          </a:prstGeom>
          <a:solidFill>
            <a:srgbClr val="B85042"/>
          </a:solidFill>
          <a:ln/>
        </p:spPr>
      </p:sp>
      <p:sp>
        <p:nvSpPr>
          <p:cNvPr id="20" name="Text 18"/>
          <p:cNvSpPr/>
          <p:nvPr/>
        </p:nvSpPr>
        <p:spPr>
          <a:xfrm>
            <a:off x="7461504" y="42793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30</a:t>
            </a:r>
            <a:endParaRPr lang="en-US" sz="1400" dirty="0"/>
          </a:p>
        </p:txBody>
      </p:sp>
      <p:sp>
        <p:nvSpPr>
          <p:cNvPr id="21" name="Text 19"/>
          <p:cNvSpPr/>
          <p:nvPr/>
        </p:nvSpPr>
        <p:spPr>
          <a:xfrm>
            <a:off x="8065008" y="4315968"/>
            <a:ext cx="3291840" cy="384048"/>
          </a:xfrm>
          <a:prstGeom prst="rect">
            <a:avLst/>
          </a:prstGeom>
          <a:noFill/>
          <a:ln/>
        </p:spPr>
        <p:txBody>
          <a:bodyPr wrap="square" lIns="0" tIns="0" rIns="0" bIns="0" rtlCol="0" anchor="ctr"/>
          <a:lstStyle/>
          <a:p>
            <a:pPr indent="0" marL="0">
              <a:buNone/>
            </a:pPr>
            <a:r>
              <a:rPr lang="en-US" sz="1250" dirty="0">
                <a:solidFill>
                  <a:srgbClr val="2B2118"/>
                </a:solidFill>
                <a:latin typeface="Calibri" pitchFamily="34" charset="0"/>
                <a:ea typeface="Calibri" pitchFamily="34" charset="-122"/>
                <a:cs typeface="Calibri" pitchFamily="34" charset="-120"/>
              </a:rPr>
              <a:t>engineered features</a:t>
            </a:r>
            <a:endParaRPr lang="en-US" sz="1250" dirty="0"/>
          </a:p>
        </p:txBody>
      </p:sp>
      <p:sp>
        <p:nvSpPr>
          <p:cNvPr id="22" name="Text 20"/>
          <p:cNvSpPr/>
          <p:nvPr/>
        </p:nvSpPr>
        <p:spPr>
          <a:xfrm>
            <a:off x="7461504" y="4736592"/>
            <a:ext cx="3886200" cy="365760"/>
          </a:xfrm>
          <a:prstGeom prst="rect">
            <a:avLst/>
          </a:prstGeom>
          <a:noFill/>
          <a:ln/>
        </p:spPr>
        <p:txBody>
          <a:bodyPr wrap="square" lIns="0" tIns="0" rIns="0" bIns="0" rtlCol="0" anchor="ctr"/>
          <a:lstStyle/>
          <a:p>
            <a:pPr indent="0" marL="0">
              <a:buNone/>
            </a:pPr>
            <a:r>
              <a:rPr lang="en-US" sz="1050" i="1" dirty="0">
                <a:solidFill>
                  <a:srgbClr val="776A5F"/>
                </a:solidFill>
                <a:latin typeface="Calibri" pitchFamily="34" charset="0"/>
                <a:ea typeface="Calibri" pitchFamily="34" charset="-122"/>
                <a:cs typeface="Calibri" pitchFamily="34" charset="-120"/>
              </a:rPr>
              <a:t>RevPAR = occupancy × ADR is the number hotels actually manage against.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From a published rate to an auditable price</a:t>
            </a:r>
            <a:endParaRPr lang="en-US" sz="3200" dirty="0"/>
          </a:p>
        </p:txBody>
      </p:sp>
      <p:sp>
        <p:nvSpPr>
          <p:cNvPr id="4" name="Shape 2"/>
          <p:cNvSpPr/>
          <p:nvPr/>
        </p:nvSpPr>
        <p:spPr>
          <a:xfrm>
            <a:off x="566928" y="1572768"/>
            <a:ext cx="1700784" cy="566928"/>
          </a:xfrm>
          <a:prstGeom prst="roundRect">
            <a:avLst>
              <a:gd name="adj" fmla="val 12903"/>
            </a:avLst>
          </a:prstGeom>
          <a:solidFill>
            <a:srgbClr val="5E8272"/>
          </a:solidFill>
          <a:ln w="12700">
            <a:solidFill>
              <a:srgbClr val="5E8272"/>
            </a:solidFill>
            <a:prstDash val="solid"/>
          </a:ln>
        </p:spPr>
      </p:sp>
      <p:sp>
        <p:nvSpPr>
          <p:cNvPr id="5" name="Text 3"/>
          <p:cNvSpPr/>
          <p:nvPr/>
        </p:nvSpPr>
        <p:spPr>
          <a:xfrm>
            <a:off x="566928" y="1655064"/>
            <a:ext cx="1700784" cy="2834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Demo OTA</a:t>
            </a:r>
            <a:endParaRPr lang="en-US" sz="1150" dirty="0"/>
          </a:p>
        </p:txBody>
      </p:sp>
      <p:sp>
        <p:nvSpPr>
          <p:cNvPr id="6" name="Text 4"/>
          <p:cNvSpPr/>
          <p:nvPr/>
        </p:nvSpPr>
        <p:spPr>
          <a:xfrm>
            <a:off x="566928" y="1844893"/>
            <a:ext cx="1700784" cy="24944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real site + robots.txt</a:t>
            </a:r>
            <a:endParaRPr lang="en-US" sz="900" dirty="0"/>
          </a:p>
        </p:txBody>
      </p:sp>
      <p:sp>
        <p:nvSpPr>
          <p:cNvPr id="7" name="Shape 5"/>
          <p:cNvSpPr/>
          <p:nvPr/>
        </p:nvSpPr>
        <p:spPr>
          <a:xfrm>
            <a:off x="2340864" y="1783080"/>
            <a:ext cx="274320" cy="146304"/>
          </a:xfrm>
          <a:prstGeom prst="rightArrow">
            <a:avLst/>
          </a:prstGeom>
          <a:solidFill>
            <a:srgbClr val="C7BFB2"/>
          </a:solidFill>
          <a:ln/>
        </p:spPr>
      </p:sp>
      <p:sp>
        <p:nvSpPr>
          <p:cNvPr id="8" name="Shape 6"/>
          <p:cNvSpPr/>
          <p:nvPr/>
        </p:nvSpPr>
        <p:spPr>
          <a:xfrm>
            <a:off x="2688336" y="1572768"/>
            <a:ext cx="1572768" cy="566928"/>
          </a:xfrm>
          <a:prstGeom prst="roundRect">
            <a:avLst>
              <a:gd name="adj" fmla="val 12903"/>
            </a:avLst>
          </a:prstGeom>
          <a:solidFill>
            <a:srgbClr val="5E8272"/>
          </a:solidFill>
          <a:ln w="12700">
            <a:solidFill>
              <a:srgbClr val="5E8272"/>
            </a:solidFill>
            <a:prstDash val="solid"/>
          </a:ln>
        </p:spPr>
      </p:sp>
      <p:sp>
        <p:nvSpPr>
          <p:cNvPr id="9" name="Text 7"/>
          <p:cNvSpPr/>
          <p:nvPr/>
        </p:nvSpPr>
        <p:spPr>
          <a:xfrm>
            <a:off x="2688336" y="1655064"/>
            <a:ext cx="1572768" cy="2834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Scraper</a:t>
            </a:r>
            <a:endParaRPr lang="en-US" sz="1150" dirty="0"/>
          </a:p>
        </p:txBody>
      </p:sp>
      <p:sp>
        <p:nvSpPr>
          <p:cNvPr id="10" name="Text 8"/>
          <p:cNvSpPr/>
          <p:nvPr/>
        </p:nvSpPr>
        <p:spPr>
          <a:xfrm>
            <a:off x="2688336" y="1844893"/>
            <a:ext cx="1572768" cy="24944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CSS selectors</a:t>
            </a:r>
            <a:endParaRPr lang="en-US" sz="900" dirty="0"/>
          </a:p>
        </p:txBody>
      </p:sp>
      <p:sp>
        <p:nvSpPr>
          <p:cNvPr id="11" name="Shape 9"/>
          <p:cNvSpPr/>
          <p:nvPr/>
        </p:nvSpPr>
        <p:spPr>
          <a:xfrm>
            <a:off x="4334256" y="1783080"/>
            <a:ext cx="274320" cy="146304"/>
          </a:xfrm>
          <a:prstGeom prst="rightArrow">
            <a:avLst/>
          </a:prstGeom>
          <a:solidFill>
            <a:srgbClr val="C7BFB2"/>
          </a:solidFill>
          <a:ln/>
        </p:spPr>
      </p:sp>
      <p:sp>
        <p:nvSpPr>
          <p:cNvPr id="12" name="Shape 10"/>
          <p:cNvSpPr/>
          <p:nvPr/>
        </p:nvSpPr>
        <p:spPr>
          <a:xfrm>
            <a:off x="4681728" y="1572768"/>
            <a:ext cx="1463040" cy="566928"/>
          </a:xfrm>
          <a:prstGeom prst="roundRect">
            <a:avLst>
              <a:gd name="adj" fmla="val 12903"/>
            </a:avLst>
          </a:prstGeom>
          <a:solidFill>
            <a:srgbClr val="5E8272"/>
          </a:solidFill>
          <a:ln w="12700">
            <a:solidFill>
              <a:srgbClr val="5E8272"/>
            </a:solidFill>
            <a:prstDash val="solid"/>
          </a:ln>
        </p:spPr>
      </p:sp>
      <p:sp>
        <p:nvSpPr>
          <p:cNvPr id="13" name="Text 11"/>
          <p:cNvSpPr/>
          <p:nvPr/>
        </p:nvSpPr>
        <p:spPr>
          <a:xfrm>
            <a:off x="4681728" y="1655064"/>
            <a:ext cx="1463040" cy="2834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Kafka</a:t>
            </a:r>
            <a:endParaRPr lang="en-US" sz="1150" dirty="0"/>
          </a:p>
        </p:txBody>
      </p:sp>
      <p:sp>
        <p:nvSpPr>
          <p:cNvPr id="14" name="Text 12"/>
          <p:cNvSpPr/>
          <p:nvPr/>
        </p:nvSpPr>
        <p:spPr>
          <a:xfrm>
            <a:off x="4681728" y="1844893"/>
            <a:ext cx="1463040" cy="24944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4 topics</a:t>
            </a:r>
            <a:endParaRPr lang="en-US" sz="900" dirty="0"/>
          </a:p>
        </p:txBody>
      </p:sp>
      <p:sp>
        <p:nvSpPr>
          <p:cNvPr id="15" name="Shape 13"/>
          <p:cNvSpPr/>
          <p:nvPr/>
        </p:nvSpPr>
        <p:spPr>
          <a:xfrm>
            <a:off x="6217920" y="1783080"/>
            <a:ext cx="274320" cy="146304"/>
          </a:xfrm>
          <a:prstGeom prst="rightArrow">
            <a:avLst/>
          </a:prstGeom>
          <a:solidFill>
            <a:srgbClr val="C7BFB2"/>
          </a:solidFill>
          <a:ln/>
        </p:spPr>
      </p:sp>
      <p:sp>
        <p:nvSpPr>
          <p:cNvPr id="16" name="Shape 14"/>
          <p:cNvSpPr/>
          <p:nvPr/>
        </p:nvSpPr>
        <p:spPr>
          <a:xfrm>
            <a:off x="6565392" y="1572768"/>
            <a:ext cx="1572768" cy="566928"/>
          </a:xfrm>
          <a:prstGeom prst="roundRect">
            <a:avLst>
              <a:gd name="adj" fmla="val 12903"/>
            </a:avLst>
          </a:prstGeom>
          <a:solidFill>
            <a:srgbClr val="5E8272"/>
          </a:solidFill>
          <a:ln w="12700">
            <a:solidFill>
              <a:srgbClr val="5E8272"/>
            </a:solidFill>
            <a:prstDash val="solid"/>
          </a:ln>
        </p:spPr>
      </p:sp>
      <p:sp>
        <p:nvSpPr>
          <p:cNvPr id="17" name="Text 15"/>
          <p:cNvSpPr/>
          <p:nvPr/>
        </p:nvSpPr>
        <p:spPr>
          <a:xfrm>
            <a:off x="6565392" y="1655064"/>
            <a:ext cx="1572768" cy="2834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Consumer</a:t>
            </a:r>
            <a:endParaRPr lang="en-US" sz="1150" dirty="0"/>
          </a:p>
        </p:txBody>
      </p:sp>
      <p:sp>
        <p:nvSpPr>
          <p:cNvPr id="18" name="Text 16"/>
          <p:cNvSpPr/>
          <p:nvPr/>
        </p:nvSpPr>
        <p:spPr>
          <a:xfrm>
            <a:off x="6565392" y="1844893"/>
            <a:ext cx="1572768" cy="24944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idempotent</a:t>
            </a:r>
            <a:endParaRPr lang="en-US" sz="900" dirty="0"/>
          </a:p>
        </p:txBody>
      </p:sp>
      <p:sp>
        <p:nvSpPr>
          <p:cNvPr id="19" name="Shape 17"/>
          <p:cNvSpPr/>
          <p:nvPr/>
        </p:nvSpPr>
        <p:spPr>
          <a:xfrm>
            <a:off x="8211312" y="1783080"/>
            <a:ext cx="274320" cy="146304"/>
          </a:xfrm>
          <a:prstGeom prst="rightArrow">
            <a:avLst/>
          </a:prstGeom>
          <a:solidFill>
            <a:srgbClr val="C7BFB2"/>
          </a:solidFill>
          <a:ln/>
        </p:spPr>
      </p:sp>
      <p:sp>
        <p:nvSpPr>
          <p:cNvPr id="20" name="Shape 18"/>
          <p:cNvSpPr/>
          <p:nvPr/>
        </p:nvSpPr>
        <p:spPr>
          <a:xfrm>
            <a:off x="8558784" y="1572768"/>
            <a:ext cx="1737360" cy="566928"/>
          </a:xfrm>
          <a:prstGeom prst="roundRect">
            <a:avLst>
              <a:gd name="adj" fmla="val 12903"/>
            </a:avLst>
          </a:prstGeom>
          <a:solidFill>
            <a:srgbClr val="5E8272"/>
          </a:solidFill>
          <a:ln w="12700">
            <a:solidFill>
              <a:srgbClr val="5E8272"/>
            </a:solidFill>
            <a:prstDash val="solid"/>
          </a:ln>
        </p:spPr>
      </p:sp>
      <p:sp>
        <p:nvSpPr>
          <p:cNvPr id="21" name="Text 19"/>
          <p:cNvSpPr/>
          <p:nvPr/>
        </p:nvSpPr>
        <p:spPr>
          <a:xfrm>
            <a:off x="8558784" y="1655064"/>
            <a:ext cx="1737360" cy="2834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PostgreSQL</a:t>
            </a:r>
            <a:endParaRPr lang="en-US" sz="1150" dirty="0"/>
          </a:p>
        </p:txBody>
      </p:sp>
      <p:sp>
        <p:nvSpPr>
          <p:cNvPr id="22" name="Text 20"/>
          <p:cNvSpPr/>
          <p:nvPr/>
        </p:nvSpPr>
        <p:spPr>
          <a:xfrm>
            <a:off x="8558784" y="1844893"/>
            <a:ext cx="1737360" cy="24944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9 tables</a:t>
            </a:r>
            <a:endParaRPr lang="en-US" sz="900" dirty="0"/>
          </a:p>
        </p:txBody>
      </p:sp>
      <p:sp>
        <p:nvSpPr>
          <p:cNvPr id="23" name="Shape 21"/>
          <p:cNvSpPr/>
          <p:nvPr/>
        </p:nvSpPr>
        <p:spPr>
          <a:xfrm>
            <a:off x="566928" y="2615184"/>
            <a:ext cx="2286000" cy="566928"/>
          </a:xfrm>
          <a:prstGeom prst="roundRect">
            <a:avLst>
              <a:gd name="adj" fmla="val 12903"/>
            </a:avLst>
          </a:prstGeom>
          <a:solidFill>
            <a:srgbClr val="8C7B6B"/>
          </a:solidFill>
          <a:ln w="12700">
            <a:solidFill>
              <a:srgbClr val="8C7B6B"/>
            </a:solidFill>
            <a:prstDash val="solid"/>
          </a:ln>
        </p:spPr>
      </p:sp>
      <p:sp>
        <p:nvSpPr>
          <p:cNvPr id="24" name="Text 22"/>
          <p:cNvSpPr/>
          <p:nvPr/>
        </p:nvSpPr>
        <p:spPr>
          <a:xfrm>
            <a:off x="566928" y="2697480"/>
            <a:ext cx="2286000" cy="2834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Feature pipeline</a:t>
            </a:r>
            <a:endParaRPr lang="en-US" sz="1150" dirty="0"/>
          </a:p>
        </p:txBody>
      </p:sp>
      <p:sp>
        <p:nvSpPr>
          <p:cNvPr id="25" name="Text 23"/>
          <p:cNvSpPr/>
          <p:nvPr/>
        </p:nvSpPr>
        <p:spPr>
          <a:xfrm>
            <a:off x="566928" y="2887309"/>
            <a:ext cx="2286000" cy="24944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30 features, leakage-free</a:t>
            </a:r>
            <a:endParaRPr lang="en-US" sz="900" dirty="0"/>
          </a:p>
        </p:txBody>
      </p:sp>
      <p:sp>
        <p:nvSpPr>
          <p:cNvPr id="26" name="Shape 24"/>
          <p:cNvSpPr/>
          <p:nvPr/>
        </p:nvSpPr>
        <p:spPr>
          <a:xfrm>
            <a:off x="2926080" y="2825496"/>
            <a:ext cx="274320" cy="146304"/>
          </a:xfrm>
          <a:prstGeom prst="rightArrow">
            <a:avLst/>
          </a:prstGeom>
          <a:solidFill>
            <a:srgbClr val="C7BFB2"/>
          </a:solidFill>
          <a:ln/>
        </p:spPr>
      </p:sp>
      <p:sp>
        <p:nvSpPr>
          <p:cNvPr id="27" name="Shape 25"/>
          <p:cNvSpPr/>
          <p:nvPr/>
        </p:nvSpPr>
        <p:spPr>
          <a:xfrm>
            <a:off x="3273552" y="2615184"/>
            <a:ext cx="1920240" cy="566928"/>
          </a:xfrm>
          <a:prstGeom prst="roundRect">
            <a:avLst>
              <a:gd name="adj" fmla="val 12903"/>
            </a:avLst>
          </a:prstGeom>
          <a:solidFill>
            <a:srgbClr val="8C7B6B"/>
          </a:solidFill>
          <a:ln w="12700">
            <a:solidFill>
              <a:srgbClr val="8C7B6B"/>
            </a:solidFill>
            <a:prstDash val="solid"/>
          </a:ln>
        </p:spPr>
      </p:sp>
      <p:sp>
        <p:nvSpPr>
          <p:cNvPr id="28" name="Text 26"/>
          <p:cNvSpPr/>
          <p:nvPr/>
        </p:nvSpPr>
        <p:spPr>
          <a:xfrm>
            <a:off x="3273552" y="2697480"/>
            <a:ext cx="1920240" cy="2834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Prophet</a:t>
            </a:r>
            <a:endParaRPr lang="en-US" sz="1150" dirty="0"/>
          </a:p>
        </p:txBody>
      </p:sp>
      <p:sp>
        <p:nvSpPr>
          <p:cNvPr id="29" name="Text 27"/>
          <p:cNvSpPr/>
          <p:nvPr/>
        </p:nvSpPr>
        <p:spPr>
          <a:xfrm>
            <a:off x="3273552" y="2887309"/>
            <a:ext cx="1920240" cy="24944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calendar structure</a:t>
            </a:r>
            <a:endParaRPr lang="en-US" sz="900" dirty="0"/>
          </a:p>
        </p:txBody>
      </p:sp>
      <p:sp>
        <p:nvSpPr>
          <p:cNvPr id="30" name="Shape 28"/>
          <p:cNvSpPr/>
          <p:nvPr/>
        </p:nvSpPr>
        <p:spPr>
          <a:xfrm>
            <a:off x="5266944" y="2615184"/>
            <a:ext cx="1920240" cy="566928"/>
          </a:xfrm>
          <a:prstGeom prst="roundRect">
            <a:avLst>
              <a:gd name="adj" fmla="val 12903"/>
            </a:avLst>
          </a:prstGeom>
          <a:solidFill>
            <a:srgbClr val="8C7B6B"/>
          </a:solidFill>
          <a:ln w="12700">
            <a:solidFill>
              <a:srgbClr val="8C7B6B"/>
            </a:solidFill>
            <a:prstDash val="solid"/>
          </a:ln>
        </p:spPr>
      </p:sp>
      <p:sp>
        <p:nvSpPr>
          <p:cNvPr id="31" name="Text 29"/>
          <p:cNvSpPr/>
          <p:nvPr/>
        </p:nvSpPr>
        <p:spPr>
          <a:xfrm>
            <a:off x="5266944" y="2697480"/>
            <a:ext cx="1920240" cy="2834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Gradient Boosting</a:t>
            </a:r>
            <a:endParaRPr lang="en-US" sz="1150" dirty="0"/>
          </a:p>
        </p:txBody>
      </p:sp>
      <p:sp>
        <p:nvSpPr>
          <p:cNvPr id="32" name="Text 30"/>
          <p:cNvSpPr/>
          <p:nvPr/>
        </p:nvSpPr>
        <p:spPr>
          <a:xfrm>
            <a:off x="5266944" y="2887309"/>
            <a:ext cx="1920240" cy="24944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current situation</a:t>
            </a:r>
            <a:endParaRPr lang="en-US" sz="900" dirty="0"/>
          </a:p>
        </p:txBody>
      </p:sp>
      <p:sp>
        <p:nvSpPr>
          <p:cNvPr id="33" name="Shape 31"/>
          <p:cNvSpPr/>
          <p:nvPr/>
        </p:nvSpPr>
        <p:spPr>
          <a:xfrm>
            <a:off x="7260336" y="2825496"/>
            <a:ext cx="274320" cy="146304"/>
          </a:xfrm>
          <a:prstGeom prst="rightArrow">
            <a:avLst/>
          </a:prstGeom>
          <a:solidFill>
            <a:srgbClr val="C7BFB2"/>
          </a:solidFill>
          <a:ln/>
        </p:spPr>
      </p:sp>
      <p:sp>
        <p:nvSpPr>
          <p:cNvPr id="34" name="Shape 32"/>
          <p:cNvSpPr/>
          <p:nvPr/>
        </p:nvSpPr>
        <p:spPr>
          <a:xfrm>
            <a:off x="7607808" y="2615184"/>
            <a:ext cx="2688336" cy="566928"/>
          </a:xfrm>
          <a:prstGeom prst="roundRect">
            <a:avLst>
              <a:gd name="adj" fmla="val 12903"/>
            </a:avLst>
          </a:prstGeom>
          <a:solidFill>
            <a:srgbClr val="8C7B6B"/>
          </a:solidFill>
          <a:ln w="12700">
            <a:solidFill>
              <a:srgbClr val="8C7B6B"/>
            </a:solidFill>
            <a:prstDash val="solid"/>
          </a:ln>
        </p:spPr>
      </p:sp>
      <p:sp>
        <p:nvSpPr>
          <p:cNvPr id="35" name="Text 33"/>
          <p:cNvSpPr/>
          <p:nvPr/>
        </p:nvSpPr>
        <p:spPr>
          <a:xfrm>
            <a:off x="7607808" y="2615184"/>
            <a:ext cx="2688336"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Blended demand + confidence</a:t>
            </a:r>
            <a:endParaRPr lang="en-US" sz="1150" dirty="0"/>
          </a:p>
        </p:txBody>
      </p:sp>
      <p:sp>
        <p:nvSpPr>
          <p:cNvPr id="36" name="Shape 34"/>
          <p:cNvSpPr/>
          <p:nvPr/>
        </p:nvSpPr>
        <p:spPr>
          <a:xfrm>
            <a:off x="566928" y="3657600"/>
            <a:ext cx="2834640" cy="566928"/>
          </a:xfrm>
          <a:prstGeom prst="roundRect">
            <a:avLst>
              <a:gd name="adj" fmla="val 12903"/>
            </a:avLst>
          </a:prstGeom>
          <a:solidFill>
            <a:srgbClr val="B85042"/>
          </a:solidFill>
          <a:ln w="12700">
            <a:solidFill>
              <a:srgbClr val="B85042"/>
            </a:solidFill>
            <a:prstDash val="solid"/>
          </a:ln>
        </p:spPr>
      </p:sp>
      <p:sp>
        <p:nvSpPr>
          <p:cNvPr id="37" name="Text 35"/>
          <p:cNvSpPr/>
          <p:nvPr/>
        </p:nvSpPr>
        <p:spPr>
          <a:xfrm>
            <a:off x="566928" y="3739896"/>
            <a:ext cx="2834640" cy="2834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Pricing engine</a:t>
            </a:r>
            <a:endParaRPr lang="en-US" sz="1150" dirty="0"/>
          </a:p>
        </p:txBody>
      </p:sp>
      <p:sp>
        <p:nvSpPr>
          <p:cNvPr id="38" name="Text 36"/>
          <p:cNvSpPr/>
          <p:nvPr/>
        </p:nvSpPr>
        <p:spPr>
          <a:xfrm>
            <a:off x="566928" y="3929725"/>
            <a:ext cx="2834640" cy="24944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5 clamped adjustments</a:t>
            </a:r>
            <a:endParaRPr lang="en-US" sz="900" dirty="0"/>
          </a:p>
        </p:txBody>
      </p:sp>
      <p:sp>
        <p:nvSpPr>
          <p:cNvPr id="39" name="Shape 37"/>
          <p:cNvSpPr/>
          <p:nvPr/>
        </p:nvSpPr>
        <p:spPr>
          <a:xfrm>
            <a:off x="3474720" y="3867912"/>
            <a:ext cx="274320" cy="146304"/>
          </a:xfrm>
          <a:prstGeom prst="rightArrow">
            <a:avLst/>
          </a:prstGeom>
          <a:solidFill>
            <a:srgbClr val="C7BFB2"/>
          </a:solidFill>
          <a:ln/>
        </p:spPr>
      </p:sp>
      <p:sp>
        <p:nvSpPr>
          <p:cNvPr id="40" name="Shape 38"/>
          <p:cNvSpPr/>
          <p:nvPr/>
        </p:nvSpPr>
        <p:spPr>
          <a:xfrm>
            <a:off x="3822192" y="3657600"/>
            <a:ext cx="2743200" cy="566928"/>
          </a:xfrm>
          <a:prstGeom prst="roundRect">
            <a:avLst>
              <a:gd name="adj" fmla="val 12903"/>
            </a:avLst>
          </a:prstGeom>
          <a:solidFill>
            <a:srgbClr val="B85042"/>
          </a:solidFill>
          <a:ln w="12700">
            <a:solidFill>
              <a:srgbClr val="B85042"/>
            </a:solidFill>
            <a:prstDash val="solid"/>
          </a:ln>
        </p:spPr>
      </p:sp>
      <p:sp>
        <p:nvSpPr>
          <p:cNvPr id="41" name="Text 39"/>
          <p:cNvSpPr/>
          <p:nvPr/>
        </p:nvSpPr>
        <p:spPr>
          <a:xfrm>
            <a:off x="3822192" y="3739896"/>
            <a:ext cx="2743200" cy="2834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Guardrails</a:t>
            </a:r>
            <a:endParaRPr lang="en-US" sz="1150" dirty="0"/>
          </a:p>
        </p:txBody>
      </p:sp>
      <p:sp>
        <p:nvSpPr>
          <p:cNvPr id="42" name="Text 40"/>
          <p:cNvSpPr/>
          <p:nvPr/>
        </p:nvSpPr>
        <p:spPr>
          <a:xfrm>
            <a:off x="3822192" y="3929725"/>
            <a:ext cx="2743200" cy="24944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fixed order, unbypassable</a:t>
            </a:r>
            <a:endParaRPr lang="en-US" sz="900" dirty="0"/>
          </a:p>
        </p:txBody>
      </p:sp>
      <p:sp>
        <p:nvSpPr>
          <p:cNvPr id="43" name="Shape 41"/>
          <p:cNvSpPr/>
          <p:nvPr/>
        </p:nvSpPr>
        <p:spPr>
          <a:xfrm>
            <a:off x="6638544" y="3867912"/>
            <a:ext cx="274320" cy="146304"/>
          </a:xfrm>
          <a:prstGeom prst="rightArrow">
            <a:avLst/>
          </a:prstGeom>
          <a:solidFill>
            <a:srgbClr val="C7BFB2"/>
          </a:solidFill>
          <a:ln/>
        </p:spPr>
      </p:sp>
      <p:sp>
        <p:nvSpPr>
          <p:cNvPr id="44" name="Shape 42"/>
          <p:cNvSpPr/>
          <p:nvPr/>
        </p:nvSpPr>
        <p:spPr>
          <a:xfrm>
            <a:off x="6986016" y="3657600"/>
            <a:ext cx="1554480" cy="566928"/>
          </a:xfrm>
          <a:prstGeom prst="roundRect">
            <a:avLst>
              <a:gd name="adj" fmla="val 12903"/>
            </a:avLst>
          </a:prstGeom>
          <a:solidFill>
            <a:srgbClr val="B85042"/>
          </a:solidFill>
          <a:ln w="12700">
            <a:solidFill>
              <a:srgbClr val="B85042"/>
            </a:solidFill>
            <a:prstDash val="solid"/>
          </a:ln>
        </p:spPr>
      </p:sp>
      <p:sp>
        <p:nvSpPr>
          <p:cNvPr id="45" name="Text 43"/>
          <p:cNvSpPr/>
          <p:nvPr/>
        </p:nvSpPr>
        <p:spPr>
          <a:xfrm>
            <a:off x="6986016" y="3657600"/>
            <a:ext cx="15544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FastAPI</a:t>
            </a:r>
            <a:endParaRPr lang="en-US" sz="1150" dirty="0"/>
          </a:p>
        </p:txBody>
      </p:sp>
      <p:sp>
        <p:nvSpPr>
          <p:cNvPr id="46" name="Shape 44"/>
          <p:cNvSpPr/>
          <p:nvPr/>
        </p:nvSpPr>
        <p:spPr>
          <a:xfrm>
            <a:off x="8613648" y="3867912"/>
            <a:ext cx="274320" cy="146304"/>
          </a:xfrm>
          <a:prstGeom prst="rightArrow">
            <a:avLst/>
          </a:prstGeom>
          <a:solidFill>
            <a:srgbClr val="C7BFB2"/>
          </a:solidFill>
          <a:ln/>
        </p:spPr>
      </p:sp>
      <p:sp>
        <p:nvSpPr>
          <p:cNvPr id="47" name="Shape 45"/>
          <p:cNvSpPr/>
          <p:nvPr/>
        </p:nvSpPr>
        <p:spPr>
          <a:xfrm>
            <a:off x="8961120" y="3657600"/>
            <a:ext cx="1335024" cy="566928"/>
          </a:xfrm>
          <a:prstGeom prst="roundRect">
            <a:avLst>
              <a:gd name="adj" fmla="val 12903"/>
            </a:avLst>
          </a:prstGeom>
          <a:solidFill>
            <a:srgbClr val="B85042"/>
          </a:solidFill>
          <a:ln w="12700">
            <a:solidFill>
              <a:srgbClr val="B85042"/>
            </a:solidFill>
            <a:prstDash val="solid"/>
          </a:ln>
        </p:spPr>
      </p:sp>
      <p:sp>
        <p:nvSpPr>
          <p:cNvPr id="48" name="Text 46"/>
          <p:cNvSpPr/>
          <p:nvPr/>
        </p:nvSpPr>
        <p:spPr>
          <a:xfrm>
            <a:off x="8961120" y="3657600"/>
            <a:ext cx="1335024"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Dashboard</a:t>
            </a:r>
            <a:endParaRPr lang="en-US" sz="1150" dirty="0"/>
          </a:p>
        </p:txBody>
      </p:sp>
      <p:sp>
        <p:nvSpPr>
          <p:cNvPr id="49" name="Shape 47"/>
          <p:cNvSpPr/>
          <p:nvPr/>
        </p:nvSpPr>
        <p:spPr>
          <a:xfrm>
            <a:off x="566928" y="4663440"/>
            <a:ext cx="11055096" cy="1325880"/>
          </a:xfrm>
          <a:prstGeom prst="roundRect">
            <a:avLst>
              <a:gd name="adj" fmla="val 4138"/>
            </a:avLst>
          </a:prstGeom>
          <a:solidFill>
            <a:srgbClr val="FBF8F2"/>
          </a:solidFill>
          <a:ln/>
          <a:effectLst>
            <a:outerShdw sx="100000" sy="100000" kx="0" ky="0" algn="bl" rotWithShape="0" blurRad="101600" dist="508" dir="5400000">
              <a:srgbClr val="000000">
                <a:alpha val="10000"/>
              </a:srgbClr>
            </a:outerShdw>
          </a:effectLst>
        </p:spPr>
      </p:sp>
      <p:sp>
        <p:nvSpPr>
          <p:cNvPr id="50" name="Text 48"/>
          <p:cNvSpPr/>
          <p:nvPr/>
        </p:nvSpPr>
        <p:spPr>
          <a:xfrm>
            <a:off x="804672" y="4828032"/>
            <a:ext cx="3346704" cy="274320"/>
          </a:xfrm>
          <a:prstGeom prst="rect">
            <a:avLst/>
          </a:prstGeom>
          <a:noFill/>
          <a:ln/>
        </p:spPr>
        <p:txBody>
          <a:bodyPr wrap="square" lIns="0" tIns="0" rIns="0" bIns="0" rtlCol="0" anchor="ctr"/>
          <a:lstStyle/>
          <a:p>
            <a:pPr indent="0" marL="0">
              <a:buNone/>
            </a:pPr>
            <a:r>
              <a:rPr lang="en-US" sz="1150" b="1" dirty="0">
                <a:solidFill>
                  <a:srgbClr val="8E3B32"/>
                </a:solidFill>
                <a:latin typeface="Calibri" pitchFamily="34" charset="0"/>
                <a:ea typeface="Calibri" pitchFamily="34" charset="-122"/>
                <a:cs typeface="Calibri" pitchFamily="34" charset="-120"/>
              </a:rPr>
              <a:t>pricing/ imports no framework</a:t>
            </a:r>
            <a:endParaRPr lang="en-US" sz="1150" dirty="0"/>
          </a:p>
        </p:txBody>
      </p:sp>
      <p:sp>
        <p:nvSpPr>
          <p:cNvPr id="51" name="Text 49"/>
          <p:cNvSpPr/>
          <p:nvPr/>
        </p:nvSpPr>
        <p:spPr>
          <a:xfrm>
            <a:off x="804672" y="5102352"/>
            <a:ext cx="3346704" cy="749808"/>
          </a:xfrm>
          <a:prstGeom prst="rect">
            <a:avLst/>
          </a:prstGeom>
          <a:noFill/>
          <a:ln/>
        </p:spPr>
        <p:txBody>
          <a:bodyPr wrap="square" lIns="0" tIns="0" rIns="0" bIns="0" rtlCol="0" anchor="ctr"/>
          <a:lstStyle/>
          <a:p>
            <a:pPr indent="0" marL="0">
              <a:buNone/>
            </a:pPr>
            <a:r>
              <a:rPr lang="en-US" sz="1000" dirty="0">
                <a:solidFill>
                  <a:srgbClr val="2B2118"/>
                </a:solidFill>
                <a:latin typeface="Calibri" pitchFamily="34" charset="0"/>
                <a:ea typeface="Calibri" pitchFamily="34" charset="-122"/>
                <a:cs typeface="Calibri" pitchFamily="34" charset="-120"/>
              </a:rPr>
              <a:t>No FastAPI, no SQLAlchemy, no Kafka. Numbers in, numbers out — so every rule is testable in one line.</a:t>
            </a:r>
            <a:endParaRPr lang="en-US" sz="1000" dirty="0"/>
          </a:p>
        </p:txBody>
      </p:sp>
      <p:sp>
        <p:nvSpPr>
          <p:cNvPr id="52" name="Text 50"/>
          <p:cNvSpPr/>
          <p:nvPr/>
        </p:nvSpPr>
        <p:spPr>
          <a:xfrm>
            <a:off x="4425696" y="4828032"/>
            <a:ext cx="3346704" cy="274320"/>
          </a:xfrm>
          <a:prstGeom prst="rect">
            <a:avLst/>
          </a:prstGeom>
          <a:noFill/>
          <a:ln/>
        </p:spPr>
        <p:txBody>
          <a:bodyPr wrap="square" lIns="0" tIns="0" rIns="0" bIns="0" rtlCol="0" anchor="ctr"/>
          <a:lstStyle/>
          <a:p>
            <a:pPr indent="0" marL="0">
              <a:buNone/>
            </a:pPr>
            <a:r>
              <a:rPr lang="en-US" sz="1150" b="1" dirty="0">
                <a:solidFill>
                  <a:srgbClr val="8E3B32"/>
                </a:solidFill>
                <a:latin typeface="Calibri" pitchFamily="34" charset="0"/>
                <a:ea typeface="Calibri" pitchFamily="34" charset="-122"/>
                <a:cs typeface="Calibri" pitchFamily="34" charset="-120"/>
              </a:rPr>
              <a:t>The dashboard has no database</a:t>
            </a:r>
            <a:endParaRPr lang="en-US" sz="1150" dirty="0"/>
          </a:p>
        </p:txBody>
      </p:sp>
      <p:sp>
        <p:nvSpPr>
          <p:cNvPr id="53" name="Text 51"/>
          <p:cNvSpPr/>
          <p:nvPr/>
        </p:nvSpPr>
        <p:spPr>
          <a:xfrm>
            <a:off x="4425696" y="5102352"/>
            <a:ext cx="3346704" cy="749808"/>
          </a:xfrm>
          <a:prstGeom prst="rect">
            <a:avLst/>
          </a:prstGeom>
          <a:noFill/>
          <a:ln/>
        </p:spPr>
        <p:txBody>
          <a:bodyPr wrap="square" lIns="0" tIns="0" rIns="0" bIns="0" rtlCol="0" anchor="ctr"/>
          <a:lstStyle/>
          <a:p>
            <a:pPr indent="0" marL="0">
              <a:buNone/>
            </a:pPr>
            <a:r>
              <a:rPr lang="en-US" sz="1000" dirty="0">
                <a:solidFill>
                  <a:srgbClr val="2B2118"/>
                </a:solidFill>
                <a:latin typeface="Calibri" pitchFamily="34" charset="0"/>
                <a:ea typeface="Calibri" pitchFamily="34" charset="-122"/>
                <a:cs typeface="Calibri" pitchFamily="34" charset="-120"/>
              </a:rPr>
              <a:t>Every figure comes from an HTTP call, so there is one implementation of "the right price", not two.</a:t>
            </a:r>
            <a:endParaRPr lang="en-US" sz="1000" dirty="0"/>
          </a:p>
        </p:txBody>
      </p:sp>
      <p:sp>
        <p:nvSpPr>
          <p:cNvPr id="54" name="Text 52"/>
          <p:cNvSpPr/>
          <p:nvPr/>
        </p:nvSpPr>
        <p:spPr>
          <a:xfrm>
            <a:off x="8046720" y="4828032"/>
            <a:ext cx="3346704" cy="274320"/>
          </a:xfrm>
          <a:prstGeom prst="rect">
            <a:avLst/>
          </a:prstGeom>
          <a:noFill/>
          <a:ln/>
        </p:spPr>
        <p:txBody>
          <a:bodyPr wrap="square" lIns="0" tIns="0" rIns="0" bIns="0" rtlCol="0" anchor="ctr"/>
          <a:lstStyle/>
          <a:p>
            <a:pPr indent="0" marL="0">
              <a:buNone/>
            </a:pPr>
            <a:r>
              <a:rPr lang="en-US" sz="1150" b="1" dirty="0">
                <a:solidFill>
                  <a:srgbClr val="8E3B32"/>
                </a:solidFill>
                <a:latin typeface="Calibri" pitchFamily="34" charset="0"/>
                <a:ea typeface="Calibri" pitchFamily="34" charset="-122"/>
                <a:cs typeface="Calibri" pitchFamily="34" charset="-120"/>
              </a:rPr>
              <a:t>Nothing non-deterministic is load-bearing</a:t>
            </a:r>
            <a:endParaRPr lang="en-US" sz="1150" dirty="0"/>
          </a:p>
        </p:txBody>
      </p:sp>
      <p:sp>
        <p:nvSpPr>
          <p:cNvPr id="55" name="Text 53"/>
          <p:cNvSpPr/>
          <p:nvPr/>
        </p:nvSpPr>
        <p:spPr>
          <a:xfrm>
            <a:off x="8046720" y="5102352"/>
            <a:ext cx="3346704" cy="749808"/>
          </a:xfrm>
          <a:prstGeom prst="rect">
            <a:avLst/>
          </a:prstGeom>
          <a:noFill/>
          <a:ln/>
        </p:spPr>
        <p:txBody>
          <a:bodyPr wrap="square" lIns="0" tIns="0" rIns="0" bIns="0" rtlCol="0" anchor="ctr"/>
          <a:lstStyle/>
          <a:p>
            <a:pPr indent="0" marL="0">
              <a:buNone/>
            </a:pPr>
            <a:r>
              <a:rPr lang="en-US" sz="1000" dirty="0">
                <a:solidFill>
                  <a:srgbClr val="2B2118"/>
                </a:solidFill>
                <a:latin typeface="Calibri" pitchFamily="34" charset="0"/>
                <a:ea typeface="Calibri" pitchFamily="34" charset="-122"/>
                <a:cs typeface="Calibri" pitchFamily="34" charset="-120"/>
              </a:rPr>
              <a:t>The LLM agent is optional by construction; deleting it leaves a working pricing system.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CODEBASE</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What each module is responsible for</a:t>
            </a:r>
            <a:endParaRPr lang="en-US" sz="3200" dirty="0"/>
          </a:p>
        </p:txBody>
      </p:sp>
      <p:sp>
        <p:nvSpPr>
          <p:cNvPr id="4" name="Text 2"/>
          <p:cNvSpPr/>
          <p:nvPr/>
        </p:nvSpPr>
        <p:spPr>
          <a:xfrm>
            <a:off x="566928" y="1517904"/>
            <a:ext cx="1463040" cy="292608"/>
          </a:xfrm>
          <a:prstGeom prst="rect">
            <a:avLst/>
          </a:prstGeom>
          <a:noFill/>
          <a:ln/>
        </p:spPr>
        <p:txBody>
          <a:bodyPr wrap="square" lIns="0" tIns="0" rIns="0" bIns="0" rtlCol="0" anchor="ctr"/>
          <a:lstStyle/>
          <a:p>
            <a:pPr indent="0" marL="0">
              <a:buNone/>
            </a:pPr>
            <a:r>
              <a:rPr lang="en-US" sz="1200" b="1" dirty="0">
                <a:solidFill>
                  <a:srgbClr val="8E3B32"/>
                </a:solidFill>
                <a:latin typeface="Courier New" pitchFamily="34" charset="0"/>
                <a:ea typeface="Courier New" pitchFamily="34" charset="-122"/>
                <a:cs typeface="Courier New" pitchFamily="34" charset="-120"/>
              </a:rPr>
              <a:t>config/</a:t>
            </a:r>
            <a:endParaRPr lang="en-US" sz="1200" dirty="0"/>
          </a:p>
        </p:txBody>
      </p:sp>
      <p:sp>
        <p:nvSpPr>
          <p:cNvPr id="5" name="Text 3"/>
          <p:cNvSpPr/>
          <p:nvPr/>
        </p:nvSpPr>
        <p:spPr>
          <a:xfrm>
            <a:off x="2084832" y="1517904"/>
            <a:ext cx="3749040" cy="38404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One settings tree, entirely from the environment</a:t>
            </a:r>
            <a:endParaRPr lang="en-US" sz="1150" dirty="0"/>
          </a:p>
        </p:txBody>
      </p:sp>
      <p:sp>
        <p:nvSpPr>
          <p:cNvPr id="6" name="Text 4"/>
          <p:cNvSpPr/>
          <p:nvPr/>
        </p:nvSpPr>
        <p:spPr>
          <a:xfrm>
            <a:off x="566928" y="2121408"/>
            <a:ext cx="1463040" cy="292608"/>
          </a:xfrm>
          <a:prstGeom prst="rect">
            <a:avLst/>
          </a:prstGeom>
          <a:noFill/>
          <a:ln/>
        </p:spPr>
        <p:txBody>
          <a:bodyPr wrap="square" lIns="0" tIns="0" rIns="0" bIns="0" rtlCol="0" anchor="ctr"/>
          <a:lstStyle/>
          <a:p>
            <a:pPr indent="0" marL="0">
              <a:buNone/>
            </a:pPr>
            <a:r>
              <a:rPr lang="en-US" sz="1200" b="1" dirty="0">
                <a:solidFill>
                  <a:srgbClr val="8E3B32"/>
                </a:solidFill>
                <a:latin typeface="Courier New" pitchFamily="34" charset="0"/>
                <a:ea typeface="Courier New" pitchFamily="34" charset="-122"/>
                <a:cs typeface="Courier New" pitchFamily="34" charset="-120"/>
              </a:rPr>
              <a:t>database/</a:t>
            </a:r>
            <a:endParaRPr lang="en-US" sz="1200" dirty="0"/>
          </a:p>
        </p:txBody>
      </p:sp>
      <p:sp>
        <p:nvSpPr>
          <p:cNvPr id="7" name="Text 5"/>
          <p:cNvSpPr/>
          <p:nvPr/>
        </p:nvSpPr>
        <p:spPr>
          <a:xfrm>
            <a:off x="2084832" y="2121408"/>
            <a:ext cx="3749040" cy="38404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9 tables, SQLAlchemy 2.0, composite foreign keys</a:t>
            </a:r>
            <a:endParaRPr lang="en-US" sz="1150" dirty="0"/>
          </a:p>
        </p:txBody>
      </p:sp>
      <p:sp>
        <p:nvSpPr>
          <p:cNvPr id="8" name="Text 6"/>
          <p:cNvSpPr/>
          <p:nvPr/>
        </p:nvSpPr>
        <p:spPr>
          <a:xfrm>
            <a:off x="566928" y="2724912"/>
            <a:ext cx="1463040" cy="292608"/>
          </a:xfrm>
          <a:prstGeom prst="rect">
            <a:avLst/>
          </a:prstGeom>
          <a:noFill/>
          <a:ln/>
        </p:spPr>
        <p:txBody>
          <a:bodyPr wrap="square" lIns="0" tIns="0" rIns="0" bIns="0" rtlCol="0" anchor="ctr"/>
          <a:lstStyle/>
          <a:p>
            <a:pPr indent="0" marL="0">
              <a:buNone/>
            </a:pPr>
            <a:r>
              <a:rPr lang="en-US" sz="1200" b="1" dirty="0">
                <a:solidFill>
                  <a:srgbClr val="8E3B32"/>
                </a:solidFill>
                <a:latin typeface="Courier New" pitchFamily="34" charset="0"/>
                <a:ea typeface="Courier New" pitchFamily="34" charset="-122"/>
                <a:cs typeface="Courier New" pitchFamily="34" charset="-120"/>
              </a:rPr>
              <a:t>demo_ota/</a:t>
            </a:r>
            <a:endParaRPr lang="en-US" sz="1200" dirty="0"/>
          </a:p>
        </p:txBody>
      </p:sp>
      <p:sp>
        <p:nvSpPr>
          <p:cNvPr id="9" name="Text 7"/>
          <p:cNvSpPr/>
          <p:nvPr/>
        </p:nvSpPr>
        <p:spPr>
          <a:xfrm>
            <a:off x="2084832" y="2724912"/>
            <a:ext cx="3749040" cy="38404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The competitor website the scraper scrapes</a:t>
            </a:r>
            <a:endParaRPr lang="en-US" sz="1150" dirty="0"/>
          </a:p>
        </p:txBody>
      </p:sp>
      <p:sp>
        <p:nvSpPr>
          <p:cNvPr id="10" name="Text 8"/>
          <p:cNvSpPr/>
          <p:nvPr/>
        </p:nvSpPr>
        <p:spPr>
          <a:xfrm>
            <a:off x="566928" y="3328416"/>
            <a:ext cx="1463040" cy="292608"/>
          </a:xfrm>
          <a:prstGeom prst="rect">
            <a:avLst/>
          </a:prstGeom>
          <a:noFill/>
          <a:ln/>
        </p:spPr>
        <p:txBody>
          <a:bodyPr wrap="square" lIns="0" tIns="0" rIns="0" bIns="0" rtlCol="0" anchor="ctr"/>
          <a:lstStyle/>
          <a:p>
            <a:pPr indent="0" marL="0">
              <a:buNone/>
            </a:pPr>
            <a:r>
              <a:rPr lang="en-US" sz="1200" b="1" dirty="0">
                <a:solidFill>
                  <a:srgbClr val="8E3B32"/>
                </a:solidFill>
                <a:latin typeface="Courier New" pitchFamily="34" charset="0"/>
                <a:ea typeface="Courier New" pitchFamily="34" charset="-122"/>
                <a:cs typeface="Courier New" pitchFamily="34" charset="-120"/>
              </a:rPr>
              <a:t>ingestion/</a:t>
            </a:r>
            <a:endParaRPr lang="en-US" sz="1200" dirty="0"/>
          </a:p>
        </p:txBody>
      </p:sp>
      <p:sp>
        <p:nvSpPr>
          <p:cNvPr id="11" name="Text 9"/>
          <p:cNvSpPr/>
          <p:nvPr/>
        </p:nvSpPr>
        <p:spPr>
          <a:xfrm>
            <a:off x="2084832" y="3328416"/>
            <a:ext cx="3749040" cy="38404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CompetitorScraper interface + 4 implementations</a:t>
            </a:r>
            <a:endParaRPr lang="en-US" sz="1150" dirty="0"/>
          </a:p>
        </p:txBody>
      </p:sp>
      <p:sp>
        <p:nvSpPr>
          <p:cNvPr id="12" name="Text 10"/>
          <p:cNvSpPr/>
          <p:nvPr/>
        </p:nvSpPr>
        <p:spPr>
          <a:xfrm>
            <a:off x="566928" y="3931920"/>
            <a:ext cx="1463040" cy="292608"/>
          </a:xfrm>
          <a:prstGeom prst="rect">
            <a:avLst/>
          </a:prstGeom>
          <a:noFill/>
          <a:ln/>
        </p:spPr>
        <p:txBody>
          <a:bodyPr wrap="square" lIns="0" tIns="0" rIns="0" bIns="0" rtlCol="0" anchor="ctr"/>
          <a:lstStyle/>
          <a:p>
            <a:pPr indent="0" marL="0">
              <a:buNone/>
            </a:pPr>
            <a:r>
              <a:rPr lang="en-US" sz="1200" b="1" dirty="0">
                <a:solidFill>
                  <a:srgbClr val="8E3B32"/>
                </a:solidFill>
                <a:latin typeface="Courier New" pitchFamily="34" charset="0"/>
                <a:ea typeface="Courier New" pitchFamily="34" charset="-122"/>
                <a:cs typeface="Courier New" pitchFamily="34" charset="-120"/>
              </a:rPr>
              <a:t>streaming/</a:t>
            </a:r>
            <a:endParaRPr lang="en-US" sz="1200" dirty="0"/>
          </a:p>
        </p:txBody>
      </p:sp>
      <p:sp>
        <p:nvSpPr>
          <p:cNvPr id="13" name="Text 11"/>
          <p:cNvSpPr/>
          <p:nvPr/>
        </p:nvSpPr>
        <p:spPr>
          <a:xfrm>
            <a:off x="2084832" y="3931920"/>
            <a:ext cx="3749040" cy="38404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Event contracts, producer, consumer, handlers</a:t>
            </a:r>
            <a:endParaRPr lang="en-US" sz="1150" dirty="0"/>
          </a:p>
        </p:txBody>
      </p:sp>
      <p:sp>
        <p:nvSpPr>
          <p:cNvPr id="14" name="Text 12"/>
          <p:cNvSpPr/>
          <p:nvPr/>
        </p:nvSpPr>
        <p:spPr>
          <a:xfrm>
            <a:off x="566928" y="4535424"/>
            <a:ext cx="1463040" cy="292608"/>
          </a:xfrm>
          <a:prstGeom prst="rect">
            <a:avLst/>
          </a:prstGeom>
          <a:noFill/>
          <a:ln/>
        </p:spPr>
        <p:txBody>
          <a:bodyPr wrap="square" lIns="0" tIns="0" rIns="0" bIns="0" rtlCol="0" anchor="ctr"/>
          <a:lstStyle/>
          <a:p>
            <a:pPr indent="0" marL="0">
              <a:buNone/>
            </a:pPr>
            <a:r>
              <a:rPr lang="en-US" sz="1200" b="1" dirty="0">
                <a:solidFill>
                  <a:srgbClr val="8E3B32"/>
                </a:solidFill>
                <a:latin typeface="Courier New" pitchFamily="34" charset="0"/>
                <a:ea typeface="Courier New" pitchFamily="34" charset="-122"/>
                <a:cs typeface="Courier New" pitchFamily="34" charset="-120"/>
              </a:rPr>
              <a:t>features/</a:t>
            </a:r>
            <a:endParaRPr lang="en-US" sz="1200" dirty="0"/>
          </a:p>
        </p:txBody>
      </p:sp>
      <p:sp>
        <p:nvSpPr>
          <p:cNvPr id="15" name="Text 13"/>
          <p:cNvSpPr/>
          <p:nvPr/>
        </p:nvSpPr>
        <p:spPr>
          <a:xfrm>
            <a:off x="2084832" y="4535424"/>
            <a:ext cx="3749040" cy="38404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Calendar, feature pipeline, feature store</a:t>
            </a:r>
            <a:endParaRPr lang="en-US" sz="1150" dirty="0"/>
          </a:p>
        </p:txBody>
      </p:sp>
      <p:sp>
        <p:nvSpPr>
          <p:cNvPr id="16" name="Text 14"/>
          <p:cNvSpPr/>
          <p:nvPr/>
        </p:nvSpPr>
        <p:spPr>
          <a:xfrm>
            <a:off x="566928" y="5138928"/>
            <a:ext cx="1463040" cy="292608"/>
          </a:xfrm>
          <a:prstGeom prst="rect">
            <a:avLst/>
          </a:prstGeom>
          <a:noFill/>
          <a:ln/>
        </p:spPr>
        <p:txBody>
          <a:bodyPr wrap="square" lIns="0" tIns="0" rIns="0" bIns="0" rtlCol="0" anchor="ctr"/>
          <a:lstStyle/>
          <a:p>
            <a:pPr indent="0" marL="0">
              <a:buNone/>
            </a:pPr>
            <a:r>
              <a:rPr lang="en-US" sz="1200" b="1" dirty="0">
                <a:solidFill>
                  <a:srgbClr val="8E3B32"/>
                </a:solidFill>
                <a:latin typeface="Courier New" pitchFamily="34" charset="0"/>
                <a:ea typeface="Courier New" pitchFamily="34" charset="-122"/>
                <a:cs typeface="Courier New" pitchFamily="34" charset="-120"/>
              </a:rPr>
              <a:t>models/</a:t>
            </a:r>
            <a:endParaRPr lang="en-US" sz="1200" dirty="0"/>
          </a:p>
        </p:txBody>
      </p:sp>
      <p:sp>
        <p:nvSpPr>
          <p:cNvPr id="17" name="Text 15"/>
          <p:cNvSpPr/>
          <p:nvPr/>
        </p:nvSpPr>
        <p:spPr>
          <a:xfrm>
            <a:off x="2084832" y="5138928"/>
            <a:ext cx="3749040" cy="38404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Prophet, GBR, metrics, the model registry</a:t>
            </a:r>
            <a:endParaRPr lang="en-US" sz="1150" dirty="0"/>
          </a:p>
        </p:txBody>
      </p:sp>
      <p:sp>
        <p:nvSpPr>
          <p:cNvPr id="18" name="Text 16"/>
          <p:cNvSpPr/>
          <p:nvPr/>
        </p:nvSpPr>
        <p:spPr>
          <a:xfrm>
            <a:off x="6236208" y="1517904"/>
            <a:ext cx="1463040" cy="292608"/>
          </a:xfrm>
          <a:prstGeom prst="rect">
            <a:avLst/>
          </a:prstGeom>
          <a:noFill/>
          <a:ln/>
        </p:spPr>
        <p:txBody>
          <a:bodyPr wrap="square" lIns="0" tIns="0" rIns="0" bIns="0" rtlCol="0" anchor="ctr"/>
          <a:lstStyle/>
          <a:p>
            <a:pPr indent="0" marL="0">
              <a:buNone/>
            </a:pPr>
            <a:r>
              <a:rPr lang="en-US" sz="1200" b="1" dirty="0">
                <a:solidFill>
                  <a:srgbClr val="8E3B32"/>
                </a:solidFill>
                <a:latin typeface="Courier New" pitchFamily="34" charset="0"/>
                <a:ea typeface="Courier New" pitchFamily="34" charset="-122"/>
                <a:cs typeface="Courier New" pitchFamily="34" charset="-120"/>
              </a:rPr>
              <a:t>training/</a:t>
            </a:r>
            <a:endParaRPr lang="en-US" sz="1200" dirty="0"/>
          </a:p>
        </p:txBody>
      </p:sp>
      <p:sp>
        <p:nvSpPr>
          <p:cNvPr id="19" name="Text 17"/>
          <p:cNvSpPr/>
          <p:nvPr/>
        </p:nvSpPr>
        <p:spPr>
          <a:xfrm>
            <a:off x="7754112" y="1517904"/>
            <a:ext cx="3749040" cy="38404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Training pipeline and versioning</a:t>
            </a:r>
            <a:endParaRPr lang="en-US" sz="1150" dirty="0"/>
          </a:p>
        </p:txBody>
      </p:sp>
      <p:sp>
        <p:nvSpPr>
          <p:cNvPr id="20" name="Text 18"/>
          <p:cNvSpPr/>
          <p:nvPr/>
        </p:nvSpPr>
        <p:spPr>
          <a:xfrm>
            <a:off x="6236208" y="2121408"/>
            <a:ext cx="1463040" cy="292608"/>
          </a:xfrm>
          <a:prstGeom prst="rect">
            <a:avLst/>
          </a:prstGeom>
          <a:noFill/>
          <a:ln/>
        </p:spPr>
        <p:txBody>
          <a:bodyPr wrap="square" lIns="0" tIns="0" rIns="0" bIns="0" rtlCol="0" anchor="ctr"/>
          <a:lstStyle/>
          <a:p>
            <a:pPr indent="0" marL="0">
              <a:buNone/>
            </a:pPr>
            <a:r>
              <a:rPr lang="en-US" sz="1200" b="1" dirty="0">
                <a:solidFill>
                  <a:srgbClr val="8E3B32"/>
                </a:solidFill>
                <a:latin typeface="Courier New" pitchFamily="34" charset="0"/>
                <a:ea typeface="Courier New" pitchFamily="34" charset="-122"/>
                <a:cs typeface="Courier New" pitchFamily="34" charset="-120"/>
              </a:rPr>
              <a:t>pricing/</a:t>
            </a:r>
            <a:endParaRPr lang="en-US" sz="1200" dirty="0"/>
          </a:p>
        </p:txBody>
      </p:sp>
      <p:sp>
        <p:nvSpPr>
          <p:cNvPr id="21" name="Text 19"/>
          <p:cNvSpPr/>
          <p:nvPr/>
        </p:nvSpPr>
        <p:spPr>
          <a:xfrm>
            <a:off x="7754112" y="2121408"/>
            <a:ext cx="3749040" cy="38404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Rules, demand blending, engine, guardrails</a:t>
            </a:r>
            <a:endParaRPr lang="en-US" sz="1150" dirty="0"/>
          </a:p>
        </p:txBody>
      </p:sp>
      <p:sp>
        <p:nvSpPr>
          <p:cNvPr id="22" name="Text 20"/>
          <p:cNvSpPr/>
          <p:nvPr/>
        </p:nvSpPr>
        <p:spPr>
          <a:xfrm>
            <a:off x="6236208" y="2724912"/>
            <a:ext cx="1463040" cy="292608"/>
          </a:xfrm>
          <a:prstGeom prst="rect">
            <a:avLst/>
          </a:prstGeom>
          <a:noFill/>
          <a:ln/>
        </p:spPr>
        <p:txBody>
          <a:bodyPr wrap="square" lIns="0" tIns="0" rIns="0" bIns="0" rtlCol="0" anchor="ctr"/>
          <a:lstStyle/>
          <a:p>
            <a:pPr indent="0" marL="0">
              <a:buNone/>
            </a:pPr>
            <a:r>
              <a:rPr lang="en-US" sz="1200" b="1" dirty="0">
                <a:solidFill>
                  <a:srgbClr val="8E3B32"/>
                </a:solidFill>
                <a:latin typeface="Courier New" pitchFamily="34" charset="0"/>
                <a:ea typeface="Courier New" pitchFamily="34" charset="-122"/>
                <a:cs typeface="Courier New" pitchFamily="34" charset="-120"/>
              </a:rPr>
              <a:t>api/</a:t>
            </a:r>
            <a:endParaRPr lang="en-US" sz="1200" dirty="0"/>
          </a:p>
        </p:txBody>
      </p:sp>
      <p:sp>
        <p:nvSpPr>
          <p:cNvPr id="23" name="Text 21"/>
          <p:cNvSpPr/>
          <p:nvPr/>
        </p:nvSpPr>
        <p:spPr>
          <a:xfrm>
            <a:off x="7754112" y="2724912"/>
            <a:ext cx="3749040" cy="38404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FastAPI — 12 endpoints, schemas, dependencies</a:t>
            </a:r>
            <a:endParaRPr lang="en-US" sz="1150" dirty="0"/>
          </a:p>
        </p:txBody>
      </p:sp>
      <p:sp>
        <p:nvSpPr>
          <p:cNvPr id="24" name="Text 22"/>
          <p:cNvSpPr/>
          <p:nvPr/>
        </p:nvSpPr>
        <p:spPr>
          <a:xfrm>
            <a:off x="6236208" y="3328416"/>
            <a:ext cx="1463040" cy="292608"/>
          </a:xfrm>
          <a:prstGeom prst="rect">
            <a:avLst/>
          </a:prstGeom>
          <a:noFill/>
          <a:ln/>
        </p:spPr>
        <p:txBody>
          <a:bodyPr wrap="square" lIns="0" tIns="0" rIns="0" bIns="0" rtlCol="0" anchor="ctr"/>
          <a:lstStyle/>
          <a:p>
            <a:pPr indent="0" marL="0">
              <a:buNone/>
            </a:pPr>
            <a:r>
              <a:rPr lang="en-US" sz="1200" b="1" dirty="0">
                <a:solidFill>
                  <a:srgbClr val="8E3B32"/>
                </a:solidFill>
                <a:latin typeface="Courier New" pitchFamily="34" charset="0"/>
                <a:ea typeface="Courier New" pitchFamily="34" charset="-122"/>
                <a:cs typeface="Courier New" pitchFamily="34" charset="-120"/>
              </a:rPr>
              <a:t>dashboard/</a:t>
            </a:r>
            <a:endParaRPr lang="en-US" sz="1200" dirty="0"/>
          </a:p>
        </p:txBody>
      </p:sp>
      <p:sp>
        <p:nvSpPr>
          <p:cNvPr id="25" name="Text 23"/>
          <p:cNvSpPr/>
          <p:nvPr/>
        </p:nvSpPr>
        <p:spPr>
          <a:xfrm>
            <a:off x="7754112" y="3328416"/>
            <a:ext cx="3749040" cy="38404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Streamlit — 9 pages, Plotly, HTTP only</a:t>
            </a:r>
            <a:endParaRPr lang="en-US" sz="1150" dirty="0"/>
          </a:p>
        </p:txBody>
      </p:sp>
      <p:sp>
        <p:nvSpPr>
          <p:cNvPr id="26" name="Text 24"/>
          <p:cNvSpPr/>
          <p:nvPr/>
        </p:nvSpPr>
        <p:spPr>
          <a:xfrm>
            <a:off x="6236208" y="3931920"/>
            <a:ext cx="1463040" cy="292608"/>
          </a:xfrm>
          <a:prstGeom prst="rect">
            <a:avLst/>
          </a:prstGeom>
          <a:noFill/>
          <a:ln/>
        </p:spPr>
        <p:txBody>
          <a:bodyPr wrap="square" lIns="0" tIns="0" rIns="0" bIns="0" rtlCol="0" anchor="ctr"/>
          <a:lstStyle/>
          <a:p>
            <a:pPr indent="0" marL="0">
              <a:buNone/>
            </a:pPr>
            <a:r>
              <a:rPr lang="en-US" sz="1200" b="1" dirty="0">
                <a:solidFill>
                  <a:srgbClr val="8E3B32"/>
                </a:solidFill>
                <a:latin typeface="Courier New" pitchFamily="34" charset="0"/>
                <a:ea typeface="Courier New" pitchFamily="34" charset="-122"/>
                <a:cs typeface="Courier New" pitchFamily="34" charset="-120"/>
              </a:rPr>
              <a:t>ai_agent/</a:t>
            </a:r>
            <a:endParaRPr lang="en-US" sz="1200" dirty="0"/>
          </a:p>
        </p:txBody>
      </p:sp>
      <p:sp>
        <p:nvSpPr>
          <p:cNvPr id="27" name="Text 25"/>
          <p:cNvSpPr/>
          <p:nvPr/>
        </p:nvSpPr>
        <p:spPr>
          <a:xfrm>
            <a:off x="7754112" y="3931920"/>
            <a:ext cx="3749040" cy="38404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Optional LLM agent. Read-only by construction.</a:t>
            </a:r>
            <a:endParaRPr lang="en-US" sz="1150" dirty="0"/>
          </a:p>
        </p:txBody>
      </p:sp>
      <p:sp>
        <p:nvSpPr>
          <p:cNvPr id="28" name="Text 26"/>
          <p:cNvSpPr/>
          <p:nvPr/>
        </p:nvSpPr>
        <p:spPr>
          <a:xfrm>
            <a:off x="6236208" y="4535424"/>
            <a:ext cx="1463040" cy="292608"/>
          </a:xfrm>
          <a:prstGeom prst="rect">
            <a:avLst/>
          </a:prstGeom>
          <a:noFill/>
          <a:ln/>
        </p:spPr>
        <p:txBody>
          <a:bodyPr wrap="square" lIns="0" tIns="0" rIns="0" bIns="0" rtlCol="0" anchor="ctr"/>
          <a:lstStyle/>
          <a:p>
            <a:pPr indent="0" marL="0">
              <a:buNone/>
            </a:pPr>
            <a:r>
              <a:rPr lang="en-US" sz="1200" b="1" dirty="0">
                <a:solidFill>
                  <a:srgbClr val="8E3B32"/>
                </a:solidFill>
                <a:latin typeface="Courier New" pitchFamily="34" charset="0"/>
                <a:ea typeface="Courier New" pitchFamily="34" charset="-122"/>
                <a:cs typeface="Courier New" pitchFamily="34" charset="-120"/>
              </a:rPr>
              <a:t>monitoring/</a:t>
            </a:r>
            <a:endParaRPr lang="en-US" sz="1200" dirty="0"/>
          </a:p>
        </p:txBody>
      </p:sp>
      <p:sp>
        <p:nvSpPr>
          <p:cNvPr id="29" name="Text 27"/>
          <p:cNvSpPr/>
          <p:nvPr/>
        </p:nvSpPr>
        <p:spPr>
          <a:xfrm>
            <a:off x="7754112" y="4535424"/>
            <a:ext cx="3749040" cy="38404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Logging, data quality, drift, model health</a:t>
            </a:r>
            <a:endParaRPr lang="en-US" sz="1150" dirty="0"/>
          </a:p>
        </p:txBody>
      </p:sp>
      <p:sp>
        <p:nvSpPr>
          <p:cNvPr id="30" name="Text 28"/>
          <p:cNvSpPr/>
          <p:nvPr/>
        </p:nvSpPr>
        <p:spPr>
          <a:xfrm>
            <a:off x="6236208" y="5138928"/>
            <a:ext cx="1463040" cy="292608"/>
          </a:xfrm>
          <a:prstGeom prst="rect">
            <a:avLst/>
          </a:prstGeom>
          <a:noFill/>
          <a:ln/>
        </p:spPr>
        <p:txBody>
          <a:bodyPr wrap="square" lIns="0" tIns="0" rIns="0" bIns="0" rtlCol="0" anchor="ctr"/>
          <a:lstStyle/>
          <a:p>
            <a:pPr indent="0" marL="0">
              <a:buNone/>
            </a:pPr>
            <a:r>
              <a:rPr lang="en-US" sz="1200" b="1" dirty="0">
                <a:solidFill>
                  <a:srgbClr val="8E3B32"/>
                </a:solidFill>
                <a:latin typeface="Courier New" pitchFamily="34" charset="0"/>
                <a:ea typeface="Courier New" pitchFamily="34" charset="-122"/>
                <a:cs typeface="Courier New" pitchFamily="34" charset="-120"/>
              </a:rPr>
              <a:t>scripts/</a:t>
            </a:r>
            <a:endParaRPr lang="en-US" sz="1200" dirty="0"/>
          </a:p>
        </p:txBody>
      </p:sp>
      <p:sp>
        <p:nvSpPr>
          <p:cNvPr id="31" name="Text 29"/>
          <p:cNvSpPr/>
          <p:nvPr/>
        </p:nvSpPr>
        <p:spPr>
          <a:xfrm>
            <a:off x="7754112" y="5138928"/>
            <a:ext cx="3749040" cy="38404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Every operation exposed as a CLI</a:t>
            </a:r>
            <a:endParaRPr lang="en-US" sz="1150" dirty="0"/>
          </a:p>
        </p:txBody>
      </p:sp>
      <p:sp>
        <p:nvSpPr>
          <p:cNvPr id="32" name="Text 30"/>
          <p:cNvSpPr/>
          <p:nvPr/>
        </p:nvSpPr>
        <p:spPr>
          <a:xfrm>
            <a:off x="566928" y="5870448"/>
            <a:ext cx="11055096" cy="310896"/>
          </a:xfrm>
          <a:prstGeom prst="rect">
            <a:avLst/>
          </a:prstGeom>
          <a:noFill/>
          <a:ln/>
        </p:spPr>
        <p:txBody>
          <a:bodyPr wrap="square" lIns="0" tIns="0" rIns="0" bIns="0" rtlCol="0" anchor="ctr"/>
          <a:lstStyle/>
          <a:p>
            <a:pPr indent="0" marL="0">
              <a:buNone/>
            </a:pPr>
            <a:r>
              <a:rPr lang="en-US" sz="1150" i="1" dirty="0">
                <a:solidFill>
                  <a:srgbClr val="776A5F"/>
                </a:solidFill>
                <a:latin typeface="Calibri" pitchFamily="34" charset="0"/>
                <a:ea typeface="Calibri" pitchFamily="34" charset="-122"/>
                <a:cs typeface="Calibri" pitchFamily="34" charset="-120"/>
              </a:rPr>
              <a:t>~31,800 lines across 85 modules — plus 8,650 lines of tests.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DATA</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The booking curve is preserved, not aggregated away</a:t>
            </a:r>
            <a:endParaRPr lang="en-US" sz="3200" dirty="0"/>
          </a:p>
        </p:txBody>
      </p:sp>
      <p:sp>
        <p:nvSpPr>
          <p:cNvPr id="4" name="Text 2"/>
          <p:cNvSpPr/>
          <p:nvPr/>
        </p:nvSpPr>
        <p:spPr>
          <a:xfrm>
            <a:off x="566928" y="1481328"/>
            <a:ext cx="6035040" cy="21031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2B2118"/>
                </a:solidFill>
                <a:latin typeface="Calibri" pitchFamily="34" charset="0"/>
                <a:ea typeface="Calibri" pitchFamily="34" charset="-122"/>
                <a:cs typeface="Calibri" pitchFamily="34" charset="-120"/>
              </a:rPr>
              <a:t>A simulator, not a random number generator: every relationship the pricing engine later exploits is put there deliberately and asserted in tests.</a:t>
            </a:r>
            <a:endParaRPr lang="en-US" sz="1400" dirty="0"/>
          </a:p>
          <a:p>
            <a:pPr marL="342900" indent="-342900">
              <a:spcAft>
                <a:spcPts val="700"/>
              </a:spcAft>
              <a:buSzPct val="100000"/>
              <a:buChar char="•"/>
            </a:pPr>
            <a:r>
              <a:rPr lang="en-US" sz="1400" dirty="0">
                <a:solidFill>
                  <a:srgbClr val="2B2118"/>
                </a:solidFill>
                <a:latin typeface="Calibri" pitchFamily="34" charset="0"/>
                <a:ea typeface="Calibri" pitchFamily="34" charset="-122"/>
                <a:cs typeface="Calibri" pitchFamily="34" charset="-120"/>
              </a:rPr>
              <a:t>Stored at room-night grain on the pickup grid — one row per (booking date × stay date).</a:t>
            </a:r>
            <a:endParaRPr lang="en-US" sz="1400" dirty="0"/>
          </a:p>
          <a:p>
            <a:pPr marL="342900" indent="-342900">
              <a:spcAft>
                <a:spcPts val="700"/>
              </a:spcAft>
              <a:buSzPct val="100000"/>
              <a:buChar char="•"/>
            </a:pPr>
            <a:r>
              <a:rPr lang="en-US" sz="1400" dirty="0">
                <a:solidFill>
                  <a:srgbClr val="2B2118"/>
                </a:solidFill>
                <a:latin typeface="Calibri" pitchFamily="34" charset="0"/>
                <a:ea typeface="Calibri" pitchFamily="34" charset="-122"/>
                <a:cs typeface="Calibri" pitchFamily="34" charset="-120"/>
              </a:rPr>
              <a:t>That single choice is what makes leakage-free features possible: demand for a night can be reconstructed as of any earlier point in time.</a:t>
            </a:r>
            <a:endParaRPr lang="en-US" sz="1400" dirty="0"/>
          </a:p>
        </p:txBody>
      </p:sp>
      <p:sp>
        <p:nvSpPr>
          <p:cNvPr id="5" name="Shape 3"/>
          <p:cNvSpPr/>
          <p:nvPr/>
        </p:nvSpPr>
        <p:spPr>
          <a:xfrm>
            <a:off x="566928" y="3749040"/>
            <a:ext cx="6035040" cy="1572768"/>
          </a:xfrm>
          <a:prstGeom prst="roundRect">
            <a:avLst>
              <a:gd name="adj" fmla="val 3488"/>
            </a:avLst>
          </a:prstGeom>
          <a:solidFill>
            <a:srgbClr val="EFEAD8"/>
          </a:solidFill>
          <a:ln/>
          <a:effectLst>
            <a:outerShdw sx="100000" sy="100000" kx="0" ky="0" algn="bl" rotWithShape="0" blurRad="101600" dist="508" dir="5400000">
              <a:srgbClr val="000000">
                <a:alpha val="10000"/>
              </a:srgbClr>
            </a:outerShdw>
          </a:effectLst>
        </p:spPr>
      </p:sp>
      <p:sp>
        <p:nvSpPr>
          <p:cNvPr id="6" name="Text 4"/>
          <p:cNvSpPr/>
          <p:nvPr/>
        </p:nvSpPr>
        <p:spPr>
          <a:xfrm>
            <a:off x="822960" y="3895344"/>
            <a:ext cx="5532120" cy="292608"/>
          </a:xfrm>
          <a:prstGeom prst="rect">
            <a:avLst/>
          </a:prstGeom>
          <a:noFill/>
          <a:ln/>
        </p:spPr>
        <p:txBody>
          <a:bodyPr wrap="square" lIns="0" tIns="0" rIns="0" bIns="0" rtlCol="0" anchor="ctr"/>
          <a:lstStyle/>
          <a:p>
            <a:pPr indent="0" marL="0">
              <a:buNone/>
            </a:pPr>
            <a:r>
              <a:rPr lang="en-US" sz="1400" b="1" dirty="0">
                <a:solidFill>
                  <a:srgbClr val="8E3B32"/>
                </a:solidFill>
                <a:latin typeface="Cambria" pitchFamily="34" charset="0"/>
                <a:ea typeface="Cambria" pitchFamily="34" charset="-122"/>
                <a:cs typeface="Cambria" pitchFamily="34" charset="-120"/>
              </a:rPr>
              <a:t>Simpson's paradox, handled explicitly</a:t>
            </a:r>
            <a:endParaRPr lang="en-US" sz="1400" dirty="0"/>
          </a:p>
        </p:txBody>
      </p:sp>
      <p:sp>
        <p:nvSpPr>
          <p:cNvPr id="7" name="Text 5"/>
          <p:cNvSpPr/>
          <p:nvPr/>
        </p:nvSpPr>
        <p:spPr>
          <a:xfrm>
            <a:off x="822960" y="4206240"/>
            <a:ext cx="5532120" cy="969264"/>
          </a:xfrm>
          <a:prstGeom prst="rect">
            <a:avLst/>
          </a:prstGeom>
          <a:noFill/>
          <a:ln/>
        </p:spPr>
        <p:txBody>
          <a:bodyPr wrap="square" lIns="0" tIns="0" rIns="0" bIns="0" rtlCol="0" anchor="ctr"/>
          <a:lstStyle/>
          <a:p>
            <a:pPr indent="0" marL="0">
              <a:buNone/>
            </a:pPr>
            <a:r>
              <a:rPr lang="en-US" sz="1100" dirty="0">
                <a:solidFill>
                  <a:srgbClr val="2B2118"/>
                </a:solidFill>
                <a:latin typeface="Calibri" pitchFamily="34" charset="0"/>
                <a:ea typeface="Calibri" pitchFamily="34" charset="-122"/>
                <a:cs typeface="Calibri" pitchFamily="34" charset="-120"/>
              </a:rPr>
              <a:t>Pooled across room types the occupancy-to-price correlation comes out negative — suites are the least occupied and most expensive, so the between-group effect swamps the within-group one. Tests correlate within (hotel, room_type) and say so in the docstring.</a:t>
            </a:r>
            <a:endParaRPr lang="en-US" sz="1100" dirty="0"/>
          </a:p>
        </p:txBody>
      </p:sp>
      <p:sp>
        <p:nvSpPr>
          <p:cNvPr id="8" name="Shape 6"/>
          <p:cNvSpPr/>
          <p:nvPr/>
        </p:nvSpPr>
        <p:spPr>
          <a:xfrm>
            <a:off x="7004304" y="1463040"/>
            <a:ext cx="4617720" cy="3858768"/>
          </a:xfrm>
          <a:prstGeom prst="roundRect">
            <a:avLst>
              <a:gd name="adj" fmla="val 1422"/>
            </a:avLst>
          </a:prstGeom>
          <a:solidFill>
            <a:srgbClr val="FBF8F2"/>
          </a:solidFill>
          <a:ln/>
          <a:effectLst>
            <a:outerShdw sx="100000" sy="100000" kx="0" ky="0" algn="bl" rotWithShape="0" blurRad="101600" dist="508" dir="5400000">
              <a:srgbClr val="000000">
                <a:alpha val="10000"/>
              </a:srgbClr>
            </a:outerShdw>
          </a:effectLst>
        </p:spPr>
      </p:sp>
      <p:sp>
        <p:nvSpPr>
          <p:cNvPr id="9" name="Text 7"/>
          <p:cNvSpPr/>
          <p:nvPr/>
        </p:nvSpPr>
        <p:spPr>
          <a:xfrm>
            <a:off x="7260336" y="1645920"/>
            <a:ext cx="4114800" cy="292608"/>
          </a:xfrm>
          <a:prstGeom prst="rect">
            <a:avLst/>
          </a:prstGeom>
          <a:noFill/>
          <a:ln/>
        </p:spPr>
        <p:txBody>
          <a:bodyPr wrap="square" lIns="0" tIns="0" rIns="0" bIns="0" rtlCol="0" anchor="ctr"/>
          <a:lstStyle/>
          <a:p>
            <a:pPr indent="0" marL="0">
              <a:buNone/>
            </a:pPr>
            <a:r>
              <a:rPr lang="en-US" sz="1350" b="1" dirty="0">
                <a:solidFill>
                  <a:srgbClr val="2B2118"/>
                </a:solidFill>
                <a:latin typeface="Cambria" pitchFamily="34" charset="0"/>
                <a:ea typeface="Cambria" pitchFamily="34" charset="-122"/>
                <a:cs typeface="Cambria" pitchFamily="34" charset="-120"/>
              </a:rPr>
              <a:t>Mean occupancy on the books, by horizon</a:t>
            </a:r>
            <a:endParaRPr lang="en-US" sz="1350" dirty="0"/>
          </a:p>
        </p:txBody>
      </p:sp>
      <p:sp>
        <p:nvSpPr>
          <p:cNvPr id="10" name="Text 8"/>
          <p:cNvSpPr/>
          <p:nvPr/>
        </p:nvSpPr>
        <p:spPr>
          <a:xfrm>
            <a:off x="7260336" y="2121408"/>
            <a:ext cx="1517904" cy="365760"/>
          </a:xfrm>
          <a:prstGeom prst="rect">
            <a:avLst/>
          </a:prstGeom>
          <a:noFill/>
          <a:ln/>
        </p:spPr>
        <p:txBody>
          <a:bodyPr wrap="square" lIns="0" tIns="0" rIns="0" bIns="0" rtlCol="0" anchor="ctr"/>
          <a:lstStyle/>
          <a:p>
            <a:pPr algn="l" indent="0" marL="0">
              <a:buNone/>
            </a:pPr>
            <a:r>
              <a:rPr lang="en-US" sz="1050" b="1" dirty="0">
                <a:solidFill>
                  <a:srgbClr val="776A5F"/>
                </a:solidFill>
                <a:latin typeface="Calibri" pitchFamily="34" charset="0"/>
                <a:ea typeface="Calibri" pitchFamily="34" charset="-122"/>
                <a:cs typeface="Calibri" pitchFamily="34" charset="-120"/>
              </a:rPr>
              <a:t>Days out</a:t>
            </a:r>
            <a:endParaRPr lang="en-US" sz="1050" dirty="0"/>
          </a:p>
        </p:txBody>
      </p:sp>
      <p:sp>
        <p:nvSpPr>
          <p:cNvPr id="11" name="Text 9"/>
          <p:cNvSpPr/>
          <p:nvPr/>
        </p:nvSpPr>
        <p:spPr>
          <a:xfrm>
            <a:off x="8796528" y="2121408"/>
            <a:ext cx="566928" cy="365760"/>
          </a:xfrm>
          <a:prstGeom prst="rect">
            <a:avLst/>
          </a:prstGeom>
          <a:noFill/>
          <a:ln/>
        </p:spPr>
        <p:txBody>
          <a:bodyPr wrap="square" lIns="0" tIns="0" rIns="0" bIns="0" rtlCol="0" anchor="ctr"/>
          <a:lstStyle/>
          <a:p>
            <a:pPr algn="ctr" indent="0" marL="0">
              <a:buNone/>
            </a:pPr>
            <a:r>
              <a:rPr lang="en-US" sz="1100" b="1" dirty="0">
                <a:solidFill>
                  <a:srgbClr val="776A5F"/>
                </a:solidFill>
                <a:latin typeface="Calibri" pitchFamily="34" charset="0"/>
                <a:ea typeface="Calibri" pitchFamily="34" charset="-122"/>
                <a:cs typeface="Calibri" pitchFamily="34" charset="-120"/>
              </a:rPr>
              <a:t>60</a:t>
            </a:r>
            <a:endParaRPr lang="en-US" sz="1100" dirty="0"/>
          </a:p>
        </p:txBody>
      </p:sp>
      <p:sp>
        <p:nvSpPr>
          <p:cNvPr id="12" name="Text 10"/>
          <p:cNvSpPr/>
          <p:nvPr/>
        </p:nvSpPr>
        <p:spPr>
          <a:xfrm>
            <a:off x="9363456" y="2121408"/>
            <a:ext cx="566928" cy="365760"/>
          </a:xfrm>
          <a:prstGeom prst="rect">
            <a:avLst/>
          </a:prstGeom>
          <a:noFill/>
          <a:ln/>
        </p:spPr>
        <p:txBody>
          <a:bodyPr wrap="square" lIns="0" tIns="0" rIns="0" bIns="0" rtlCol="0" anchor="ctr"/>
          <a:lstStyle/>
          <a:p>
            <a:pPr algn="ctr" indent="0" marL="0">
              <a:buNone/>
            </a:pPr>
            <a:r>
              <a:rPr lang="en-US" sz="1100" b="1" dirty="0">
                <a:solidFill>
                  <a:srgbClr val="776A5F"/>
                </a:solidFill>
                <a:latin typeface="Calibri" pitchFamily="34" charset="0"/>
                <a:ea typeface="Calibri" pitchFamily="34" charset="-122"/>
                <a:cs typeface="Calibri" pitchFamily="34" charset="-120"/>
              </a:rPr>
              <a:t>30</a:t>
            </a:r>
            <a:endParaRPr lang="en-US" sz="1100" dirty="0"/>
          </a:p>
        </p:txBody>
      </p:sp>
      <p:sp>
        <p:nvSpPr>
          <p:cNvPr id="13" name="Text 11"/>
          <p:cNvSpPr/>
          <p:nvPr/>
        </p:nvSpPr>
        <p:spPr>
          <a:xfrm>
            <a:off x="9930384" y="2121408"/>
            <a:ext cx="566928" cy="365760"/>
          </a:xfrm>
          <a:prstGeom prst="rect">
            <a:avLst/>
          </a:prstGeom>
          <a:noFill/>
          <a:ln/>
        </p:spPr>
        <p:txBody>
          <a:bodyPr wrap="square" lIns="0" tIns="0" rIns="0" bIns="0" rtlCol="0" anchor="ctr"/>
          <a:lstStyle/>
          <a:p>
            <a:pPr algn="ctr" indent="0" marL="0">
              <a:buNone/>
            </a:pPr>
            <a:r>
              <a:rPr lang="en-US" sz="1100" b="1" dirty="0">
                <a:solidFill>
                  <a:srgbClr val="776A5F"/>
                </a:solidFill>
                <a:latin typeface="Calibri" pitchFamily="34" charset="0"/>
                <a:ea typeface="Calibri" pitchFamily="34" charset="-122"/>
                <a:cs typeface="Calibri" pitchFamily="34" charset="-120"/>
              </a:rPr>
              <a:t>14</a:t>
            </a:r>
            <a:endParaRPr lang="en-US" sz="1100" dirty="0"/>
          </a:p>
        </p:txBody>
      </p:sp>
      <p:sp>
        <p:nvSpPr>
          <p:cNvPr id="14" name="Text 12"/>
          <p:cNvSpPr/>
          <p:nvPr/>
        </p:nvSpPr>
        <p:spPr>
          <a:xfrm>
            <a:off x="10497312" y="2121408"/>
            <a:ext cx="566928" cy="365760"/>
          </a:xfrm>
          <a:prstGeom prst="rect">
            <a:avLst/>
          </a:prstGeom>
          <a:noFill/>
          <a:ln/>
        </p:spPr>
        <p:txBody>
          <a:bodyPr wrap="square" lIns="0" tIns="0" rIns="0" bIns="0" rtlCol="0" anchor="ctr"/>
          <a:lstStyle/>
          <a:p>
            <a:pPr algn="ctr" indent="0" marL="0">
              <a:buNone/>
            </a:pPr>
            <a:r>
              <a:rPr lang="en-US" sz="1100" b="1" dirty="0">
                <a:solidFill>
                  <a:srgbClr val="776A5F"/>
                </a:solidFill>
                <a:latin typeface="Calibri" pitchFamily="34" charset="0"/>
                <a:ea typeface="Calibri" pitchFamily="34" charset="-122"/>
                <a:cs typeface="Calibri" pitchFamily="34" charset="-120"/>
              </a:rPr>
              <a:t>7</a:t>
            </a:r>
            <a:endParaRPr lang="en-US" sz="1100" dirty="0"/>
          </a:p>
        </p:txBody>
      </p:sp>
      <p:sp>
        <p:nvSpPr>
          <p:cNvPr id="15" name="Text 13"/>
          <p:cNvSpPr/>
          <p:nvPr/>
        </p:nvSpPr>
        <p:spPr>
          <a:xfrm>
            <a:off x="11064240" y="2121408"/>
            <a:ext cx="566928" cy="365760"/>
          </a:xfrm>
          <a:prstGeom prst="rect">
            <a:avLst/>
          </a:prstGeom>
          <a:noFill/>
          <a:ln/>
        </p:spPr>
        <p:txBody>
          <a:bodyPr wrap="square" lIns="0" tIns="0" rIns="0" bIns="0" rtlCol="0" anchor="ctr"/>
          <a:lstStyle/>
          <a:p>
            <a:pPr algn="ctr" indent="0" marL="0">
              <a:buNone/>
            </a:pPr>
            <a:r>
              <a:rPr lang="en-US" sz="1100" b="1" dirty="0">
                <a:solidFill>
                  <a:srgbClr val="776A5F"/>
                </a:solidFill>
                <a:latin typeface="Calibri" pitchFamily="34" charset="0"/>
                <a:ea typeface="Calibri" pitchFamily="34" charset="-122"/>
                <a:cs typeface="Calibri" pitchFamily="34" charset="-120"/>
              </a:rPr>
              <a:t>0</a:t>
            </a:r>
            <a:endParaRPr lang="en-US" sz="1100" dirty="0"/>
          </a:p>
        </p:txBody>
      </p:sp>
      <p:sp>
        <p:nvSpPr>
          <p:cNvPr id="16" name="Text 14"/>
          <p:cNvSpPr/>
          <p:nvPr/>
        </p:nvSpPr>
        <p:spPr>
          <a:xfrm>
            <a:off x="7260336" y="2578608"/>
            <a:ext cx="1517904" cy="365760"/>
          </a:xfrm>
          <a:prstGeom prst="rect">
            <a:avLst/>
          </a:prstGeom>
          <a:noFill/>
          <a:ln/>
        </p:spPr>
        <p:txBody>
          <a:bodyPr wrap="square" lIns="0" tIns="0" rIns="0" bIns="0" rtlCol="0" anchor="ctr"/>
          <a:lstStyle/>
          <a:p>
            <a:pPr algn="l" indent="0" marL="0">
              <a:buNone/>
            </a:pPr>
            <a:r>
              <a:rPr lang="en-US" sz="1050" b="1" dirty="0">
                <a:solidFill>
                  <a:srgbClr val="2B2118"/>
                </a:solidFill>
                <a:latin typeface="Calibri" pitchFamily="34" charset="0"/>
                <a:ea typeface="Calibri" pitchFamily="34" charset="-122"/>
                <a:cs typeface="Calibri" pitchFamily="34" charset="-120"/>
              </a:rPr>
              <a:t>Occupancy</a:t>
            </a:r>
            <a:endParaRPr lang="en-US" sz="1050" dirty="0"/>
          </a:p>
        </p:txBody>
      </p:sp>
      <p:sp>
        <p:nvSpPr>
          <p:cNvPr id="17" name="Text 15"/>
          <p:cNvSpPr/>
          <p:nvPr/>
        </p:nvSpPr>
        <p:spPr>
          <a:xfrm>
            <a:off x="8796528" y="2578608"/>
            <a:ext cx="566928" cy="365760"/>
          </a:xfrm>
          <a:prstGeom prst="rect">
            <a:avLst/>
          </a:prstGeom>
          <a:noFill/>
          <a:ln/>
        </p:spPr>
        <p:txBody>
          <a:bodyPr wrap="square" lIns="0" tIns="0" rIns="0" bIns="0" rtlCol="0" anchor="ctr"/>
          <a:lstStyle/>
          <a:p>
            <a:pPr algn="ctr" indent="0" marL="0">
              <a:buNone/>
            </a:pPr>
            <a:r>
              <a:rPr lang="en-US" sz="1100" dirty="0">
                <a:solidFill>
                  <a:srgbClr val="2B2118"/>
                </a:solidFill>
                <a:latin typeface="Calibri" pitchFamily="34" charset="0"/>
                <a:ea typeface="Calibri" pitchFamily="34" charset="-122"/>
                <a:cs typeface="Calibri" pitchFamily="34" charset="-120"/>
              </a:rPr>
              <a:t>0.033</a:t>
            </a:r>
            <a:endParaRPr lang="en-US" sz="1100" dirty="0"/>
          </a:p>
        </p:txBody>
      </p:sp>
      <p:sp>
        <p:nvSpPr>
          <p:cNvPr id="18" name="Text 16"/>
          <p:cNvSpPr/>
          <p:nvPr/>
        </p:nvSpPr>
        <p:spPr>
          <a:xfrm>
            <a:off x="9363456" y="2578608"/>
            <a:ext cx="566928" cy="365760"/>
          </a:xfrm>
          <a:prstGeom prst="rect">
            <a:avLst/>
          </a:prstGeom>
          <a:noFill/>
          <a:ln/>
        </p:spPr>
        <p:txBody>
          <a:bodyPr wrap="square" lIns="0" tIns="0" rIns="0" bIns="0" rtlCol="0" anchor="ctr"/>
          <a:lstStyle/>
          <a:p>
            <a:pPr algn="ctr" indent="0" marL="0">
              <a:buNone/>
            </a:pPr>
            <a:r>
              <a:rPr lang="en-US" sz="1100" dirty="0">
                <a:solidFill>
                  <a:srgbClr val="2B2118"/>
                </a:solidFill>
                <a:latin typeface="Calibri" pitchFamily="34" charset="0"/>
                <a:ea typeface="Calibri" pitchFamily="34" charset="-122"/>
                <a:cs typeface="Calibri" pitchFamily="34" charset="-120"/>
              </a:rPr>
              <a:t>0.183</a:t>
            </a:r>
            <a:endParaRPr lang="en-US" sz="1100" dirty="0"/>
          </a:p>
        </p:txBody>
      </p:sp>
      <p:sp>
        <p:nvSpPr>
          <p:cNvPr id="19" name="Text 17"/>
          <p:cNvSpPr/>
          <p:nvPr/>
        </p:nvSpPr>
        <p:spPr>
          <a:xfrm>
            <a:off x="9930384" y="2578608"/>
            <a:ext cx="566928" cy="365760"/>
          </a:xfrm>
          <a:prstGeom prst="rect">
            <a:avLst/>
          </a:prstGeom>
          <a:noFill/>
          <a:ln/>
        </p:spPr>
        <p:txBody>
          <a:bodyPr wrap="square" lIns="0" tIns="0" rIns="0" bIns="0" rtlCol="0" anchor="ctr"/>
          <a:lstStyle/>
          <a:p>
            <a:pPr algn="ctr" indent="0" marL="0">
              <a:buNone/>
            </a:pPr>
            <a:r>
              <a:rPr lang="en-US" sz="1100" dirty="0">
                <a:solidFill>
                  <a:srgbClr val="2B2118"/>
                </a:solidFill>
                <a:latin typeface="Calibri" pitchFamily="34" charset="0"/>
                <a:ea typeface="Calibri" pitchFamily="34" charset="-122"/>
                <a:cs typeface="Calibri" pitchFamily="34" charset="-120"/>
              </a:rPr>
              <a:t>0.411</a:t>
            </a:r>
            <a:endParaRPr lang="en-US" sz="1100" dirty="0"/>
          </a:p>
        </p:txBody>
      </p:sp>
      <p:sp>
        <p:nvSpPr>
          <p:cNvPr id="20" name="Text 18"/>
          <p:cNvSpPr/>
          <p:nvPr/>
        </p:nvSpPr>
        <p:spPr>
          <a:xfrm>
            <a:off x="10497312" y="2578608"/>
            <a:ext cx="566928" cy="365760"/>
          </a:xfrm>
          <a:prstGeom prst="rect">
            <a:avLst/>
          </a:prstGeom>
          <a:noFill/>
          <a:ln/>
        </p:spPr>
        <p:txBody>
          <a:bodyPr wrap="square" lIns="0" tIns="0" rIns="0" bIns="0" rtlCol="0" anchor="ctr"/>
          <a:lstStyle/>
          <a:p>
            <a:pPr algn="ctr" indent="0" marL="0">
              <a:buNone/>
            </a:pPr>
            <a:r>
              <a:rPr lang="en-US" sz="1100" dirty="0">
                <a:solidFill>
                  <a:srgbClr val="2B2118"/>
                </a:solidFill>
                <a:latin typeface="Calibri" pitchFamily="34" charset="0"/>
                <a:ea typeface="Calibri" pitchFamily="34" charset="-122"/>
                <a:cs typeface="Calibri" pitchFamily="34" charset="-120"/>
              </a:rPr>
              <a:t>0.529</a:t>
            </a:r>
            <a:endParaRPr lang="en-US" sz="1100" dirty="0"/>
          </a:p>
        </p:txBody>
      </p:sp>
      <p:sp>
        <p:nvSpPr>
          <p:cNvPr id="21" name="Text 19"/>
          <p:cNvSpPr/>
          <p:nvPr/>
        </p:nvSpPr>
        <p:spPr>
          <a:xfrm>
            <a:off x="11064240" y="2578608"/>
            <a:ext cx="566928" cy="365760"/>
          </a:xfrm>
          <a:prstGeom prst="rect">
            <a:avLst/>
          </a:prstGeom>
          <a:noFill/>
          <a:ln/>
        </p:spPr>
        <p:txBody>
          <a:bodyPr wrap="square" lIns="0" tIns="0" rIns="0" bIns="0" rtlCol="0" anchor="ctr"/>
          <a:lstStyle/>
          <a:p>
            <a:pPr algn="ctr" indent="0" marL="0">
              <a:buNone/>
            </a:pPr>
            <a:r>
              <a:rPr lang="en-US" sz="1100" dirty="0">
                <a:solidFill>
                  <a:srgbClr val="2B2118"/>
                </a:solidFill>
                <a:latin typeface="Calibri" pitchFamily="34" charset="0"/>
                <a:ea typeface="Calibri" pitchFamily="34" charset="-122"/>
                <a:cs typeface="Calibri" pitchFamily="34" charset="-120"/>
              </a:rPr>
              <a:t>0.702</a:t>
            </a:r>
            <a:endParaRPr lang="en-US" sz="1100" dirty="0"/>
          </a:p>
        </p:txBody>
      </p:sp>
      <p:sp>
        <p:nvSpPr>
          <p:cNvPr id="22" name="Text 20"/>
          <p:cNvSpPr/>
          <p:nvPr/>
        </p:nvSpPr>
        <p:spPr>
          <a:xfrm>
            <a:off x="7260336" y="3035808"/>
            <a:ext cx="1517904" cy="365760"/>
          </a:xfrm>
          <a:prstGeom prst="rect">
            <a:avLst/>
          </a:prstGeom>
          <a:noFill/>
          <a:ln/>
        </p:spPr>
        <p:txBody>
          <a:bodyPr wrap="square" lIns="0" tIns="0" rIns="0" bIns="0" rtlCol="0" anchor="ctr"/>
          <a:lstStyle/>
          <a:p>
            <a:pPr algn="l" indent="0" marL="0">
              <a:buNone/>
            </a:pPr>
            <a:r>
              <a:rPr lang="en-US" sz="1050" b="1" dirty="0">
                <a:solidFill>
                  <a:srgbClr val="2B2118"/>
                </a:solidFill>
                <a:latin typeface="Calibri" pitchFamily="34" charset="0"/>
                <a:ea typeface="Calibri" pitchFamily="34" charset="-122"/>
                <a:cs typeface="Calibri" pitchFamily="34" charset="-120"/>
              </a:rPr>
              <a:t>corr w/ demand</a:t>
            </a:r>
            <a:endParaRPr lang="en-US" sz="1050" dirty="0"/>
          </a:p>
        </p:txBody>
      </p:sp>
      <p:sp>
        <p:nvSpPr>
          <p:cNvPr id="23" name="Text 21"/>
          <p:cNvSpPr/>
          <p:nvPr/>
        </p:nvSpPr>
        <p:spPr>
          <a:xfrm>
            <a:off x="8796528" y="3035808"/>
            <a:ext cx="566928" cy="365760"/>
          </a:xfrm>
          <a:prstGeom prst="rect">
            <a:avLst/>
          </a:prstGeom>
          <a:noFill/>
          <a:ln/>
        </p:spPr>
        <p:txBody>
          <a:bodyPr wrap="square" lIns="0" tIns="0" rIns="0" bIns="0" rtlCol="0" anchor="ctr"/>
          <a:lstStyle/>
          <a:p>
            <a:pPr algn="ctr" indent="0" marL="0">
              <a:buNone/>
            </a:pPr>
            <a:r>
              <a:rPr lang="en-US" sz="1100" dirty="0">
                <a:solidFill>
                  <a:srgbClr val="2B2118"/>
                </a:solidFill>
                <a:latin typeface="Calibri" pitchFamily="34" charset="0"/>
                <a:ea typeface="Calibri" pitchFamily="34" charset="-122"/>
                <a:cs typeface="Calibri" pitchFamily="34" charset="-120"/>
              </a:rPr>
              <a:t>0.32</a:t>
            </a:r>
            <a:endParaRPr lang="en-US" sz="1100" dirty="0"/>
          </a:p>
        </p:txBody>
      </p:sp>
      <p:sp>
        <p:nvSpPr>
          <p:cNvPr id="24" name="Text 22"/>
          <p:cNvSpPr/>
          <p:nvPr/>
        </p:nvSpPr>
        <p:spPr>
          <a:xfrm>
            <a:off x="9363456" y="3035808"/>
            <a:ext cx="566928" cy="365760"/>
          </a:xfrm>
          <a:prstGeom prst="rect">
            <a:avLst/>
          </a:prstGeom>
          <a:noFill/>
          <a:ln/>
        </p:spPr>
        <p:txBody>
          <a:bodyPr wrap="square" lIns="0" tIns="0" rIns="0" bIns="0" rtlCol="0" anchor="ctr"/>
          <a:lstStyle/>
          <a:p>
            <a:pPr algn="ctr" indent="0" marL="0">
              <a:buNone/>
            </a:pPr>
            <a:r>
              <a:rPr lang="en-US" sz="1100" dirty="0">
                <a:solidFill>
                  <a:srgbClr val="2B2118"/>
                </a:solidFill>
                <a:latin typeface="Calibri" pitchFamily="34" charset="0"/>
                <a:ea typeface="Calibri" pitchFamily="34" charset="-122"/>
                <a:cs typeface="Calibri" pitchFamily="34" charset="-120"/>
              </a:rPr>
              <a:t>0.66</a:t>
            </a:r>
            <a:endParaRPr lang="en-US" sz="1100" dirty="0"/>
          </a:p>
        </p:txBody>
      </p:sp>
      <p:sp>
        <p:nvSpPr>
          <p:cNvPr id="25" name="Text 23"/>
          <p:cNvSpPr/>
          <p:nvPr/>
        </p:nvSpPr>
        <p:spPr>
          <a:xfrm>
            <a:off x="9930384" y="3035808"/>
            <a:ext cx="566928" cy="365760"/>
          </a:xfrm>
          <a:prstGeom prst="rect">
            <a:avLst/>
          </a:prstGeom>
          <a:noFill/>
          <a:ln/>
        </p:spPr>
        <p:txBody>
          <a:bodyPr wrap="square" lIns="0" tIns="0" rIns="0" bIns="0" rtlCol="0" anchor="ctr"/>
          <a:lstStyle/>
          <a:p>
            <a:pPr algn="ctr" indent="0" marL="0">
              <a:buNone/>
            </a:pPr>
            <a:r>
              <a:rPr lang="en-US" sz="1100" dirty="0">
                <a:solidFill>
                  <a:srgbClr val="2B2118"/>
                </a:solidFill>
                <a:latin typeface="Calibri" pitchFamily="34" charset="0"/>
                <a:ea typeface="Calibri" pitchFamily="34" charset="-122"/>
                <a:cs typeface="Calibri" pitchFamily="34" charset="-120"/>
              </a:rPr>
              <a:t>0.67</a:t>
            </a:r>
            <a:endParaRPr lang="en-US" sz="1100" dirty="0"/>
          </a:p>
        </p:txBody>
      </p:sp>
      <p:sp>
        <p:nvSpPr>
          <p:cNvPr id="26" name="Text 24"/>
          <p:cNvSpPr/>
          <p:nvPr/>
        </p:nvSpPr>
        <p:spPr>
          <a:xfrm>
            <a:off x="10497312" y="3035808"/>
            <a:ext cx="566928" cy="365760"/>
          </a:xfrm>
          <a:prstGeom prst="rect">
            <a:avLst/>
          </a:prstGeom>
          <a:noFill/>
          <a:ln/>
        </p:spPr>
        <p:txBody>
          <a:bodyPr wrap="square" lIns="0" tIns="0" rIns="0" bIns="0" rtlCol="0" anchor="ctr"/>
          <a:lstStyle/>
          <a:p>
            <a:pPr algn="ctr" indent="0" marL="0">
              <a:buNone/>
            </a:pPr>
            <a:r>
              <a:rPr lang="en-US" sz="1100" dirty="0">
                <a:solidFill>
                  <a:srgbClr val="2B2118"/>
                </a:solidFill>
                <a:latin typeface="Calibri" pitchFamily="34" charset="0"/>
                <a:ea typeface="Calibri" pitchFamily="34" charset="-122"/>
                <a:cs typeface="Calibri" pitchFamily="34" charset="-120"/>
              </a:rPr>
              <a:t>0.78</a:t>
            </a:r>
            <a:endParaRPr lang="en-US" sz="1100" dirty="0"/>
          </a:p>
        </p:txBody>
      </p:sp>
      <p:sp>
        <p:nvSpPr>
          <p:cNvPr id="27" name="Text 25"/>
          <p:cNvSpPr/>
          <p:nvPr/>
        </p:nvSpPr>
        <p:spPr>
          <a:xfrm>
            <a:off x="11064240" y="3035808"/>
            <a:ext cx="566928" cy="365760"/>
          </a:xfrm>
          <a:prstGeom prst="rect">
            <a:avLst/>
          </a:prstGeom>
          <a:noFill/>
          <a:ln/>
        </p:spPr>
        <p:txBody>
          <a:bodyPr wrap="square" lIns="0" tIns="0" rIns="0" bIns="0" rtlCol="0" anchor="ctr"/>
          <a:lstStyle/>
          <a:p>
            <a:pPr algn="ctr" indent="0" marL="0">
              <a:buNone/>
            </a:pPr>
            <a:r>
              <a:rPr lang="en-US" sz="1100" dirty="0">
                <a:solidFill>
                  <a:srgbClr val="B85042"/>
                </a:solidFill>
                <a:latin typeface="Calibri" pitchFamily="34" charset="0"/>
                <a:ea typeface="Calibri" pitchFamily="34" charset="-122"/>
                <a:cs typeface="Calibri" pitchFamily="34" charset="-120"/>
              </a:rPr>
              <a:t>0.97</a:t>
            </a:r>
            <a:endParaRPr lang="en-US" sz="1100" dirty="0"/>
          </a:p>
        </p:txBody>
      </p:sp>
      <p:sp>
        <p:nvSpPr>
          <p:cNvPr id="28" name="Text 26"/>
          <p:cNvSpPr/>
          <p:nvPr/>
        </p:nvSpPr>
        <p:spPr>
          <a:xfrm>
            <a:off x="7260336" y="3712464"/>
            <a:ext cx="4114800" cy="914400"/>
          </a:xfrm>
          <a:prstGeom prst="rect">
            <a:avLst/>
          </a:prstGeom>
          <a:noFill/>
          <a:ln/>
        </p:spPr>
        <p:txBody>
          <a:bodyPr wrap="square" lIns="0" tIns="0" rIns="0" bIns="0" rtlCol="0" anchor="ctr"/>
          <a:lstStyle/>
          <a:p>
            <a:pPr indent="0" marL="0">
              <a:buNone/>
            </a:pPr>
            <a:r>
              <a:rPr lang="en-US" sz="1100" dirty="0">
                <a:solidFill>
                  <a:srgbClr val="2B2118"/>
                </a:solidFill>
                <a:latin typeface="Calibri" pitchFamily="34" charset="0"/>
                <a:ea typeface="Calibri" pitchFamily="34" charset="-122"/>
                <a:cs typeface="Calibri" pitchFamily="34" charset="-120"/>
              </a:rPr>
              <a:t>By check-in day the rooms already on the books essentially are the answer — correlation 0.97. Any model that does not rank occupancy first at short horizons is wrong.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FEATURE ENGINEERING</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Thirty features, and one function that prevents skew</a:t>
            </a:r>
            <a:endParaRPr lang="en-US" sz="3200" dirty="0"/>
          </a:p>
        </p:txBody>
      </p:sp>
      <p:sp>
        <p:nvSpPr>
          <p:cNvPr id="4" name="Shape 2"/>
          <p:cNvSpPr/>
          <p:nvPr/>
        </p:nvSpPr>
        <p:spPr>
          <a:xfrm>
            <a:off x="566928" y="1517904"/>
            <a:ext cx="402336" cy="402336"/>
          </a:xfrm>
          <a:prstGeom prst="ellipse">
            <a:avLst/>
          </a:prstGeom>
          <a:solidFill>
            <a:srgbClr val="B85042"/>
          </a:solidFill>
          <a:ln/>
        </p:spPr>
      </p:sp>
      <p:sp>
        <p:nvSpPr>
          <p:cNvPr id="5" name="Text 3"/>
          <p:cNvSpPr/>
          <p:nvPr/>
        </p:nvSpPr>
        <p:spPr>
          <a:xfrm>
            <a:off x="566928" y="15179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15568" y="1499616"/>
            <a:ext cx="4754880" cy="310896"/>
          </a:xfrm>
          <a:prstGeom prst="rect">
            <a:avLst/>
          </a:prstGeom>
          <a:noFill/>
          <a:ln/>
        </p:spPr>
        <p:txBody>
          <a:bodyPr wrap="square" lIns="0" tIns="0" rIns="0" bIns="0" rtlCol="0" anchor="ctr"/>
          <a:lstStyle/>
          <a:p>
            <a:pPr indent="0" marL="0">
              <a:buNone/>
            </a:pPr>
            <a:r>
              <a:rPr lang="en-US" sz="1500" b="1" dirty="0">
                <a:solidFill>
                  <a:srgbClr val="2B2118"/>
                </a:solidFill>
                <a:latin typeface="Cambria" pitchFamily="34" charset="0"/>
                <a:ea typeface="Cambria" pitchFamily="34" charset="-122"/>
                <a:cs typeface="Cambria" pitchFamily="34" charset="-120"/>
              </a:rPr>
              <a:t>Booking curve</a:t>
            </a:r>
            <a:endParaRPr lang="en-US" sz="1500" dirty="0"/>
          </a:p>
        </p:txBody>
      </p:sp>
      <p:sp>
        <p:nvSpPr>
          <p:cNvPr id="7" name="Text 5"/>
          <p:cNvSpPr/>
          <p:nvPr/>
        </p:nvSpPr>
        <p:spPr>
          <a:xfrm>
            <a:off x="1115568" y="1828800"/>
            <a:ext cx="4754880" cy="713232"/>
          </a:xfrm>
          <a:prstGeom prst="rect">
            <a:avLst/>
          </a:prstGeom>
          <a:noFill/>
          <a:ln/>
        </p:spPr>
        <p:txBody>
          <a:bodyPr wrap="square" lIns="0" tIns="0" rIns="0" bIns="0" rtlCol="0" anchor="ctr"/>
          <a:lstStyle/>
          <a:p>
            <a:pPr indent="0" marL="0">
              <a:buNone/>
            </a:pPr>
            <a:r>
              <a:rPr lang="en-US" sz="1150" dirty="0">
                <a:solidFill>
                  <a:srgbClr val="776A5F"/>
                </a:solidFill>
                <a:latin typeface="Calibri" pitchFamily="34" charset="0"/>
                <a:ea typeface="Calibri" pitchFamily="34" charset="-122"/>
                <a:cs typeface="Calibri" pitchFamily="34" charset="-120"/>
              </a:rPr>
              <a:t>On-the-books occupancy at each horizon, pickup pace, days to check-in, lead-time buckets</a:t>
            </a:r>
            <a:endParaRPr lang="en-US" sz="1150" dirty="0"/>
          </a:p>
        </p:txBody>
      </p:sp>
      <p:sp>
        <p:nvSpPr>
          <p:cNvPr id="8" name="Shape 6"/>
          <p:cNvSpPr/>
          <p:nvPr/>
        </p:nvSpPr>
        <p:spPr>
          <a:xfrm>
            <a:off x="6236208" y="1517904"/>
            <a:ext cx="402336" cy="402336"/>
          </a:xfrm>
          <a:prstGeom prst="ellipse">
            <a:avLst/>
          </a:prstGeom>
          <a:solidFill>
            <a:srgbClr val="B85042"/>
          </a:solidFill>
          <a:ln/>
        </p:spPr>
      </p:sp>
      <p:sp>
        <p:nvSpPr>
          <p:cNvPr id="9" name="Text 7"/>
          <p:cNvSpPr/>
          <p:nvPr/>
        </p:nvSpPr>
        <p:spPr>
          <a:xfrm>
            <a:off x="6236208" y="15179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6784848" y="1499616"/>
            <a:ext cx="4754880" cy="310896"/>
          </a:xfrm>
          <a:prstGeom prst="rect">
            <a:avLst/>
          </a:prstGeom>
          <a:noFill/>
          <a:ln/>
        </p:spPr>
        <p:txBody>
          <a:bodyPr wrap="square" lIns="0" tIns="0" rIns="0" bIns="0" rtlCol="0" anchor="ctr"/>
          <a:lstStyle/>
          <a:p>
            <a:pPr indent="0" marL="0">
              <a:buNone/>
            </a:pPr>
            <a:r>
              <a:rPr lang="en-US" sz="1500" b="1" dirty="0">
                <a:solidFill>
                  <a:srgbClr val="2B2118"/>
                </a:solidFill>
                <a:latin typeface="Cambria" pitchFamily="34" charset="0"/>
                <a:ea typeface="Cambria" pitchFamily="34" charset="-122"/>
                <a:cs typeface="Cambria" pitchFamily="34" charset="-120"/>
              </a:rPr>
              <a:t>Calendar</a:t>
            </a:r>
            <a:endParaRPr lang="en-US" sz="1500" dirty="0"/>
          </a:p>
        </p:txBody>
      </p:sp>
      <p:sp>
        <p:nvSpPr>
          <p:cNvPr id="11" name="Text 9"/>
          <p:cNvSpPr/>
          <p:nvPr/>
        </p:nvSpPr>
        <p:spPr>
          <a:xfrm>
            <a:off x="6784848" y="1828800"/>
            <a:ext cx="4754880" cy="713232"/>
          </a:xfrm>
          <a:prstGeom prst="rect">
            <a:avLst/>
          </a:prstGeom>
          <a:noFill/>
          <a:ln/>
        </p:spPr>
        <p:txBody>
          <a:bodyPr wrap="square" lIns="0" tIns="0" rIns="0" bIns="0" rtlCol="0" anchor="ctr"/>
          <a:lstStyle/>
          <a:p>
            <a:pPr indent="0" marL="0">
              <a:buNone/>
            </a:pPr>
            <a:r>
              <a:rPr lang="en-US" sz="1150" dirty="0">
                <a:solidFill>
                  <a:srgbClr val="776A5F"/>
                </a:solidFill>
                <a:latin typeface="Calibri" pitchFamily="34" charset="0"/>
                <a:ea typeface="Calibri" pitchFamily="34" charset="-122"/>
                <a:cs typeface="Calibri" pitchFamily="34" charset="-120"/>
              </a:rPr>
              <a:t>Day of week, month, season one-hots, holiday and local-event scores across six cities</a:t>
            </a:r>
            <a:endParaRPr lang="en-US" sz="1150" dirty="0"/>
          </a:p>
        </p:txBody>
      </p:sp>
      <p:sp>
        <p:nvSpPr>
          <p:cNvPr id="12" name="Shape 10"/>
          <p:cNvSpPr/>
          <p:nvPr/>
        </p:nvSpPr>
        <p:spPr>
          <a:xfrm>
            <a:off x="566928" y="2743200"/>
            <a:ext cx="402336" cy="402336"/>
          </a:xfrm>
          <a:prstGeom prst="ellipse">
            <a:avLst/>
          </a:prstGeom>
          <a:solidFill>
            <a:srgbClr val="B85042"/>
          </a:solidFill>
          <a:ln/>
        </p:spPr>
      </p:sp>
      <p:sp>
        <p:nvSpPr>
          <p:cNvPr id="13" name="Text 11"/>
          <p:cNvSpPr/>
          <p:nvPr/>
        </p:nvSpPr>
        <p:spPr>
          <a:xfrm>
            <a:off x="566928" y="27432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15568" y="2724912"/>
            <a:ext cx="4754880" cy="310896"/>
          </a:xfrm>
          <a:prstGeom prst="rect">
            <a:avLst/>
          </a:prstGeom>
          <a:noFill/>
          <a:ln/>
        </p:spPr>
        <p:txBody>
          <a:bodyPr wrap="square" lIns="0" tIns="0" rIns="0" bIns="0" rtlCol="0" anchor="ctr"/>
          <a:lstStyle/>
          <a:p>
            <a:pPr indent="0" marL="0">
              <a:buNone/>
            </a:pPr>
            <a:r>
              <a:rPr lang="en-US" sz="1500" b="1" dirty="0">
                <a:solidFill>
                  <a:srgbClr val="2B2118"/>
                </a:solidFill>
                <a:latin typeface="Cambria" pitchFamily="34" charset="0"/>
                <a:ea typeface="Cambria" pitchFamily="34" charset="-122"/>
                <a:cs typeface="Cambria" pitchFamily="34" charset="-120"/>
              </a:rPr>
              <a:t>Market</a:t>
            </a:r>
            <a:endParaRPr lang="en-US" sz="1500" dirty="0"/>
          </a:p>
        </p:txBody>
      </p:sp>
      <p:sp>
        <p:nvSpPr>
          <p:cNvPr id="15" name="Text 13"/>
          <p:cNvSpPr/>
          <p:nvPr/>
        </p:nvSpPr>
        <p:spPr>
          <a:xfrm>
            <a:off x="1115568" y="3054096"/>
            <a:ext cx="4754880" cy="713232"/>
          </a:xfrm>
          <a:prstGeom prst="rect">
            <a:avLst/>
          </a:prstGeom>
          <a:noFill/>
          <a:ln/>
        </p:spPr>
        <p:txBody>
          <a:bodyPr wrap="square" lIns="0" tIns="0" rIns="0" bIns="0" rtlCol="0" anchor="ctr"/>
          <a:lstStyle/>
          <a:p>
            <a:pPr indent="0" marL="0">
              <a:buNone/>
            </a:pPr>
            <a:r>
              <a:rPr lang="en-US" sz="1150" dirty="0">
                <a:solidFill>
                  <a:srgbClr val="776A5F"/>
                </a:solidFill>
                <a:latin typeface="Calibri" pitchFamily="34" charset="0"/>
                <a:ea typeface="Calibri" pitchFamily="34" charset="-122"/>
                <a:cs typeface="Calibri" pitchFamily="34" charset="-120"/>
              </a:rPr>
              <a:t>Competitor average / min / max, price-to-competitor ratio, availability pressure</a:t>
            </a:r>
            <a:endParaRPr lang="en-US" sz="1150" dirty="0"/>
          </a:p>
        </p:txBody>
      </p:sp>
      <p:sp>
        <p:nvSpPr>
          <p:cNvPr id="16" name="Shape 14"/>
          <p:cNvSpPr/>
          <p:nvPr/>
        </p:nvSpPr>
        <p:spPr>
          <a:xfrm>
            <a:off x="6236208" y="2743200"/>
            <a:ext cx="402336" cy="402336"/>
          </a:xfrm>
          <a:prstGeom prst="ellipse">
            <a:avLst/>
          </a:prstGeom>
          <a:solidFill>
            <a:srgbClr val="B85042"/>
          </a:solidFill>
          <a:ln/>
        </p:spPr>
      </p:sp>
      <p:sp>
        <p:nvSpPr>
          <p:cNvPr id="17" name="Text 15"/>
          <p:cNvSpPr/>
          <p:nvPr/>
        </p:nvSpPr>
        <p:spPr>
          <a:xfrm>
            <a:off x="6236208" y="27432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6784848" y="2724912"/>
            <a:ext cx="4754880" cy="310896"/>
          </a:xfrm>
          <a:prstGeom prst="rect">
            <a:avLst/>
          </a:prstGeom>
          <a:noFill/>
          <a:ln/>
        </p:spPr>
        <p:txBody>
          <a:bodyPr wrap="square" lIns="0" tIns="0" rIns="0" bIns="0" rtlCol="0" anchor="ctr"/>
          <a:lstStyle/>
          <a:p>
            <a:pPr indent="0" marL="0">
              <a:buNone/>
            </a:pPr>
            <a:r>
              <a:rPr lang="en-US" sz="1500" b="1" dirty="0">
                <a:solidFill>
                  <a:srgbClr val="2B2118"/>
                </a:solidFill>
                <a:latin typeface="Cambria" pitchFamily="34" charset="0"/>
                <a:ea typeface="Cambria" pitchFamily="34" charset="-122"/>
                <a:cs typeface="Cambria" pitchFamily="34" charset="-120"/>
              </a:rPr>
              <a:t>Interaction</a:t>
            </a:r>
            <a:endParaRPr lang="en-US" sz="1500" dirty="0"/>
          </a:p>
        </p:txBody>
      </p:sp>
      <p:sp>
        <p:nvSpPr>
          <p:cNvPr id="19" name="Text 17"/>
          <p:cNvSpPr/>
          <p:nvPr/>
        </p:nvSpPr>
        <p:spPr>
          <a:xfrm>
            <a:off x="6784848" y="3054096"/>
            <a:ext cx="4754880" cy="713232"/>
          </a:xfrm>
          <a:prstGeom prst="rect">
            <a:avLst/>
          </a:prstGeom>
          <a:noFill/>
          <a:ln/>
        </p:spPr>
        <p:txBody>
          <a:bodyPr wrap="square" lIns="0" tIns="0" rIns="0" bIns="0" rtlCol="0" anchor="ctr"/>
          <a:lstStyle/>
          <a:p>
            <a:pPr indent="0" marL="0">
              <a:buNone/>
            </a:pPr>
            <a:r>
              <a:rPr lang="en-US" sz="1150" dirty="0">
                <a:solidFill>
                  <a:srgbClr val="776A5F"/>
                </a:solidFill>
                <a:latin typeface="Calibri" pitchFamily="34" charset="0"/>
                <a:ea typeface="Calibri" pitchFamily="34" charset="-122"/>
                <a:cs typeface="Calibri" pitchFamily="34" charset="-120"/>
              </a:rPr>
              <a:t>occupancy × lead time — the third most important feature, and the revenue-management story</a:t>
            </a:r>
            <a:endParaRPr lang="en-US" sz="1150" dirty="0"/>
          </a:p>
        </p:txBody>
      </p:sp>
      <p:sp>
        <p:nvSpPr>
          <p:cNvPr id="20" name="Shape 18"/>
          <p:cNvSpPr/>
          <p:nvPr/>
        </p:nvSpPr>
        <p:spPr>
          <a:xfrm>
            <a:off x="566928" y="4114800"/>
            <a:ext cx="11055096" cy="1572768"/>
          </a:xfrm>
          <a:prstGeom prst="roundRect">
            <a:avLst>
              <a:gd name="adj" fmla="val 3488"/>
            </a:avLst>
          </a:prstGeom>
          <a:solidFill>
            <a:srgbClr val="EFEAD8"/>
          </a:solidFill>
          <a:ln/>
          <a:effectLst>
            <a:outerShdw sx="100000" sy="100000" kx="0" ky="0" algn="bl" rotWithShape="0" blurRad="101600" dist="508" dir="5400000">
              <a:srgbClr val="000000">
                <a:alpha val="10000"/>
              </a:srgbClr>
            </a:outerShdw>
          </a:effectLst>
        </p:spPr>
      </p:sp>
      <p:sp>
        <p:nvSpPr>
          <p:cNvPr id="21" name="Text 19"/>
          <p:cNvSpPr/>
          <p:nvPr/>
        </p:nvSpPr>
        <p:spPr>
          <a:xfrm>
            <a:off x="841248" y="4279392"/>
            <a:ext cx="10424160" cy="310896"/>
          </a:xfrm>
          <a:prstGeom prst="rect">
            <a:avLst/>
          </a:prstGeom>
          <a:noFill/>
          <a:ln/>
        </p:spPr>
        <p:txBody>
          <a:bodyPr wrap="square" lIns="0" tIns="0" rIns="0" bIns="0" rtlCol="0" anchor="ctr"/>
          <a:lstStyle/>
          <a:p>
            <a:pPr indent="0" marL="0">
              <a:buNone/>
            </a:pPr>
            <a:r>
              <a:rPr lang="en-US" sz="1500" b="1" dirty="0">
                <a:solidFill>
                  <a:srgbClr val="8E3B32"/>
                </a:solidFill>
                <a:latin typeface="Cambria" pitchFamily="34" charset="0"/>
                <a:ea typeface="Cambria" pitchFamily="34" charset="-122"/>
                <a:cs typeface="Cambria" pitchFamily="34" charset="-120"/>
              </a:rPr>
              <a:t>Two guarantees, both enforced by code rather than by review</a:t>
            </a:r>
            <a:endParaRPr lang="en-US" sz="1500" dirty="0"/>
          </a:p>
        </p:txBody>
      </p:sp>
      <p:sp>
        <p:nvSpPr>
          <p:cNvPr id="22" name="Text 20"/>
          <p:cNvSpPr/>
          <p:nvPr/>
        </p:nvSpPr>
        <p:spPr>
          <a:xfrm>
            <a:off x="841248" y="4626864"/>
            <a:ext cx="5029200" cy="822960"/>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Leakage — a counterfactual test changes only future bookings for a stay date, rebuilds the features, and asserts nothing as-of-today moved.</a:t>
            </a:r>
            <a:endParaRPr lang="en-US" sz="1150" dirty="0"/>
          </a:p>
        </p:txBody>
      </p:sp>
      <p:sp>
        <p:nvSpPr>
          <p:cNvPr id="23" name="Text 21"/>
          <p:cNvSpPr/>
          <p:nvPr/>
        </p:nvSpPr>
        <p:spPr>
          <a:xfrm>
            <a:off x="6053328" y="4626864"/>
            <a:ext cx="5212080" cy="822960"/>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Train/serve skew — the training matrix and the serving row both call the same _add_derived_features. Two implementations of "what are the features" is how skew happens.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MODELLING</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Two models because they answer different questions</a:t>
            </a:r>
            <a:endParaRPr lang="en-US" sz="3200" dirty="0"/>
          </a:p>
        </p:txBody>
      </p:sp>
      <p:sp>
        <p:nvSpPr>
          <p:cNvPr id="4" name="Shape 2"/>
          <p:cNvSpPr/>
          <p:nvPr/>
        </p:nvSpPr>
        <p:spPr>
          <a:xfrm>
            <a:off x="566928" y="1481328"/>
            <a:ext cx="5394960" cy="2834640"/>
          </a:xfrm>
          <a:prstGeom prst="roundRect">
            <a:avLst>
              <a:gd name="adj" fmla="val 1935"/>
            </a:avLst>
          </a:prstGeom>
          <a:solidFill>
            <a:srgbClr val="FBF8F2"/>
          </a:solidFill>
          <a:ln/>
          <a:effectLst>
            <a:outerShdw sx="100000" sy="100000" kx="0" ky="0" algn="bl" rotWithShape="0" blurRad="101600" dist="508" dir="5400000">
              <a:srgbClr val="000000">
                <a:alpha val="10000"/>
              </a:srgbClr>
            </a:outerShdw>
          </a:effectLst>
        </p:spPr>
      </p:sp>
      <p:sp>
        <p:nvSpPr>
          <p:cNvPr id="5" name="Shape 3"/>
          <p:cNvSpPr/>
          <p:nvPr/>
        </p:nvSpPr>
        <p:spPr>
          <a:xfrm>
            <a:off x="566928" y="1481328"/>
            <a:ext cx="5394960" cy="621792"/>
          </a:xfrm>
          <a:prstGeom prst="roundRect">
            <a:avLst>
              <a:gd name="adj" fmla="val 11765"/>
            </a:avLst>
          </a:prstGeom>
          <a:solidFill>
            <a:srgbClr val="5E8272"/>
          </a:solidFill>
          <a:ln/>
        </p:spPr>
      </p:sp>
      <p:sp>
        <p:nvSpPr>
          <p:cNvPr id="6" name="Text 4"/>
          <p:cNvSpPr/>
          <p:nvPr/>
        </p:nvSpPr>
        <p:spPr>
          <a:xfrm>
            <a:off x="841248" y="1481328"/>
            <a:ext cx="2743200" cy="621792"/>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Prophet</a:t>
            </a:r>
            <a:endParaRPr lang="en-US" sz="1900" dirty="0"/>
          </a:p>
        </p:txBody>
      </p:sp>
      <p:sp>
        <p:nvSpPr>
          <p:cNvPr id="7" name="Text 5"/>
          <p:cNvSpPr/>
          <p:nvPr/>
        </p:nvSpPr>
        <p:spPr>
          <a:xfrm>
            <a:off x="3493008" y="1481328"/>
            <a:ext cx="2194560" cy="621792"/>
          </a:xfrm>
          <a:prstGeom prst="rect">
            <a:avLst/>
          </a:prstGeom>
          <a:noFill/>
          <a:ln/>
        </p:spPr>
        <p:txBody>
          <a:bodyPr wrap="square" lIns="0" tIns="0" rIns="0" bIns="0" rtlCol="0" anchor="ctr"/>
          <a:lstStyle/>
          <a:p>
            <a:pPr algn="r" indent="0" marL="0">
              <a:buNone/>
            </a:pPr>
            <a:r>
              <a:rPr lang="en-US" sz="1150" dirty="0">
                <a:solidFill>
                  <a:srgbClr val="FFFFFF"/>
                </a:solidFill>
                <a:latin typeface="Calibri" pitchFamily="34" charset="0"/>
                <a:ea typeface="Calibri" pitchFamily="34" charset="-122"/>
                <a:cs typeface="Calibri" pitchFamily="34" charset="-120"/>
              </a:rPr>
              <a:t>Calendar structure</a:t>
            </a:r>
            <a:endParaRPr lang="en-US" sz="1150" dirty="0"/>
          </a:p>
        </p:txBody>
      </p:sp>
      <p:sp>
        <p:nvSpPr>
          <p:cNvPr id="8" name="Text 6"/>
          <p:cNvSpPr/>
          <p:nvPr/>
        </p:nvSpPr>
        <p:spPr>
          <a:xfrm>
            <a:off x="841248" y="2286000"/>
            <a:ext cx="4846320" cy="18288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Weekly shape, trend and holiday effects per (hotel, room type) — 32 series fitted</a:t>
            </a:r>
            <a:endParaRPr lang="en-US" sz="1200" dirty="0"/>
          </a:p>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Produces an 80% uncertainty interval, which becomes the confidence score</a:t>
            </a:r>
            <a:endParaRPr lang="en-US" sz="1200" dirty="0"/>
          </a:p>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Knows nothing about today: no occupancy, no competitor rates</a:t>
            </a:r>
            <a:endParaRPr lang="en-US" sz="1200" dirty="0"/>
          </a:p>
        </p:txBody>
      </p:sp>
      <p:sp>
        <p:nvSpPr>
          <p:cNvPr id="9" name="Shape 7"/>
          <p:cNvSpPr/>
          <p:nvPr/>
        </p:nvSpPr>
        <p:spPr>
          <a:xfrm>
            <a:off x="6236208" y="1481328"/>
            <a:ext cx="5394960" cy="2834640"/>
          </a:xfrm>
          <a:prstGeom prst="roundRect">
            <a:avLst>
              <a:gd name="adj" fmla="val 1935"/>
            </a:avLst>
          </a:prstGeom>
          <a:solidFill>
            <a:srgbClr val="FBF8F2"/>
          </a:solidFill>
          <a:ln/>
          <a:effectLst>
            <a:outerShdw sx="100000" sy="100000" kx="0" ky="0" algn="bl" rotWithShape="0" blurRad="101600" dist="508" dir="5400000">
              <a:srgbClr val="000000">
                <a:alpha val="10000"/>
              </a:srgbClr>
            </a:outerShdw>
          </a:effectLst>
        </p:spPr>
      </p:sp>
      <p:sp>
        <p:nvSpPr>
          <p:cNvPr id="10" name="Shape 8"/>
          <p:cNvSpPr/>
          <p:nvPr/>
        </p:nvSpPr>
        <p:spPr>
          <a:xfrm>
            <a:off x="6236208" y="1481328"/>
            <a:ext cx="5394960" cy="621792"/>
          </a:xfrm>
          <a:prstGeom prst="roundRect">
            <a:avLst>
              <a:gd name="adj" fmla="val 11765"/>
            </a:avLst>
          </a:prstGeom>
          <a:solidFill>
            <a:srgbClr val="B85042"/>
          </a:solidFill>
          <a:ln/>
        </p:spPr>
      </p:sp>
      <p:sp>
        <p:nvSpPr>
          <p:cNvPr id="11" name="Text 9"/>
          <p:cNvSpPr/>
          <p:nvPr/>
        </p:nvSpPr>
        <p:spPr>
          <a:xfrm>
            <a:off x="6510528" y="1481328"/>
            <a:ext cx="2743200" cy="621792"/>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Gradient Boosting</a:t>
            </a:r>
            <a:endParaRPr lang="en-US" sz="1900" dirty="0"/>
          </a:p>
        </p:txBody>
      </p:sp>
      <p:sp>
        <p:nvSpPr>
          <p:cNvPr id="12" name="Text 10"/>
          <p:cNvSpPr/>
          <p:nvPr/>
        </p:nvSpPr>
        <p:spPr>
          <a:xfrm>
            <a:off x="9162288" y="1481328"/>
            <a:ext cx="2194560" cy="621792"/>
          </a:xfrm>
          <a:prstGeom prst="rect">
            <a:avLst/>
          </a:prstGeom>
          <a:noFill/>
          <a:ln/>
        </p:spPr>
        <p:txBody>
          <a:bodyPr wrap="square" lIns="0" tIns="0" rIns="0" bIns="0" rtlCol="0" anchor="ctr"/>
          <a:lstStyle/>
          <a:p>
            <a:pPr algn="r" indent="0" marL="0">
              <a:buNone/>
            </a:pPr>
            <a:r>
              <a:rPr lang="en-US" sz="1150" dirty="0">
                <a:solidFill>
                  <a:srgbClr val="FFFFFF"/>
                </a:solidFill>
                <a:latin typeface="Calibri" pitchFamily="34" charset="0"/>
                <a:ea typeface="Calibri" pitchFamily="34" charset="-122"/>
                <a:cs typeface="Calibri" pitchFamily="34" charset="-120"/>
              </a:rPr>
              <a:t>The current situation</a:t>
            </a:r>
            <a:endParaRPr lang="en-US" sz="1150" dirty="0"/>
          </a:p>
        </p:txBody>
      </p:sp>
      <p:sp>
        <p:nvSpPr>
          <p:cNvPr id="13" name="Text 11"/>
          <p:cNvSpPr/>
          <p:nvPr/>
        </p:nvSpPr>
        <p:spPr>
          <a:xfrm>
            <a:off x="6510528" y="2286000"/>
            <a:ext cx="4846320" cy="18288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30 features: on-the-books occupancy, lead time, market position, events</a:t>
            </a:r>
            <a:endParaRPr lang="en-US" sz="1200" dirty="0"/>
          </a:p>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247 trees selected by early stopping on the holdout</a:t>
            </a:r>
            <a:endParaRPr lang="en-US" sz="1200" dirty="0"/>
          </a:p>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Has no notion of a seasonal cycle — only of the state right now</a:t>
            </a:r>
            <a:endParaRPr lang="en-US" sz="1200" dirty="0"/>
          </a:p>
        </p:txBody>
      </p:sp>
      <p:sp>
        <p:nvSpPr>
          <p:cNvPr id="14" name="Shape 12"/>
          <p:cNvSpPr/>
          <p:nvPr/>
        </p:nvSpPr>
        <p:spPr>
          <a:xfrm>
            <a:off x="566928" y="4572000"/>
            <a:ext cx="11055096" cy="1188720"/>
          </a:xfrm>
          <a:prstGeom prst="roundRect">
            <a:avLst>
              <a:gd name="adj" fmla="val 4615"/>
            </a:avLst>
          </a:prstGeom>
          <a:solidFill>
            <a:srgbClr val="EFEAD8"/>
          </a:solidFill>
          <a:ln/>
          <a:effectLst>
            <a:outerShdw sx="100000" sy="100000" kx="0" ky="0" algn="bl" rotWithShape="0" blurRad="101600" dist="508" dir="5400000">
              <a:srgbClr val="000000">
                <a:alpha val="10000"/>
              </a:srgbClr>
            </a:outerShdw>
          </a:effectLst>
        </p:spPr>
      </p:sp>
      <p:sp>
        <p:nvSpPr>
          <p:cNvPr id="15" name="Text 13"/>
          <p:cNvSpPr/>
          <p:nvPr/>
        </p:nvSpPr>
        <p:spPr>
          <a:xfrm>
            <a:off x="841248" y="4718304"/>
            <a:ext cx="4937760" cy="292608"/>
          </a:xfrm>
          <a:prstGeom prst="rect">
            <a:avLst/>
          </a:prstGeom>
          <a:noFill/>
          <a:ln/>
        </p:spPr>
        <p:txBody>
          <a:bodyPr wrap="square" lIns="0" tIns="0" rIns="0" bIns="0" rtlCol="0" anchor="ctr"/>
          <a:lstStyle/>
          <a:p>
            <a:pPr indent="0" marL="0">
              <a:buNone/>
            </a:pPr>
            <a:r>
              <a:rPr lang="en-US" sz="1500" b="1" dirty="0">
                <a:solidFill>
                  <a:srgbClr val="8E3B32"/>
                </a:solidFill>
                <a:latin typeface="Cambria" pitchFamily="34" charset="0"/>
                <a:ea typeface="Cambria" pitchFamily="34" charset="-122"/>
                <a:cs typeface="Cambria" pitchFamily="34" charset="-120"/>
              </a:rPr>
              <a:t>Blended, then scaled by confidence</a:t>
            </a:r>
            <a:endParaRPr lang="en-US" sz="1500" dirty="0"/>
          </a:p>
        </p:txBody>
      </p:sp>
      <p:sp>
        <p:nvSpPr>
          <p:cNvPr id="16" name="Text 14"/>
          <p:cNvSpPr/>
          <p:nvPr/>
        </p:nvSpPr>
        <p:spPr>
          <a:xfrm>
            <a:off x="841248" y="5029200"/>
            <a:ext cx="10424160" cy="65836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Both are scored on the same chronological holdout — never Prophet's internal backtest — because otherwise the blend weight between them has no basis. The blended demand is then scaled by model confidence with a floor of 0.5, so an unsure model degrades towards the base rate instead of making a confident mistake.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Every metric is quoted against predict-the-mean</a:t>
            </a:r>
            <a:endParaRPr lang="en-US" sz="3200" dirty="0"/>
          </a:p>
        </p:txBody>
      </p:sp>
      <p:graphicFrame>
        <p:nvGraphicFramePr>
          <p:cNvPr id="4" name="Chart 0" descr=""/>
          <p:cNvGraphicFramePr/>
          <p:nvPr/>
        </p:nvGraphicFramePr>
        <p:xfrm>
          <a:off x="566928" y="1554480"/>
          <a:ext cx="594360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6928" y="4773168"/>
            <a:ext cx="5943600" cy="274320"/>
          </a:xfrm>
          <a:prstGeom prst="rect">
            <a:avLst/>
          </a:prstGeom>
          <a:noFill/>
          <a:ln/>
        </p:spPr>
        <p:txBody>
          <a:bodyPr wrap="square" lIns="0" tIns="0" rIns="0" bIns="0" rtlCol="0" anchor="ctr"/>
          <a:lstStyle/>
          <a:p>
            <a:pPr algn="ctr" indent="0" marL="0">
              <a:buNone/>
            </a:pPr>
            <a:r>
              <a:rPr lang="en-US" sz="1050" i="1" dirty="0">
                <a:solidFill>
                  <a:srgbClr val="776A5F"/>
                </a:solidFill>
                <a:latin typeface="Calibri" pitchFamily="34" charset="0"/>
                <a:ea typeface="Calibri" pitchFamily="34" charset="-122"/>
                <a:cs typeface="Calibri" pitchFamily="34" charset="-120"/>
              </a:rPr>
              <a:t>Mean absolute error on the holdout — lower is better</a:t>
            </a:r>
            <a:endParaRPr lang="en-US" sz="1050" dirty="0"/>
          </a:p>
        </p:txBody>
      </p:sp>
      <p:sp>
        <p:nvSpPr>
          <p:cNvPr id="6" name="Shape 3"/>
          <p:cNvSpPr/>
          <p:nvPr/>
        </p:nvSpPr>
        <p:spPr>
          <a:xfrm>
            <a:off x="6858000" y="1554480"/>
            <a:ext cx="4764024" cy="3200400"/>
          </a:xfrm>
          <a:prstGeom prst="roundRect">
            <a:avLst>
              <a:gd name="adj" fmla="val 1714"/>
            </a:avLst>
          </a:prstGeom>
          <a:solidFill>
            <a:srgbClr val="FBF8F2"/>
          </a:solidFill>
          <a:ln/>
          <a:effectLst>
            <a:outerShdw sx="100000" sy="100000" kx="0" ky="0" algn="bl" rotWithShape="0" blurRad="101600" dist="508" dir="5400000">
              <a:srgbClr val="000000">
                <a:alpha val="10000"/>
              </a:srgbClr>
            </a:outerShdw>
          </a:effectLst>
        </p:spPr>
      </p:sp>
      <p:sp>
        <p:nvSpPr>
          <p:cNvPr id="7" name="Text 4"/>
          <p:cNvSpPr/>
          <p:nvPr/>
        </p:nvSpPr>
        <p:spPr>
          <a:xfrm>
            <a:off x="7132320" y="1737360"/>
            <a:ext cx="4206240" cy="292608"/>
          </a:xfrm>
          <a:prstGeom prst="rect">
            <a:avLst/>
          </a:prstGeom>
          <a:noFill/>
          <a:ln/>
        </p:spPr>
        <p:txBody>
          <a:bodyPr wrap="square" lIns="0" tIns="0" rIns="0" bIns="0" rtlCol="0" anchor="ctr"/>
          <a:lstStyle/>
          <a:p>
            <a:pPr indent="0" marL="0">
              <a:buNone/>
            </a:pPr>
            <a:r>
              <a:rPr lang="en-US" sz="1500" b="1" dirty="0">
                <a:solidFill>
                  <a:srgbClr val="2B2118"/>
                </a:solidFill>
                <a:latin typeface="Cambria" pitchFamily="34" charset="0"/>
                <a:ea typeface="Cambria" pitchFamily="34" charset="-122"/>
                <a:cs typeface="Cambria" pitchFamily="34" charset="-120"/>
              </a:rPr>
              <a:t>The holdout</a:t>
            </a:r>
            <a:endParaRPr lang="en-US" sz="1500" dirty="0"/>
          </a:p>
        </p:txBody>
      </p:sp>
      <p:sp>
        <p:nvSpPr>
          <p:cNvPr id="8" name="Text 5"/>
          <p:cNvSpPr/>
          <p:nvPr/>
        </p:nvSpPr>
        <p:spPr>
          <a:xfrm>
            <a:off x="7132320" y="2157984"/>
            <a:ext cx="1188720" cy="365760"/>
          </a:xfrm>
          <a:prstGeom prst="rect">
            <a:avLst/>
          </a:prstGeom>
          <a:noFill/>
          <a:ln/>
        </p:spPr>
        <p:txBody>
          <a:bodyPr wrap="square" lIns="0" tIns="0" rIns="0" bIns="0" rtlCol="0" anchor="ctr"/>
          <a:lstStyle/>
          <a:p>
            <a:pPr indent="0" marL="0">
              <a:buNone/>
            </a:pPr>
            <a:r>
              <a:rPr lang="en-US" sz="1100" b="1" dirty="0">
                <a:solidFill>
                  <a:srgbClr val="8E3B32"/>
                </a:solidFill>
                <a:latin typeface="Calibri" pitchFamily="34" charset="0"/>
                <a:ea typeface="Calibri" pitchFamily="34" charset="-122"/>
                <a:cs typeface="Calibri" pitchFamily="34" charset="-120"/>
              </a:rPr>
              <a:t>Split</a:t>
            </a:r>
            <a:endParaRPr lang="en-US" sz="1100" dirty="0"/>
          </a:p>
        </p:txBody>
      </p:sp>
      <p:sp>
        <p:nvSpPr>
          <p:cNvPr id="9" name="Text 6"/>
          <p:cNvSpPr/>
          <p:nvPr/>
        </p:nvSpPr>
        <p:spPr>
          <a:xfrm>
            <a:off x="8357616" y="2157984"/>
            <a:ext cx="3017520" cy="365760"/>
          </a:xfrm>
          <a:prstGeom prst="rect">
            <a:avLst/>
          </a:prstGeom>
          <a:noFill/>
          <a:ln/>
        </p:spPr>
        <p:txBody>
          <a:bodyPr wrap="square" lIns="0" tIns="0" rIns="0" bIns="0" rtlCol="0" anchor="ctr"/>
          <a:lstStyle/>
          <a:p>
            <a:pPr indent="0" marL="0">
              <a:buNone/>
            </a:pPr>
            <a:r>
              <a:rPr lang="en-US" sz="1100" dirty="0">
                <a:solidFill>
                  <a:srgbClr val="2B2118"/>
                </a:solidFill>
                <a:latin typeface="Calibri" pitchFamily="34" charset="0"/>
                <a:ea typeface="Calibri" pitchFamily="34" charset="-122"/>
                <a:cs typeface="Calibri" pitchFamily="34" charset="-120"/>
              </a:rPr>
              <a:t>Chronological — never shuffled</a:t>
            </a:r>
            <a:endParaRPr lang="en-US" sz="1100" dirty="0"/>
          </a:p>
        </p:txBody>
      </p:sp>
      <p:sp>
        <p:nvSpPr>
          <p:cNvPr id="10" name="Text 7"/>
          <p:cNvSpPr/>
          <p:nvPr/>
        </p:nvSpPr>
        <p:spPr>
          <a:xfrm>
            <a:off x="7132320" y="2642616"/>
            <a:ext cx="1188720" cy="365760"/>
          </a:xfrm>
          <a:prstGeom prst="rect">
            <a:avLst/>
          </a:prstGeom>
          <a:noFill/>
          <a:ln/>
        </p:spPr>
        <p:txBody>
          <a:bodyPr wrap="square" lIns="0" tIns="0" rIns="0" bIns="0" rtlCol="0" anchor="ctr"/>
          <a:lstStyle/>
          <a:p>
            <a:pPr indent="0" marL="0">
              <a:buNone/>
            </a:pPr>
            <a:r>
              <a:rPr lang="en-US" sz="1100" b="1" dirty="0">
                <a:solidFill>
                  <a:srgbClr val="8E3B32"/>
                </a:solidFill>
                <a:latin typeface="Calibri" pitchFamily="34" charset="0"/>
                <a:ea typeface="Calibri" pitchFamily="34" charset="-122"/>
                <a:cs typeface="Calibri" pitchFamily="34" charset="-120"/>
              </a:rPr>
              <a:t>Train</a:t>
            </a:r>
            <a:endParaRPr lang="en-US" sz="1100" dirty="0"/>
          </a:p>
        </p:txBody>
      </p:sp>
      <p:sp>
        <p:nvSpPr>
          <p:cNvPr id="11" name="Text 8"/>
          <p:cNvSpPr/>
          <p:nvPr/>
        </p:nvSpPr>
        <p:spPr>
          <a:xfrm>
            <a:off x="8357616" y="2642616"/>
            <a:ext cx="3017520" cy="365760"/>
          </a:xfrm>
          <a:prstGeom prst="rect">
            <a:avLst/>
          </a:prstGeom>
          <a:noFill/>
          <a:ln/>
        </p:spPr>
        <p:txBody>
          <a:bodyPr wrap="square" lIns="0" tIns="0" rIns="0" bIns="0" rtlCol="0" anchor="ctr"/>
          <a:lstStyle/>
          <a:p>
            <a:pPr indent="0" marL="0">
              <a:buNone/>
            </a:pPr>
            <a:r>
              <a:rPr lang="en-US" sz="1100" dirty="0">
                <a:solidFill>
                  <a:srgbClr val="2B2118"/>
                </a:solidFill>
                <a:latin typeface="Calibri" pitchFamily="34" charset="0"/>
                <a:ea typeface="Calibri" pitchFamily="34" charset="-122"/>
                <a:cs typeface="Calibri" pitchFamily="34" charset="-120"/>
              </a:rPr>
              <a:t>9,728 rows to 24 Jun 2026</a:t>
            </a:r>
            <a:endParaRPr lang="en-US" sz="1100" dirty="0"/>
          </a:p>
        </p:txBody>
      </p:sp>
      <p:sp>
        <p:nvSpPr>
          <p:cNvPr id="12" name="Text 9"/>
          <p:cNvSpPr/>
          <p:nvPr/>
        </p:nvSpPr>
        <p:spPr>
          <a:xfrm>
            <a:off x="7132320" y="3127248"/>
            <a:ext cx="1188720" cy="365760"/>
          </a:xfrm>
          <a:prstGeom prst="rect">
            <a:avLst/>
          </a:prstGeom>
          <a:noFill/>
          <a:ln/>
        </p:spPr>
        <p:txBody>
          <a:bodyPr wrap="square" lIns="0" tIns="0" rIns="0" bIns="0" rtlCol="0" anchor="ctr"/>
          <a:lstStyle/>
          <a:p>
            <a:pPr indent="0" marL="0">
              <a:buNone/>
            </a:pPr>
            <a:r>
              <a:rPr lang="en-US" sz="1100" b="1" dirty="0">
                <a:solidFill>
                  <a:srgbClr val="8E3B32"/>
                </a:solidFill>
                <a:latin typeface="Calibri" pitchFamily="34" charset="0"/>
                <a:ea typeface="Calibri" pitchFamily="34" charset="-122"/>
                <a:cs typeface="Calibri" pitchFamily="34" charset="-120"/>
              </a:rPr>
              <a:t>Test</a:t>
            </a:r>
            <a:endParaRPr lang="en-US" sz="1100" dirty="0"/>
          </a:p>
        </p:txBody>
      </p:sp>
      <p:sp>
        <p:nvSpPr>
          <p:cNvPr id="13" name="Text 10"/>
          <p:cNvSpPr/>
          <p:nvPr/>
        </p:nvSpPr>
        <p:spPr>
          <a:xfrm>
            <a:off x="8357616" y="3127248"/>
            <a:ext cx="3017520" cy="365760"/>
          </a:xfrm>
          <a:prstGeom prst="rect">
            <a:avLst/>
          </a:prstGeom>
          <a:noFill/>
          <a:ln/>
        </p:spPr>
        <p:txBody>
          <a:bodyPr wrap="square" lIns="0" tIns="0" rIns="0" bIns="0" rtlCol="0" anchor="ctr"/>
          <a:lstStyle/>
          <a:p>
            <a:pPr indent="0" marL="0">
              <a:buNone/>
            </a:pPr>
            <a:r>
              <a:rPr lang="en-US" sz="1100" dirty="0">
                <a:solidFill>
                  <a:srgbClr val="2B2118"/>
                </a:solidFill>
                <a:latin typeface="Calibri" pitchFamily="34" charset="0"/>
                <a:ea typeface="Calibri" pitchFamily="34" charset="-122"/>
                <a:cs typeface="Calibri" pitchFamily="34" charset="-120"/>
              </a:rPr>
              <a:t>1,920 rows, the following 60 days</a:t>
            </a:r>
            <a:endParaRPr lang="en-US" sz="1100" dirty="0"/>
          </a:p>
        </p:txBody>
      </p:sp>
      <p:sp>
        <p:nvSpPr>
          <p:cNvPr id="14" name="Text 11"/>
          <p:cNvSpPr/>
          <p:nvPr/>
        </p:nvSpPr>
        <p:spPr>
          <a:xfrm>
            <a:off x="7132320" y="3611880"/>
            <a:ext cx="1188720" cy="365760"/>
          </a:xfrm>
          <a:prstGeom prst="rect">
            <a:avLst/>
          </a:prstGeom>
          <a:noFill/>
          <a:ln/>
        </p:spPr>
        <p:txBody>
          <a:bodyPr wrap="square" lIns="0" tIns="0" rIns="0" bIns="0" rtlCol="0" anchor="ctr"/>
          <a:lstStyle/>
          <a:p>
            <a:pPr indent="0" marL="0">
              <a:buNone/>
            </a:pPr>
            <a:r>
              <a:rPr lang="en-US" sz="1100" b="1" dirty="0">
                <a:solidFill>
                  <a:srgbClr val="8E3B32"/>
                </a:solidFill>
                <a:latin typeface="Calibri" pitchFamily="34" charset="0"/>
                <a:ea typeface="Calibri" pitchFamily="34" charset="-122"/>
                <a:cs typeface="Calibri" pitchFamily="34" charset="-120"/>
              </a:rPr>
              <a:t>R² (GBR)</a:t>
            </a:r>
            <a:endParaRPr lang="en-US" sz="1100" dirty="0"/>
          </a:p>
        </p:txBody>
      </p:sp>
      <p:sp>
        <p:nvSpPr>
          <p:cNvPr id="15" name="Text 12"/>
          <p:cNvSpPr/>
          <p:nvPr/>
        </p:nvSpPr>
        <p:spPr>
          <a:xfrm>
            <a:off x="8357616" y="3611880"/>
            <a:ext cx="3017520" cy="365760"/>
          </a:xfrm>
          <a:prstGeom prst="rect">
            <a:avLst/>
          </a:prstGeom>
          <a:noFill/>
          <a:ln/>
        </p:spPr>
        <p:txBody>
          <a:bodyPr wrap="square" lIns="0" tIns="0" rIns="0" bIns="0" rtlCol="0" anchor="ctr"/>
          <a:lstStyle/>
          <a:p>
            <a:pPr indent="0" marL="0">
              <a:buNone/>
            </a:pPr>
            <a:r>
              <a:rPr lang="en-US" sz="1100" dirty="0">
                <a:solidFill>
                  <a:srgbClr val="2B2118"/>
                </a:solidFill>
                <a:latin typeface="Calibri" pitchFamily="34" charset="0"/>
                <a:ea typeface="Calibri" pitchFamily="34" charset="-122"/>
                <a:cs typeface="Calibri" pitchFamily="34" charset="-120"/>
              </a:rPr>
              <a:t>0.765, against a baseline of 0.000</a:t>
            </a:r>
            <a:endParaRPr lang="en-US" sz="1100" dirty="0"/>
          </a:p>
        </p:txBody>
      </p:sp>
      <p:sp>
        <p:nvSpPr>
          <p:cNvPr id="16" name="Text 13"/>
          <p:cNvSpPr/>
          <p:nvPr/>
        </p:nvSpPr>
        <p:spPr>
          <a:xfrm>
            <a:off x="7132320" y="4096512"/>
            <a:ext cx="1188720" cy="365760"/>
          </a:xfrm>
          <a:prstGeom prst="rect">
            <a:avLst/>
          </a:prstGeom>
          <a:noFill/>
          <a:ln/>
        </p:spPr>
        <p:txBody>
          <a:bodyPr wrap="square" lIns="0" tIns="0" rIns="0" bIns="0" rtlCol="0" anchor="ctr"/>
          <a:lstStyle/>
          <a:p>
            <a:pPr indent="0" marL="0">
              <a:buNone/>
            </a:pPr>
            <a:r>
              <a:rPr lang="en-US" sz="1100" b="1" dirty="0">
                <a:solidFill>
                  <a:srgbClr val="8E3B32"/>
                </a:solidFill>
                <a:latin typeface="Calibri" pitchFamily="34" charset="0"/>
                <a:ea typeface="Calibri" pitchFamily="34" charset="-122"/>
                <a:cs typeface="Calibri" pitchFamily="34" charset="-120"/>
              </a:rPr>
              <a:t>Interval</a:t>
            </a:r>
            <a:endParaRPr lang="en-US" sz="1100" dirty="0"/>
          </a:p>
        </p:txBody>
      </p:sp>
      <p:sp>
        <p:nvSpPr>
          <p:cNvPr id="17" name="Text 14"/>
          <p:cNvSpPr/>
          <p:nvPr/>
        </p:nvSpPr>
        <p:spPr>
          <a:xfrm>
            <a:off x="8357616" y="4096512"/>
            <a:ext cx="3017520" cy="365760"/>
          </a:xfrm>
          <a:prstGeom prst="rect">
            <a:avLst/>
          </a:prstGeom>
          <a:noFill/>
          <a:ln/>
        </p:spPr>
        <p:txBody>
          <a:bodyPr wrap="square" lIns="0" tIns="0" rIns="0" bIns="0" rtlCol="0" anchor="ctr"/>
          <a:lstStyle/>
          <a:p>
            <a:pPr indent="0" marL="0">
              <a:buNone/>
            </a:pPr>
            <a:r>
              <a:rPr lang="en-US" sz="1100" dirty="0">
                <a:solidFill>
                  <a:srgbClr val="2B2118"/>
                </a:solidFill>
                <a:latin typeface="Calibri" pitchFamily="34" charset="0"/>
                <a:ea typeface="Calibri" pitchFamily="34" charset="-122"/>
                <a:cs typeface="Calibri" pitchFamily="34" charset="-120"/>
              </a:rPr>
              <a:t>Prophet's 80% band covers 78%</a:t>
            </a:r>
            <a:endParaRPr lang="en-US" sz="1100" dirty="0"/>
          </a:p>
        </p:txBody>
      </p:sp>
      <p:sp>
        <p:nvSpPr>
          <p:cNvPr id="18" name="Text 15"/>
          <p:cNvSpPr/>
          <p:nvPr/>
        </p:nvSpPr>
        <p:spPr>
          <a:xfrm>
            <a:off x="7132320" y="4974336"/>
            <a:ext cx="2194560" cy="457200"/>
          </a:xfrm>
          <a:prstGeom prst="rect">
            <a:avLst/>
          </a:prstGeom>
          <a:noFill/>
          <a:ln/>
        </p:spPr>
        <p:txBody>
          <a:bodyPr wrap="square" lIns="0" tIns="0" rIns="0" bIns="0" rtlCol="0" anchor="ctr"/>
          <a:lstStyle/>
          <a:p>
            <a:pPr indent="0" marL="0">
              <a:buNone/>
            </a:pPr>
            <a:r>
              <a:rPr lang="en-US" sz="2600" b="1" dirty="0">
                <a:solidFill>
                  <a:srgbClr val="B85042"/>
                </a:solidFill>
                <a:latin typeface="Cambria" pitchFamily="34" charset="0"/>
                <a:ea typeface="Cambria" pitchFamily="34" charset="-122"/>
                <a:cs typeface="Cambria" pitchFamily="34" charset="-120"/>
              </a:rPr>
              <a:t>55% better</a:t>
            </a:r>
            <a:endParaRPr lang="en-US" sz="2600" dirty="0"/>
          </a:p>
        </p:txBody>
      </p:sp>
      <p:sp>
        <p:nvSpPr>
          <p:cNvPr id="19" name="Text 16"/>
          <p:cNvSpPr/>
          <p:nvPr/>
        </p:nvSpPr>
        <p:spPr>
          <a:xfrm>
            <a:off x="9326880" y="4956048"/>
            <a:ext cx="2286000" cy="713232"/>
          </a:xfrm>
          <a:prstGeom prst="rect">
            <a:avLst/>
          </a:prstGeom>
          <a:noFill/>
          <a:ln/>
        </p:spPr>
        <p:txBody>
          <a:bodyPr wrap="square" lIns="0" tIns="0" rIns="0" bIns="0" rtlCol="0" anchor="ctr"/>
          <a:lstStyle/>
          <a:p>
            <a:pPr indent="0" marL="0">
              <a:buNone/>
            </a:pPr>
            <a:r>
              <a:rPr lang="en-US" sz="1050" dirty="0">
                <a:solidFill>
                  <a:srgbClr val="776A5F"/>
                </a:solidFill>
                <a:latin typeface="Calibri" pitchFamily="34" charset="0"/>
                <a:ea typeface="Calibri" pitchFamily="34" charset="-122"/>
                <a:cs typeface="Calibri" pitchFamily="34" charset="-120"/>
              </a:rPr>
              <a:t>than predicting the mean —</a:t>
            </a:r>
            <a:endParaRPr lang="en-US" sz="1050" dirty="0"/>
          </a:p>
          <a:p>
            <a:pPr indent="0" marL="0">
              <a:buNone/>
            </a:pPr>
            <a:r>
              <a:rPr lang="en-US" sz="1050" dirty="0">
                <a:solidFill>
                  <a:srgbClr val="776A5F"/>
                </a:solidFill>
                <a:latin typeface="Calibri" pitchFamily="34" charset="0"/>
                <a:ea typeface="Calibri" pitchFamily="34" charset="-122"/>
                <a:cs typeface="Calibri" pitchFamily="34" charset="-120"/>
              </a:rPr>
              <a:t>the only comparison that means anything</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The error curve has the shape it should have</a:t>
            </a:r>
            <a:endParaRPr lang="en-US" sz="3200" dirty="0"/>
          </a:p>
        </p:txBody>
      </p:sp>
      <p:graphicFrame>
        <p:nvGraphicFramePr>
          <p:cNvPr id="4" name="Chart 0" descr=""/>
          <p:cNvGraphicFramePr/>
          <p:nvPr/>
        </p:nvGraphicFramePr>
        <p:xfrm>
          <a:off x="566928" y="1572768"/>
          <a:ext cx="694944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6928" y="4974336"/>
            <a:ext cx="6949440" cy="274320"/>
          </a:xfrm>
          <a:prstGeom prst="rect">
            <a:avLst/>
          </a:prstGeom>
          <a:noFill/>
          <a:ln/>
        </p:spPr>
        <p:txBody>
          <a:bodyPr wrap="square" lIns="0" tIns="0" rIns="0" bIns="0" rtlCol="0" anchor="ctr"/>
          <a:lstStyle/>
          <a:p>
            <a:pPr algn="ctr" indent="0" marL="0">
              <a:buNone/>
            </a:pPr>
            <a:r>
              <a:rPr lang="en-US" sz="1050" i="1" dirty="0">
                <a:solidFill>
                  <a:srgbClr val="776A5F"/>
                </a:solidFill>
                <a:latin typeface="Calibri" pitchFamily="34" charset="0"/>
                <a:ea typeface="Calibri" pitchFamily="34" charset="-122"/>
                <a:cs typeface="Calibri" pitchFamily="34" charset="-120"/>
              </a:rPr>
              <a:t>MAE by days to check-in</a:t>
            </a:r>
            <a:endParaRPr lang="en-US" sz="1050" dirty="0"/>
          </a:p>
        </p:txBody>
      </p:sp>
      <p:sp>
        <p:nvSpPr>
          <p:cNvPr id="6" name="Text 3"/>
          <p:cNvSpPr/>
          <p:nvPr/>
        </p:nvSpPr>
        <p:spPr>
          <a:xfrm>
            <a:off x="7772400" y="1737360"/>
            <a:ext cx="3840480" cy="237744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Most accurate near check-in (MAE 0.045 at 0 days, R² 0.884) because the booking curve has already resolved most of the answer.</a:t>
            </a:r>
            <a:endParaRPr lang="en-US" sz="1200" dirty="0"/>
          </a:p>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Degrades with horizon (0.081 at 60 days) — appropriate uncertainty, not a defect.</a:t>
            </a:r>
            <a:endParaRPr lang="en-US" sz="1200" dirty="0"/>
          </a:p>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The baseline is flat across horizons, which is exactly what predicting a constant should look like.</a:t>
            </a:r>
            <a:endParaRPr lang="en-US" sz="1200" dirty="0"/>
          </a:p>
        </p:txBody>
      </p:sp>
      <p:sp>
        <p:nvSpPr>
          <p:cNvPr id="7" name="Shape 4"/>
          <p:cNvSpPr/>
          <p:nvPr/>
        </p:nvSpPr>
        <p:spPr>
          <a:xfrm>
            <a:off x="7772400" y="4224528"/>
            <a:ext cx="3849624" cy="1280160"/>
          </a:xfrm>
          <a:prstGeom prst="roundRect">
            <a:avLst>
              <a:gd name="adj" fmla="val 4286"/>
            </a:avLst>
          </a:prstGeom>
          <a:solidFill>
            <a:srgbClr val="EFEAD8"/>
          </a:solidFill>
          <a:ln/>
          <a:effectLst>
            <a:outerShdw sx="100000" sy="100000" kx="0" ky="0" algn="bl" rotWithShape="0" blurRad="101600" dist="508" dir="5400000">
              <a:srgbClr val="000000">
                <a:alpha val="10000"/>
              </a:srgbClr>
            </a:outerShdw>
          </a:effectLst>
        </p:spPr>
      </p:sp>
      <p:sp>
        <p:nvSpPr>
          <p:cNvPr id="8" name="Text 5"/>
          <p:cNvSpPr/>
          <p:nvPr/>
        </p:nvSpPr>
        <p:spPr>
          <a:xfrm>
            <a:off x="8028432" y="4389120"/>
            <a:ext cx="3337560" cy="969264"/>
          </a:xfrm>
          <a:prstGeom prst="rect">
            <a:avLst/>
          </a:prstGeom>
          <a:noFill/>
          <a:ln/>
        </p:spPr>
        <p:txBody>
          <a:bodyPr wrap="square" lIns="0" tIns="0" rIns="0" bIns="0" rtlCol="0" anchor="ctr"/>
          <a:lstStyle/>
          <a:p>
            <a:pPr indent="0" marL="0">
              <a:buNone/>
            </a:pPr>
            <a:r>
              <a:rPr lang="en-US" sz="1100" dirty="0">
                <a:solidFill>
                  <a:srgbClr val="2B2118"/>
                </a:solidFill>
                <a:latin typeface="Calibri" pitchFamily="34" charset="0"/>
                <a:ea typeface="Calibri" pitchFamily="34" charset="-122"/>
                <a:cs typeface="Calibri" pitchFamily="34" charset="-120"/>
              </a:rPr>
              <a:t>A model equally accurate at every horizon would be suspicious, not impressive — it would mean lead time carried no information, which for hotel bookings cannot be true.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What the model actually learned</a:t>
            </a:r>
            <a:endParaRPr lang="en-US" sz="3200" dirty="0"/>
          </a:p>
        </p:txBody>
      </p:sp>
      <p:graphicFrame>
        <p:nvGraphicFramePr>
          <p:cNvPr id="4" name="Chart 0" descr=""/>
          <p:cNvGraphicFramePr/>
          <p:nvPr/>
        </p:nvGraphicFramePr>
        <p:xfrm>
          <a:off x="566928" y="1554480"/>
          <a:ext cx="6492240" cy="3657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406640" y="1737360"/>
            <a:ext cx="4206240" cy="256032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On-the-books occupancy first, days to check-in second, their interaction third.</a:t>
            </a:r>
            <a:endParaRPr lang="en-US" sz="1200" dirty="0"/>
          </a:p>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That is the revenue-management story the whole system was built around — and the model found it in the data rather than being told it.</a:t>
            </a:r>
            <a:endParaRPr lang="en-US" sz="1200" dirty="0"/>
          </a:p>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Permutation importance on the holdout, not scikit-learn's impurity measure, which is biased towards high-cardinality columns.</a:t>
            </a:r>
            <a:endParaRPr lang="en-US" sz="1200" dirty="0"/>
          </a:p>
        </p:txBody>
      </p:sp>
      <p:sp>
        <p:nvSpPr>
          <p:cNvPr id="6" name="Shape 3"/>
          <p:cNvSpPr/>
          <p:nvPr/>
        </p:nvSpPr>
        <p:spPr>
          <a:xfrm>
            <a:off x="7406640" y="4443984"/>
            <a:ext cx="4215384" cy="1133856"/>
          </a:xfrm>
          <a:prstGeom prst="roundRect">
            <a:avLst>
              <a:gd name="adj" fmla="val 4839"/>
            </a:avLst>
          </a:prstGeom>
          <a:solidFill>
            <a:srgbClr val="EFEAD8"/>
          </a:solidFill>
          <a:ln/>
          <a:effectLst>
            <a:outerShdw sx="100000" sy="100000" kx="0" ky="0" algn="bl" rotWithShape="0" blurRad="101600" dist="508" dir="5400000">
              <a:srgbClr val="000000">
                <a:alpha val="10000"/>
              </a:srgbClr>
            </a:outerShdw>
          </a:effectLst>
        </p:spPr>
      </p:sp>
      <p:sp>
        <p:nvSpPr>
          <p:cNvPr id="7" name="Text 4"/>
          <p:cNvSpPr/>
          <p:nvPr/>
        </p:nvSpPr>
        <p:spPr>
          <a:xfrm>
            <a:off x="7662672" y="4626864"/>
            <a:ext cx="3703320" cy="786384"/>
          </a:xfrm>
          <a:prstGeom prst="rect">
            <a:avLst/>
          </a:prstGeom>
          <a:noFill/>
          <a:ln/>
        </p:spPr>
        <p:txBody>
          <a:bodyPr wrap="square" lIns="0" tIns="0" rIns="0" bIns="0" rtlCol="0" anchor="ctr"/>
          <a:lstStyle/>
          <a:p>
            <a:pPr indent="0" marL="0">
              <a:buNone/>
            </a:pPr>
            <a:r>
              <a:rPr lang="en-US" sz="1150" i="1" dirty="0">
                <a:solidFill>
                  <a:srgbClr val="8E3B32"/>
                </a:solidFill>
                <a:latin typeface="Calibri" pitchFamily="34" charset="0"/>
                <a:ea typeface="Calibri" pitchFamily="34" charset="-122"/>
                <a:cs typeface="Calibri" pitchFamily="34" charset="-120"/>
              </a:rPr>
              <a:t>Reading this table is how I found a serious bug — see the booking-curve slide.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PRICING ENGINE</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Five clamped adjustments, scaled by confidence</a:t>
            </a:r>
            <a:endParaRPr lang="en-US" sz="3200" dirty="0"/>
          </a:p>
        </p:txBody>
      </p:sp>
      <p:sp>
        <p:nvSpPr>
          <p:cNvPr id="4" name="Shape 2"/>
          <p:cNvSpPr/>
          <p:nvPr/>
        </p:nvSpPr>
        <p:spPr>
          <a:xfrm>
            <a:off x="566928" y="1627632"/>
            <a:ext cx="2048256" cy="841248"/>
          </a:xfrm>
          <a:prstGeom prst="roundRect">
            <a:avLst>
              <a:gd name="adj" fmla="val 6522"/>
            </a:avLst>
          </a:prstGeom>
          <a:solidFill>
            <a:srgbClr val="EFEAD8"/>
          </a:solidFill>
          <a:ln/>
          <a:effectLst>
            <a:outerShdw sx="100000" sy="100000" kx="0" ky="0" algn="bl" rotWithShape="0" blurRad="101600" dist="508" dir="5400000">
              <a:srgbClr val="000000">
                <a:alpha val="10000"/>
              </a:srgbClr>
            </a:outerShdw>
          </a:effectLst>
        </p:spPr>
      </p:sp>
      <p:sp>
        <p:nvSpPr>
          <p:cNvPr id="5" name="Text 3"/>
          <p:cNvSpPr/>
          <p:nvPr/>
        </p:nvSpPr>
        <p:spPr>
          <a:xfrm>
            <a:off x="566928" y="1755648"/>
            <a:ext cx="2048256" cy="310896"/>
          </a:xfrm>
          <a:prstGeom prst="rect">
            <a:avLst/>
          </a:prstGeom>
          <a:noFill/>
          <a:ln/>
        </p:spPr>
        <p:txBody>
          <a:bodyPr wrap="square" lIns="0" tIns="0" rIns="0" bIns="0" rtlCol="0" anchor="ctr"/>
          <a:lstStyle/>
          <a:p>
            <a:pPr algn="ctr" indent="0" marL="0">
              <a:buNone/>
            </a:pPr>
            <a:r>
              <a:rPr lang="en-US" sz="1450" b="1" dirty="0">
                <a:solidFill>
                  <a:srgbClr val="2B2118"/>
                </a:solidFill>
                <a:latin typeface="Cambria" pitchFamily="34" charset="0"/>
                <a:ea typeface="Cambria" pitchFamily="34" charset="-122"/>
                <a:cs typeface="Cambria" pitchFamily="34" charset="-120"/>
              </a:rPr>
              <a:t>Demand</a:t>
            </a:r>
            <a:endParaRPr lang="en-US" sz="1450" dirty="0"/>
          </a:p>
        </p:txBody>
      </p:sp>
      <p:sp>
        <p:nvSpPr>
          <p:cNvPr id="6" name="Text 4"/>
          <p:cNvSpPr/>
          <p:nvPr/>
        </p:nvSpPr>
        <p:spPr>
          <a:xfrm>
            <a:off x="566928" y="2084832"/>
            <a:ext cx="2048256" cy="274320"/>
          </a:xfrm>
          <a:prstGeom prst="rect">
            <a:avLst/>
          </a:prstGeom>
          <a:noFill/>
          <a:ln/>
        </p:spPr>
        <p:txBody>
          <a:bodyPr wrap="square" lIns="0" tIns="0" rIns="0" bIns="0" rtlCol="0" anchor="ctr"/>
          <a:lstStyle/>
          <a:p>
            <a:pPr algn="ctr" indent="0" marL="0">
              <a:buNone/>
            </a:pPr>
            <a:r>
              <a:rPr lang="en-US" sz="1050" dirty="0">
                <a:solidFill>
                  <a:srgbClr val="8E3B32"/>
                </a:solidFill>
                <a:latin typeface="Calibri" pitchFamily="34" charset="0"/>
                <a:ea typeface="Calibri" pitchFamily="34" charset="-122"/>
                <a:cs typeface="Calibri" pitchFamily="34" charset="-120"/>
              </a:rPr>
              <a:t>clamped ±25%</a:t>
            </a:r>
            <a:endParaRPr lang="en-US" sz="1050" dirty="0"/>
          </a:p>
        </p:txBody>
      </p:sp>
      <p:sp>
        <p:nvSpPr>
          <p:cNvPr id="7" name="Shape 5"/>
          <p:cNvSpPr/>
          <p:nvPr/>
        </p:nvSpPr>
        <p:spPr>
          <a:xfrm>
            <a:off x="2798064" y="1627632"/>
            <a:ext cx="2048256" cy="841248"/>
          </a:xfrm>
          <a:prstGeom prst="roundRect">
            <a:avLst>
              <a:gd name="adj" fmla="val 6522"/>
            </a:avLst>
          </a:prstGeom>
          <a:solidFill>
            <a:srgbClr val="EFEAD8"/>
          </a:solidFill>
          <a:ln/>
          <a:effectLst>
            <a:outerShdw sx="100000" sy="100000" kx="0" ky="0" algn="bl" rotWithShape="0" blurRad="101600" dist="508" dir="5400000">
              <a:srgbClr val="000000">
                <a:alpha val="10000"/>
              </a:srgbClr>
            </a:outerShdw>
          </a:effectLst>
        </p:spPr>
      </p:sp>
      <p:sp>
        <p:nvSpPr>
          <p:cNvPr id="8" name="Text 6"/>
          <p:cNvSpPr/>
          <p:nvPr/>
        </p:nvSpPr>
        <p:spPr>
          <a:xfrm>
            <a:off x="2798064" y="1755648"/>
            <a:ext cx="2048256" cy="310896"/>
          </a:xfrm>
          <a:prstGeom prst="rect">
            <a:avLst/>
          </a:prstGeom>
          <a:noFill/>
          <a:ln/>
        </p:spPr>
        <p:txBody>
          <a:bodyPr wrap="square" lIns="0" tIns="0" rIns="0" bIns="0" rtlCol="0" anchor="ctr"/>
          <a:lstStyle/>
          <a:p>
            <a:pPr algn="ctr" indent="0" marL="0">
              <a:buNone/>
            </a:pPr>
            <a:r>
              <a:rPr lang="en-US" sz="1450" b="1" dirty="0">
                <a:solidFill>
                  <a:srgbClr val="2B2118"/>
                </a:solidFill>
                <a:latin typeface="Cambria" pitchFamily="34" charset="0"/>
                <a:ea typeface="Cambria" pitchFamily="34" charset="-122"/>
                <a:cs typeface="Cambria" pitchFamily="34" charset="-120"/>
              </a:rPr>
              <a:t>Occupancy</a:t>
            </a:r>
            <a:endParaRPr lang="en-US" sz="1450" dirty="0"/>
          </a:p>
        </p:txBody>
      </p:sp>
      <p:sp>
        <p:nvSpPr>
          <p:cNvPr id="9" name="Text 7"/>
          <p:cNvSpPr/>
          <p:nvPr/>
        </p:nvSpPr>
        <p:spPr>
          <a:xfrm>
            <a:off x="2798064" y="2084832"/>
            <a:ext cx="2048256" cy="274320"/>
          </a:xfrm>
          <a:prstGeom prst="rect">
            <a:avLst/>
          </a:prstGeom>
          <a:noFill/>
          <a:ln/>
        </p:spPr>
        <p:txBody>
          <a:bodyPr wrap="square" lIns="0" tIns="0" rIns="0" bIns="0" rtlCol="0" anchor="ctr"/>
          <a:lstStyle/>
          <a:p>
            <a:pPr algn="ctr" indent="0" marL="0">
              <a:buNone/>
            </a:pPr>
            <a:r>
              <a:rPr lang="en-US" sz="1050" dirty="0">
                <a:solidFill>
                  <a:srgbClr val="8E3B32"/>
                </a:solidFill>
                <a:latin typeface="Calibri" pitchFamily="34" charset="0"/>
                <a:ea typeface="Calibri" pitchFamily="34" charset="-122"/>
                <a:cs typeface="Calibri" pitchFamily="34" charset="-120"/>
              </a:rPr>
              <a:t>clamped ±20%</a:t>
            </a:r>
            <a:endParaRPr lang="en-US" sz="1050" dirty="0"/>
          </a:p>
        </p:txBody>
      </p:sp>
      <p:sp>
        <p:nvSpPr>
          <p:cNvPr id="10" name="Shape 8"/>
          <p:cNvSpPr/>
          <p:nvPr/>
        </p:nvSpPr>
        <p:spPr>
          <a:xfrm>
            <a:off x="5029200" y="1627632"/>
            <a:ext cx="2048256" cy="841248"/>
          </a:xfrm>
          <a:prstGeom prst="roundRect">
            <a:avLst>
              <a:gd name="adj" fmla="val 6522"/>
            </a:avLst>
          </a:prstGeom>
          <a:solidFill>
            <a:srgbClr val="EFEAD8"/>
          </a:solidFill>
          <a:ln/>
          <a:effectLst>
            <a:outerShdw sx="100000" sy="100000" kx="0" ky="0" algn="bl" rotWithShape="0" blurRad="101600" dist="508" dir="5400000">
              <a:srgbClr val="000000">
                <a:alpha val="10000"/>
              </a:srgbClr>
            </a:outerShdw>
          </a:effectLst>
        </p:spPr>
      </p:sp>
      <p:sp>
        <p:nvSpPr>
          <p:cNvPr id="11" name="Text 9"/>
          <p:cNvSpPr/>
          <p:nvPr/>
        </p:nvSpPr>
        <p:spPr>
          <a:xfrm>
            <a:off x="5029200" y="1755648"/>
            <a:ext cx="2048256" cy="310896"/>
          </a:xfrm>
          <a:prstGeom prst="rect">
            <a:avLst/>
          </a:prstGeom>
          <a:noFill/>
          <a:ln/>
        </p:spPr>
        <p:txBody>
          <a:bodyPr wrap="square" lIns="0" tIns="0" rIns="0" bIns="0" rtlCol="0" anchor="ctr"/>
          <a:lstStyle/>
          <a:p>
            <a:pPr algn="ctr" indent="0" marL="0">
              <a:buNone/>
            </a:pPr>
            <a:r>
              <a:rPr lang="en-US" sz="1450" b="1" dirty="0">
                <a:solidFill>
                  <a:srgbClr val="2B2118"/>
                </a:solidFill>
                <a:latin typeface="Cambria" pitchFamily="34" charset="0"/>
                <a:ea typeface="Cambria" pitchFamily="34" charset="-122"/>
                <a:cs typeface="Cambria" pitchFamily="34" charset="-120"/>
              </a:rPr>
              <a:t>Competitor</a:t>
            </a:r>
            <a:endParaRPr lang="en-US" sz="1450" dirty="0"/>
          </a:p>
        </p:txBody>
      </p:sp>
      <p:sp>
        <p:nvSpPr>
          <p:cNvPr id="12" name="Text 10"/>
          <p:cNvSpPr/>
          <p:nvPr/>
        </p:nvSpPr>
        <p:spPr>
          <a:xfrm>
            <a:off x="5029200" y="2084832"/>
            <a:ext cx="2048256" cy="274320"/>
          </a:xfrm>
          <a:prstGeom prst="rect">
            <a:avLst/>
          </a:prstGeom>
          <a:noFill/>
          <a:ln/>
        </p:spPr>
        <p:txBody>
          <a:bodyPr wrap="square" lIns="0" tIns="0" rIns="0" bIns="0" rtlCol="0" anchor="ctr"/>
          <a:lstStyle/>
          <a:p>
            <a:pPr algn="ctr" indent="0" marL="0">
              <a:buNone/>
            </a:pPr>
            <a:r>
              <a:rPr lang="en-US" sz="1050" dirty="0">
                <a:solidFill>
                  <a:srgbClr val="8E3B32"/>
                </a:solidFill>
                <a:latin typeface="Calibri" pitchFamily="34" charset="0"/>
                <a:ea typeface="Calibri" pitchFamily="34" charset="-122"/>
                <a:cs typeface="Calibri" pitchFamily="34" charset="-120"/>
              </a:rPr>
              <a:t>clamped ±15%</a:t>
            </a:r>
            <a:endParaRPr lang="en-US" sz="1050" dirty="0"/>
          </a:p>
        </p:txBody>
      </p:sp>
      <p:sp>
        <p:nvSpPr>
          <p:cNvPr id="13" name="Shape 11"/>
          <p:cNvSpPr/>
          <p:nvPr/>
        </p:nvSpPr>
        <p:spPr>
          <a:xfrm>
            <a:off x="7260336" y="1627632"/>
            <a:ext cx="2048256" cy="841248"/>
          </a:xfrm>
          <a:prstGeom prst="roundRect">
            <a:avLst>
              <a:gd name="adj" fmla="val 6522"/>
            </a:avLst>
          </a:prstGeom>
          <a:solidFill>
            <a:srgbClr val="EFEAD8"/>
          </a:solidFill>
          <a:ln/>
          <a:effectLst>
            <a:outerShdw sx="100000" sy="100000" kx="0" ky="0" algn="bl" rotWithShape="0" blurRad="101600" dist="508" dir="5400000">
              <a:srgbClr val="000000">
                <a:alpha val="10000"/>
              </a:srgbClr>
            </a:outerShdw>
          </a:effectLst>
        </p:spPr>
      </p:sp>
      <p:sp>
        <p:nvSpPr>
          <p:cNvPr id="14" name="Text 12"/>
          <p:cNvSpPr/>
          <p:nvPr/>
        </p:nvSpPr>
        <p:spPr>
          <a:xfrm>
            <a:off x="7260336" y="1755648"/>
            <a:ext cx="2048256" cy="310896"/>
          </a:xfrm>
          <a:prstGeom prst="rect">
            <a:avLst/>
          </a:prstGeom>
          <a:noFill/>
          <a:ln/>
        </p:spPr>
        <p:txBody>
          <a:bodyPr wrap="square" lIns="0" tIns="0" rIns="0" bIns="0" rtlCol="0" anchor="ctr"/>
          <a:lstStyle/>
          <a:p>
            <a:pPr algn="ctr" indent="0" marL="0">
              <a:buNone/>
            </a:pPr>
            <a:r>
              <a:rPr lang="en-US" sz="1450" b="1" dirty="0">
                <a:solidFill>
                  <a:srgbClr val="2B2118"/>
                </a:solidFill>
                <a:latin typeface="Cambria" pitchFamily="34" charset="0"/>
                <a:ea typeface="Cambria" pitchFamily="34" charset="-122"/>
                <a:cs typeface="Cambria" pitchFamily="34" charset="-120"/>
              </a:rPr>
              <a:t>Event</a:t>
            </a:r>
            <a:endParaRPr lang="en-US" sz="1450" dirty="0"/>
          </a:p>
        </p:txBody>
      </p:sp>
      <p:sp>
        <p:nvSpPr>
          <p:cNvPr id="15" name="Text 13"/>
          <p:cNvSpPr/>
          <p:nvPr/>
        </p:nvSpPr>
        <p:spPr>
          <a:xfrm>
            <a:off x="7260336" y="2084832"/>
            <a:ext cx="2048256" cy="274320"/>
          </a:xfrm>
          <a:prstGeom prst="rect">
            <a:avLst/>
          </a:prstGeom>
          <a:noFill/>
          <a:ln/>
        </p:spPr>
        <p:txBody>
          <a:bodyPr wrap="square" lIns="0" tIns="0" rIns="0" bIns="0" rtlCol="0" anchor="ctr"/>
          <a:lstStyle/>
          <a:p>
            <a:pPr algn="ctr" indent="0" marL="0">
              <a:buNone/>
            </a:pPr>
            <a:r>
              <a:rPr lang="en-US" sz="1050" dirty="0">
                <a:solidFill>
                  <a:srgbClr val="8E3B32"/>
                </a:solidFill>
                <a:latin typeface="Calibri" pitchFamily="34" charset="0"/>
                <a:ea typeface="Calibri" pitchFamily="34" charset="-122"/>
                <a:cs typeface="Calibri" pitchFamily="34" charset="-120"/>
              </a:rPr>
              <a:t>clamped ±15%</a:t>
            </a:r>
            <a:endParaRPr lang="en-US" sz="1050" dirty="0"/>
          </a:p>
        </p:txBody>
      </p:sp>
      <p:sp>
        <p:nvSpPr>
          <p:cNvPr id="16" name="Shape 14"/>
          <p:cNvSpPr/>
          <p:nvPr/>
        </p:nvSpPr>
        <p:spPr>
          <a:xfrm>
            <a:off x="9491472" y="1627632"/>
            <a:ext cx="2048256" cy="841248"/>
          </a:xfrm>
          <a:prstGeom prst="roundRect">
            <a:avLst>
              <a:gd name="adj" fmla="val 6522"/>
            </a:avLst>
          </a:prstGeom>
          <a:solidFill>
            <a:srgbClr val="EFEAD8"/>
          </a:solidFill>
          <a:ln/>
          <a:effectLst>
            <a:outerShdw sx="100000" sy="100000" kx="0" ky="0" algn="bl" rotWithShape="0" blurRad="101600" dist="508" dir="5400000">
              <a:srgbClr val="000000">
                <a:alpha val="10000"/>
              </a:srgbClr>
            </a:outerShdw>
          </a:effectLst>
        </p:spPr>
      </p:sp>
      <p:sp>
        <p:nvSpPr>
          <p:cNvPr id="17" name="Text 15"/>
          <p:cNvSpPr/>
          <p:nvPr/>
        </p:nvSpPr>
        <p:spPr>
          <a:xfrm>
            <a:off x="9491472" y="1755648"/>
            <a:ext cx="2048256" cy="310896"/>
          </a:xfrm>
          <a:prstGeom prst="rect">
            <a:avLst/>
          </a:prstGeom>
          <a:noFill/>
          <a:ln/>
        </p:spPr>
        <p:txBody>
          <a:bodyPr wrap="square" lIns="0" tIns="0" rIns="0" bIns="0" rtlCol="0" anchor="ctr"/>
          <a:lstStyle/>
          <a:p>
            <a:pPr algn="ctr" indent="0" marL="0">
              <a:buNone/>
            </a:pPr>
            <a:r>
              <a:rPr lang="en-US" sz="1450" b="1" dirty="0">
                <a:solidFill>
                  <a:srgbClr val="2B2118"/>
                </a:solidFill>
                <a:latin typeface="Cambria" pitchFamily="34" charset="0"/>
                <a:ea typeface="Cambria" pitchFamily="34" charset="-122"/>
                <a:cs typeface="Cambria" pitchFamily="34" charset="-120"/>
              </a:rPr>
              <a:t>Season</a:t>
            </a:r>
            <a:endParaRPr lang="en-US" sz="1450" dirty="0"/>
          </a:p>
        </p:txBody>
      </p:sp>
      <p:sp>
        <p:nvSpPr>
          <p:cNvPr id="18" name="Text 16"/>
          <p:cNvSpPr/>
          <p:nvPr/>
        </p:nvSpPr>
        <p:spPr>
          <a:xfrm>
            <a:off x="9491472" y="2084832"/>
            <a:ext cx="2048256" cy="274320"/>
          </a:xfrm>
          <a:prstGeom prst="rect">
            <a:avLst/>
          </a:prstGeom>
          <a:noFill/>
          <a:ln/>
        </p:spPr>
        <p:txBody>
          <a:bodyPr wrap="square" lIns="0" tIns="0" rIns="0" bIns="0" rtlCol="0" anchor="ctr"/>
          <a:lstStyle/>
          <a:p>
            <a:pPr algn="ctr" indent="0" marL="0">
              <a:buNone/>
            </a:pPr>
            <a:r>
              <a:rPr lang="en-US" sz="1050" dirty="0">
                <a:solidFill>
                  <a:srgbClr val="8E3B32"/>
                </a:solidFill>
                <a:latin typeface="Calibri" pitchFamily="34" charset="0"/>
                <a:ea typeface="Calibri" pitchFamily="34" charset="-122"/>
                <a:cs typeface="Calibri" pitchFamily="34" charset="-120"/>
              </a:rPr>
              <a:t>clamped ±10%</a:t>
            </a:r>
            <a:endParaRPr lang="en-US" sz="1050" dirty="0"/>
          </a:p>
        </p:txBody>
      </p:sp>
      <p:sp>
        <p:nvSpPr>
          <p:cNvPr id="19" name="Text 17"/>
          <p:cNvSpPr/>
          <p:nvPr/>
        </p:nvSpPr>
        <p:spPr>
          <a:xfrm>
            <a:off x="566928" y="2633472"/>
            <a:ext cx="11055096" cy="310896"/>
          </a:xfrm>
          <a:prstGeom prst="rect">
            <a:avLst/>
          </a:prstGeom>
          <a:noFill/>
          <a:ln/>
        </p:spPr>
        <p:txBody>
          <a:bodyPr wrap="square" lIns="0" tIns="0" rIns="0" bIns="0" rtlCol="0" anchor="ctr"/>
          <a:lstStyle/>
          <a:p>
            <a:pPr algn="ctr" indent="0" marL="0">
              <a:buNone/>
            </a:pPr>
            <a:r>
              <a:rPr lang="en-US" sz="1300" b="1" dirty="0">
                <a:solidFill>
                  <a:srgbClr val="776A5F"/>
                </a:solidFill>
                <a:latin typeface="Calibri" pitchFamily="34" charset="0"/>
                <a:ea typeface="Calibri" pitchFamily="34" charset="-122"/>
                <a:cs typeface="Calibri" pitchFamily="34" charset="-120"/>
              </a:rPr>
              <a:t>↓  summed into ONE multiplier — additive, never chained</a:t>
            </a:r>
            <a:endParaRPr lang="en-US" sz="1300" dirty="0"/>
          </a:p>
        </p:txBody>
      </p:sp>
      <p:sp>
        <p:nvSpPr>
          <p:cNvPr id="20" name="Shape 18"/>
          <p:cNvSpPr/>
          <p:nvPr/>
        </p:nvSpPr>
        <p:spPr>
          <a:xfrm>
            <a:off x="566928" y="3054096"/>
            <a:ext cx="2048256" cy="713232"/>
          </a:xfrm>
          <a:prstGeom prst="roundRect">
            <a:avLst>
              <a:gd name="adj" fmla="val 10256"/>
            </a:avLst>
          </a:prstGeom>
          <a:solidFill>
            <a:srgbClr val="8C7B6B"/>
          </a:solidFill>
          <a:ln w="12700">
            <a:solidFill>
              <a:srgbClr val="8C7B6B"/>
            </a:solidFill>
            <a:prstDash val="solid"/>
          </a:ln>
        </p:spPr>
      </p:sp>
      <p:sp>
        <p:nvSpPr>
          <p:cNvPr id="21" name="Text 19"/>
          <p:cNvSpPr/>
          <p:nvPr/>
        </p:nvSpPr>
        <p:spPr>
          <a:xfrm>
            <a:off x="566928" y="3136392"/>
            <a:ext cx="2048256" cy="35661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Base rate</a:t>
            </a:r>
            <a:endParaRPr lang="en-US" sz="1150" dirty="0"/>
          </a:p>
        </p:txBody>
      </p:sp>
      <p:sp>
        <p:nvSpPr>
          <p:cNvPr id="22" name="Text 20"/>
          <p:cNvSpPr/>
          <p:nvPr/>
        </p:nvSpPr>
        <p:spPr>
          <a:xfrm>
            <a:off x="566928" y="3396447"/>
            <a:ext cx="2048256" cy="31382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per hotel × room type</a:t>
            </a:r>
            <a:endParaRPr lang="en-US" sz="900" dirty="0"/>
          </a:p>
        </p:txBody>
      </p:sp>
      <p:sp>
        <p:nvSpPr>
          <p:cNvPr id="23" name="Shape 21"/>
          <p:cNvSpPr/>
          <p:nvPr/>
        </p:nvSpPr>
        <p:spPr>
          <a:xfrm>
            <a:off x="2670048" y="3337560"/>
            <a:ext cx="109728" cy="146304"/>
          </a:xfrm>
          <a:prstGeom prst="rightArrow">
            <a:avLst/>
          </a:prstGeom>
          <a:solidFill>
            <a:srgbClr val="C7BFB2"/>
          </a:solidFill>
          <a:ln/>
        </p:spPr>
      </p:sp>
      <p:sp>
        <p:nvSpPr>
          <p:cNvPr id="24" name="Shape 22"/>
          <p:cNvSpPr/>
          <p:nvPr/>
        </p:nvSpPr>
        <p:spPr>
          <a:xfrm>
            <a:off x="2798064" y="3054096"/>
            <a:ext cx="2048256" cy="713232"/>
          </a:xfrm>
          <a:prstGeom prst="roundRect">
            <a:avLst>
              <a:gd name="adj" fmla="val 10256"/>
            </a:avLst>
          </a:prstGeom>
          <a:solidFill>
            <a:srgbClr val="8C7B6B"/>
          </a:solidFill>
          <a:ln w="12700">
            <a:solidFill>
              <a:srgbClr val="8C7B6B"/>
            </a:solidFill>
            <a:prstDash val="solid"/>
          </a:ln>
        </p:spPr>
      </p:sp>
      <p:sp>
        <p:nvSpPr>
          <p:cNvPr id="25" name="Text 23"/>
          <p:cNvSpPr/>
          <p:nvPr/>
        </p:nvSpPr>
        <p:spPr>
          <a:xfrm>
            <a:off x="2798064" y="3136392"/>
            <a:ext cx="2048256" cy="35661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multiplier</a:t>
            </a:r>
            <a:endParaRPr lang="en-US" sz="1150" dirty="0"/>
          </a:p>
        </p:txBody>
      </p:sp>
      <p:sp>
        <p:nvSpPr>
          <p:cNvPr id="26" name="Text 24"/>
          <p:cNvSpPr/>
          <p:nvPr/>
        </p:nvSpPr>
        <p:spPr>
          <a:xfrm>
            <a:off x="2798064" y="3396447"/>
            <a:ext cx="2048256" cy="31382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 + Σ clamped adjustments</a:t>
            </a:r>
            <a:endParaRPr lang="en-US" sz="900" dirty="0"/>
          </a:p>
        </p:txBody>
      </p:sp>
      <p:sp>
        <p:nvSpPr>
          <p:cNvPr id="27" name="Shape 25"/>
          <p:cNvSpPr/>
          <p:nvPr/>
        </p:nvSpPr>
        <p:spPr>
          <a:xfrm>
            <a:off x="4901184" y="3337560"/>
            <a:ext cx="109728" cy="146304"/>
          </a:xfrm>
          <a:prstGeom prst="rightArrow">
            <a:avLst/>
          </a:prstGeom>
          <a:solidFill>
            <a:srgbClr val="C7BFB2"/>
          </a:solidFill>
          <a:ln/>
        </p:spPr>
      </p:sp>
      <p:sp>
        <p:nvSpPr>
          <p:cNvPr id="28" name="Shape 26"/>
          <p:cNvSpPr/>
          <p:nvPr/>
        </p:nvSpPr>
        <p:spPr>
          <a:xfrm>
            <a:off x="5029200" y="3054096"/>
            <a:ext cx="2048256" cy="713232"/>
          </a:xfrm>
          <a:prstGeom prst="roundRect">
            <a:avLst>
              <a:gd name="adj" fmla="val 10256"/>
            </a:avLst>
          </a:prstGeom>
          <a:solidFill>
            <a:srgbClr val="B85042"/>
          </a:solidFill>
          <a:ln w="12700">
            <a:solidFill>
              <a:srgbClr val="B85042"/>
            </a:solidFill>
            <a:prstDash val="solid"/>
          </a:ln>
        </p:spPr>
      </p:sp>
      <p:sp>
        <p:nvSpPr>
          <p:cNvPr id="29" name="Text 27"/>
          <p:cNvSpPr/>
          <p:nvPr/>
        </p:nvSpPr>
        <p:spPr>
          <a:xfrm>
            <a:off x="5029200" y="3136392"/>
            <a:ext cx="2048256" cy="35661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confidence</a:t>
            </a:r>
            <a:endParaRPr lang="en-US" sz="1150" dirty="0"/>
          </a:p>
        </p:txBody>
      </p:sp>
      <p:sp>
        <p:nvSpPr>
          <p:cNvPr id="30" name="Text 28"/>
          <p:cNvSpPr/>
          <p:nvPr/>
        </p:nvSpPr>
        <p:spPr>
          <a:xfrm>
            <a:off x="5029200" y="3396447"/>
            <a:ext cx="2048256" cy="31382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floor 0.5</a:t>
            </a:r>
            <a:endParaRPr lang="en-US" sz="900" dirty="0"/>
          </a:p>
        </p:txBody>
      </p:sp>
      <p:sp>
        <p:nvSpPr>
          <p:cNvPr id="31" name="Shape 29"/>
          <p:cNvSpPr/>
          <p:nvPr/>
        </p:nvSpPr>
        <p:spPr>
          <a:xfrm>
            <a:off x="7132320" y="3337560"/>
            <a:ext cx="109728" cy="146304"/>
          </a:xfrm>
          <a:prstGeom prst="rightArrow">
            <a:avLst/>
          </a:prstGeom>
          <a:solidFill>
            <a:srgbClr val="C7BFB2"/>
          </a:solidFill>
          <a:ln/>
        </p:spPr>
      </p:sp>
      <p:sp>
        <p:nvSpPr>
          <p:cNvPr id="32" name="Shape 30"/>
          <p:cNvSpPr/>
          <p:nvPr/>
        </p:nvSpPr>
        <p:spPr>
          <a:xfrm>
            <a:off x="7260336" y="3054096"/>
            <a:ext cx="2048256" cy="713232"/>
          </a:xfrm>
          <a:prstGeom prst="roundRect">
            <a:avLst>
              <a:gd name="adj" fmla="val 10256"/>
            </a:avLst>
          </a:prstGeom>
          <a:solidFill>
            <a:srgbClr val="8E3B32"/>
          </a:solidFill>
          <a:ln w="12700">
            <a:solidFill>
              <a:srgbClr val="8E3B32"/>
            </a:solidFill>
            <a:prstDash val="solid"/>
          </a:ln>
        </p:spPr>
      </p:sp>
      <p:sp>
        <p:nvSpPr>
          <p:cNvPr id="33" name="Text 31"/>
          <p:cNvSpPr/>
          <p:nvPr/>
        </p:nvSpPr>
        <p:spPr>
          <a:xfrm>
            <a:off x="7260336" y="3136392"/>
            <a:ext cx="2048256" cy="35661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RawPrice</a:t>
            </a:r>
            <a:endParaRPr lang="en-US" sz="1150" dirty="0"/>
          </a:p>
        </p:txBody>
      </p:sp>
      <p:sp>
        <p:nvSpPr>
          <p:cNvPr id="34" name="Text 32"/>
          <p:cNvSpPr/>
          <p:nvPr/>
        </p:nvSpPr>
        <p:spPr>
          <a:xfrm>
            <a:off x="7260336" y="3396447"/>
            <a:ext cx="2048256" cy="31382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not yet serialisable</a:t>
            </a:r>
            <a:endParaRPr lang="en-US" sz="900" dirty="0"/>
          </a:p>
        </p:txBody>
      </p:sp>
      <p:sp>
        <p:nvSpPr>
          <p:cNvPr id="35" name="Shape 33"/>
          <p:cNvSpPr/>
          <p:nvPr/>
        </p:nvSpPr>
        <p:spPr>
          <a:xfrm>
            <a:off x="9363456" y="3337560"/>
            <a:ext cx="109728" cy="146304"/>
          </a:xfrm>
          <a:prstGeom prst="rightArrow">
            <a:avLst/>
          </a:prstGeom>
          <a:solidFill>
            <a:srgbClr val="C7BFB2"/>
          </a:solidFill>
          <a:ln/>
        </p:spPr>
      </p:sp>
      <p:sp>
        <p:nvSpPr>
          <p:cNvPr id="36" name="Shape 34"/>
          <p:cNvSpPr/>
          <p:nvPr/>
        </p:nvSpPr>
        <p:spPr>
          <a:xfrm>
            <a:off x="9491472" y="3054096"/>
            <a:ext cx="2048256" cy="713232"/>
          </a:xfrm>
          <a:prstGeom prst="roundRect">
            <a:avLst>
              <a:gd name="adj" fmla="val 10256"/>
            </a:avLst>
          </a:prstGeom>
          <a:solidFill>
            <a:srgbClr val="2B2118"/>
          </a:solidFill>
          <a:ln w="12700">
            <a:solidFill>
              <a:srgbClr val="2B2118"/>
            </a:solidFill>
            <a:prstDash val="solid"/>
          </a:ln>
        </p:spPr>
      </p:sp>
      <p:sp>
        <p:nvSpPr>
          <p:cNvPr id="37" name="Text 35"/>
          <p:cNvSpPr/>
          <p:nvPr/>
        </p:nvSpPr>
        <p:spPr>
          <a:xfrm>
            <a:off x="9491472" y="3136392"/>
            <a:ext cx="2048256" cy="35661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guardrails</a:t>
            </a:r>
            <a:endParaRPr lang="en-US" sz="1150" dirty="0"/>
          </a:p>
        </p:txBody>
      </p:sp>
      <p:sp>
        <p:nvSpPr>
          <p:cNvPr id="38" name="Text 36"/>
          <p:cNvSpPr/>
          <p:nvPr/>
        </p:nvSpPr>
        <p:spPr>
          <a:xfrm>
            <a:off x="9491472" y="3396447"/>
            <a:ext cx="2048256" cy="31382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FinalPrice</a:t>
            </a:r>
            <a:endParaRPr lang="en-US" sz="900" dirty="0"/>
          </a:p>
        </p:txBody>
      </p:sp>
      <p:sp>
        <p:nvSpPr>
          <p:cNvPr id="39" name="Shape 37"/>
          <p:cNvSpPr/>
          <p:nvPr/>
        </p:nvSpPr>
        <p:spPr>
          <a:xfrm>
            <a:off x="566928" y="4041648"/>
            <a:ext cx="11055096" cy="1700784"/>
          </a:xfrm>
          <a:prstGeom prst="roundRect">
            <a:avLst>
              <a:gd name="adj" fmla="val 3226"/>
            </a:avLst>
          </a:prstGeom>
          <a:solidFill>
            <a:srgbClr val="FBF8F2"/>
          </a:solidFill>
          <a:ln/>
          <a:effectLst>
            <a:outerShdw sx="100000" sy="100000" kx="0" ky="0" algn="bl" rotWithShape="0" blurRad="101600" dist="508" dir="5400000">
              <a:srgbClr val="000000">
                <a:alpha val="10000"/>
              </a:srgbClr>
            </a:outerShdw>
          </a:effectLst>
        </p:spPr>
      </p:sp>
      <p:sp>
        <p:nvSpPr>
          <p:cNvPr id="40" name="Text 38"/>
          <p:cNvSpPr/>
          <p:nvPr/>
        </p:nvSpPr>
        <p:spPr>
          <a:xfrm>
            <a:off x="841248" y="4206240"/>
            <a:ext cx="10424160" cy="292608"/>
          </a:xfrm>
          <a:prstGeom prst="rect">
            <a:avLst/>
          </a:prstGeom>
          <a:noFill/>
          <a:ln/>
        </p:spPr>
        <p:txBody>
          <a:bodyPr wrap="square" lIns="0" tIns="0" rIns="0" bIns="0" rtlCol="0" anchor="ctr"/>
          <a:lstStyle/>
          <a:p>
            <a:pPr indent="0" marL="0">
              <a:buNone/>
            </a:pPr>
            <a:r>
              <a:rPr lang="en-US" sz="1500" b="1" dirty="0">
                <a:solidFill>
                  <a:srgbClr val="8E3B32"/>
                </a:solidFill>
                <a:latin typeface="Cambria" pitchFamily="34" charset="0"/>
                <a:ea typeface="Cambria" pitchFamily="34" charset="-122"/>
                <a:cs typeface="Cambria" pitchFamily="34" charset="-120"/>
              </a:rPr>
              <a:t>Why confidence scaling is the subtle part</a:t>
            </a:r>
            <a:endParaRPr lang="en-US" sz="1500" dirty="0"/>
          </a:p>
        </p:txBody>
      </p:sp>
      <p:sp>
        <p:nvSpPr>
          <p:cNvPr id="41" name="Text 39"/>
          <p:cNvSpPr/>
          <p:nvPr/>
        </p:nvSpPr>
        <p:spPr>
          <a:xfrm>
            <a:off x="841248" y="4535424"/>
            <a:ext cx="10424160" cy="841248"/>
          </a:xfrm>
          <a:prstGeom prst="rect">
            <a:avLst/>
          </a:prstGeom>
          <a:noFill/>
          <a:ln/>
        </p:spPr>
        <p:txBody>
          <a:bodyPr wrap="square" lIns="0" tIns="0" rIns="0" bIns="0" rtlCol="0" anchor="ctr"/>
          <a:lstStyle/>
          <a:p>
            <a:pPr indent="0" marL="0">
              <a:buNone/>
            </a:pPr>
            <a:r>
              <a:rPr lang="en-US" sz="1250" dirty="0">
                <a:solidFill>
                  <a:srgbClr val="2B2118"/>
                </a:solidFill>
                <a:latin typeface="Calibri" pitchFamily="34" charset="0"/>
                <a:ea typeface="Calibri" pitchFamily="34" charset="-122"/>
                <a:cs typeface="Calibri" pitchFamily="34" charset="-120"/>
              </a:rPr>
              <a:t>Prophet's interval width becomes a confidence score, and the entire adjustment multiplier is multiplied by it — with a floor of 0.5. So a model that is unsure about a night moves the price only half as far from the base rate as a model that is certain. An uncertain model degrades towards doing nothing, rather than making a confident mistake.</a:t>
            </a:r>
            <a:endParaRPr lang="en-US" sz="1250" dirty="0"/>
          </a:p>
        </p:txBody>
      </p:sp>
      <p:sp>
        <p:nvSpPr>
          <p:cNvPr id="42" name="Text 40"/>
          <p:cNvSpPr/>
          <p:nvPr/>
        </p:nvSpPr>
        <p:spPr>
          <a:xfrm>
            <a:off x="841248" y="5358384"/>
            <a:ext cx="10424160" cy="310896"/>
          </a:xfrm>
          <a:prstGeom prst="rect">
            <a:avLst/>
          </a:prstGeom>
          <a:noFill/>
          <a:ln/>
        </p:spPr>
        <p:txBody>
          <a:bodyPr wrap="square" lIns="0" tIns="0" rIns="0" bIns="0" rtlCol="0" anchor="ctr"/>
          <a:lstStyle/>
          <a:p>
            <a:pPr indent="0" marL="0">
              <a:buNone/>
            </a:pPr>
            <a:r>
              <a:rPr lang="en-US" sz="1100" i="1" dirty="0">
                <a:solidFill>
                  <a:srgbClr val="776A5F"/>
                </a:solidFill>
                <a:latin typeface="Calibri" pitchFamily="34" charset="0"/>
                <a:ea typeface="Calibri" pitchFamily="34" charset="-122"/>
                <a:cs typeface="Calibri" pitchFamily="34" charset="-120"/>
              </a:rPr>
              <a:t>This is also why a wide forecast band is usually the whole explanation for a price that looks unresponsive to obvious demand.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GUARDRAILS</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Guardrails run in a fixed order, unbypassable</a:t>
            </a:r>
            <a:endParaRPr lang="en-US" sz="3200" dirty="0"/>
          </a:p>
        </p:txBody>
      </p:sp>
      <p:sp>
        <p:nvSpPr>
          <p:cNvPr id="4" name="Shape 2"/>
          <p:cNvSpPr/>
          <p:nvPr/>
        </p:nvSpPr>
        <p:spPr>
          <a:xfrm>
            <a:off x="566928" y="1517904"/>
            <a:ext cx="420624" cy="420624"/>
          </a:xfrm>
          <a:prstGeom prst="ellipse">
            <a:avLst/>
          </a:prstGeom>
          <a:solidFill>
            <a:srgbClr val="B85042"/>
          </a:solidFill>
          <a:ln/>
        </p:spPr>
      </p:sp>
      <p:sp>
        <p:nvSpPr>
          <p:cNvPr id="5" name="Text 3"/>
          <p:cNvSpPr/>
          <p:nvPr/>
        </p:nvSpPr>
        <p:spPr>
          <a:xfrm>
            <a:off x="566928" y="15179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52144" y="1490472"/>
            <a:ext cx="3017520" cy="310896"/>
          </a:xfrm>
          <a:prstGeom prst="rect">
            <a:avLst/>
          </a:prstGeom>
          <a:noFill/>
          <a:ln/>
        </p:spPr>
        <p:txBody>
          <a:bodyPr wrap="square" lIns="0" tIns="0" rIns="0" bIns="0" rtlCol="0" anchor="ctr"/>
          <a:lstStyle/>
          <a:p>
            <a:pPr indent="0" marL="0">
              <a:buNone/>
            </a:pPr>
            <a:r>
              <a:rPr lang="en-US" sz="1300" b="1" dirty="0">
                <a:solidFill>
                  <a:srgbClr val="2B2118"/>
                </a:solidFill>
                <a:latin typeface="Calibri" pitchFamily="34" charset="0"/>
                <a:ea typeface="Calibri" pitchFamily="34" charset="-122"/>
                <a:cs typeface="Calibri" pitchFamily="34" charset="-120"/>
              </a:rPr>
              <a:t>Low-occupancy block</a:t>
            </a:r>
            <a:endParaRPr lang="en-US" sz="1300" dirty="0"/>
          </a:p>
        </p:txBody>
      </p:sp>
      <p:sp>
        <p:nvSpPr>
          <p:cNvPr id="7" name="Text 5"/>
          <p:cNvSpPr/>
          <p:nvPr/>
        </p:nvSpPr>
        <p:spPr>
          <a:xfrm>
            <a:off x="1152144" y="1783080"/>
            <a:ext cx="5029200" cy="310896"/>
          </a:xfrm>
          <a:prstGeom prst="rect">
            <a:avLst/>
          </a:prstGeom>
          <a:noFill/>
          <a:ln/>
        </p:spPr>
        <p:txBody>
          <a:bodyPr wrap="square" lIns="0" tIns="0" rIns="0" bIns="0" rtlCol="0" anchor="ctr"/>
          <a:lstStyle/>
          <a:p>
            <a:pPr indent="0" marL="0">
              <a:buNone/>
            </a:pPr>
            <a:r>
              <a:rPr lang="en-US" sz="1050" dirty="0">
                <a:solidFill>
                  <a:srgbClr val="776A5F"/>
                </a:solidFill>
                <a:latin typeface="Calibri" pitchFamily="34" charset="0"/>
                <a:ea typeface="Calibri" pitchFamily="34" charset="-122"/>
                <a:cs typeface="Calibri" pitchFamily="34" charset="-120"/>
              </a:rPr>
              <a:t>No increase below 40% occupancy, whatever the model says</a:t>
            </a:r>
            <a:endParaRPr lang="en-US" sz="1050" dirty="0"/>
          </a:p>
        </p:txBody>
      </p:sp>
      <p:sp>
        <p:nvSpPr>
          <p:cNvPr id="8" name="Shape 6"/>
          <p:cNvSpPr/>
          <p:nvPr/>
        </p:nvSpPr>
        <p:spPr>
          <a:xfrm>
            <a:off x="566928" y="2267712"/>
            <a:ext cx="420624" cy="420624"/>
          </a:xfrm>
          <a:prstGeom prst="ellipse">
            <a:avLst/>
          </a:prstGeom>
          <a:solidFill>
            <a:srgbClr val="B85042"/>
          </a:solidFill>
          <a:ln/>
        </p:spPr>
      </p:sp>
      <p:sp>
        <p:nvSpPr>
          <p:cNvPr id="9" name="Text 7"/>
          <p:cNvSpPr/>
          <p:nvPr/>
        </p:nvSpPr>
        <p:spPr>
          <a:xfrm>
            <a:off x="566928" y="22677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152144" y="2240280"/>
            <a:ext cx="3017520" cy="310896"/>
          </a:xfrm>
          <a:prstGeom prst="rect">
            <a:avLst/>
          </a:prstGeom>
          <a:noFill/>
          <a:ln/>
        </p:spPr>
        <p:txBody>
          <a:bodyPr wrap="square" lIns="0" tIns="0" rIns="0" bIns="0" rtlCol="0" anchor="ctr"/>
          <a:lstStyle/>
          <a:p>
            <a:pPr indent="0" marL="0">
              <a:buNone/>
            </a:pPr>
            <a:r>
              <a:rPr lang="en-US" sz="1300" b="1" dirty="0">
                <a:solidFill>
                  <a:srgbClr val="2B2118"/>
                </a:solidFill>
                <a:latin typeface="Calibri" pitchFamily="34" charset="0"/>
                <a:ea typeface="Calibri" pitchFamily="34" charset="-122"/>
                <a:cs typeface="Calibri" pitchFamily="34" charset="-120"/>
              </a:rPr>
              <a:t>Daily change cap</a:t>
            </a:r>
            <a:endParaRPr lang="en-US" sz="1300" dirty="0"/>
          </a:p>
        </p:txBody>
      </p:sp>
      <p:sp>
        <p:nvSpPr>
          <p:cNvPr id="11" name="Text 9"/>
          <p:cNvSpPr/>
          <p:nvPr/>
        </p:nvSpPr>
        <p:spPr>
          <a:xfrm>
            <a:off x="1152144" y="2532888"/>
            <a:ext cx="5029200" cy="310896"/>
          </a:xfrm>
          <a:prstGeom prst="rect">
            <a:avLst/>
          </a:prstGeom>
          <a:noFill/>
          <a:ln/>
        </p:spPr>
        <p:txBody>
          <a:bodyPr wrap="square" lIns="0" tIns="0" rIns="0" bIns="0" rtlCol="0" anchor="ctr"/>
          <a:lstStyle/>
          <a:p>
            <a:pPr indent="0" marL="0">
              <a:buNone/>
            </a:pPr>
            <a:r>
              <a:rPr lang="en-US" sz="1050" dirty="0">
                <a:solidFill>
                  <a:srgbClr val="776A5F"/>
                </a:solidFill>
                <a:latin typeface="Calibri" pitchFamily="34" charset="0"/>
                <a:ea typeface="Calibri" pitchFamily="34" charset="-122"/>
                <a:cs typeface="Calibri" pitchFamily="34" charset="-120"/>
              </a:rPr>
              <a:t>±15% day over day</a:t>
            </a:r>
            <a:endParaRPr lang="en-US" sz="1050" dirty="0"/>
          </a:p>
        </p:txBody>
      </p:sp>
      <p:sp>
        <p:nvSpPr>
          <p:cNvPr id="12" name="Shape 10"/>
          <p:cNvSpPr/>
          <p:nvPr/>
        </p:nvSpPr>
        <p:spPr>
          <a:xfrm>
            <a:off x="566928" y="3017520"/>
            <a:ext cx="420624" cy="420624"/>
          </a:xfrm>
          <a:prstGeom prst="ellipse">
            <a:avLst/>
          </a:prstGeom>
          <a:solidFill>
            <a:srgbClr val="B85042"/>
          </a:solidFill>
          <a:ln/>
        </p:spPr>
      </p:sp>
      <p:sp>
        <p:nvSpPr>
          <p:cNvPr id="13" name="Text 11"/>
          <p:cNvSpPr/>
          <p:nvPr/>
        </p:nvSpPr>
        <p:spPr>
          <a:xfrm>
            <a:off x="566928" y="30175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152144" y="2990088"/>
            <a:ext cx="3017520" cy="310896"/>
          </a:xfrm>
          <a:prstGeom prst="rect">
            <a:avLst/>
          </a:prstGeom>
          <a:noFill/>
          <a:ln/>
        </p:spPr>
        <p:txBody>
          <a:bodyPr wrap="square" lIns="0" tIns="0" rIns="0" bIns="0" rtlCol="0" anchor="ctr"/>
          <a:lstStyle/>
          <a:p>
            <a:pPr indent="0" marL="0">
              <a:buNone/>
            </a:pPr>
            <a:r>
              <a:rPr lang="en-US" sz="1300" b="1" dirty="0">
                <a:solidFill>
                  <a:srgbClr val="2B2118"/>
                </a:solidFill>
                <a:latin typeface="Calibri" pitchFamily="34" charset="0"/>
                <a:ea typeface="Calibri" pitchFamily="34" charset="-122"/>
                <a:cs typeface="Calibri" pitchFamily="34" charset="-120"/>
              </a:rPr>
              <a:t>Competitor bands</a:t>
            </a:r>
            <a:endParaRPr lang="en-US" sz="1300" dirty="0"/>
          </a:p>
        </p:txBody>
      </p:sp>
      <p:sp>
        <p:nvSpPr>
          <p:cNvPr id="15" name="Text 13"/>
          <p:cNvSpPr/>
          <p:nvPr/>
        </p:nvSpPr>
        <p:spPr>
          <a:xfrm>
            <a:off x="1152144" y="3282696"/>
            <a:ext cx="5029200" cy="310896"/>
          </a:xfrm>
          <a:prstGeom prst="rect">
            <a:avLst/>
          </a:prstGeom>
          <a:noFill/>
          <a:ln/>
        </p:spPr>
        <p:txBody>
          <a:bodyPr wrap="square" lIns="0" tIns="0" rIns="0" bIns="0" rtlCol="0" anchor="ctr"/>
          <a:lstStyle/>
          <a:p>
            <a:pPr indent="0" marL="0">
              <a:buNone/>
            </a:pPr>
            <a:r>
              <a:rPr lang="en-US" sz="1050" dirty="0">
                <a:solidFill>
                  <a:srgbClr val="776A5F"/>
                </a:solidFill>
                <a:latin typeface="Calibri" pitchFamily="34" charset="0"/>
                <a:ea typeface="Calibri" pitchFamily="34" charset="-122"/>
                <a:cs typeface="Calibri" pitchFamily="34" charset="-120"/>
              </a:rPr>
              <a:t>±20% around the market</a:t>
            </a:r>
            <a:endParaRPr lang="en-US" sz="1050" dirty="0"/>
          </a:p>
        </p:txBody>
      </p:sp>
      <p:sp>
        <p:nvSpPr>
          <p:cNvPr id="16" name="Shape 14"/>
          <p:cNvSpPr/>
          <p:nvPr/>
        </p:nvSpPr>
        <p:spPr>
          <a:xfrm>
            <a:off x="566928" y="3767328"/>
            <a:ext cx="420624" cy="420624"/>
          </a:xfrm>
          <a:prstGeom prst="ellipse">
            <a:avLst/>
          </a:prstGeom>
          <a:solidFill>
            <a:srgbClr val="2B2118"/>
          </a:solidFill>
          <a:ln/>
        </p:spPr>
      </p:sp>
      <p:sp>
        <p:nvSpPr>
          <p:cNvPr id="17" name="Text 15"/>
          <p:cNvSpPr/>
          <p:nvPr/>
        </p:nvSpPr>
        <p:spPr>
          <a:xfrm>
            <a:off x="566928" y="37673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152144" y="3739896"/>
            <a:ext cx="3017520" cy="310896"/>
          </a:xfrm>
          <a:prstGeom prst="rect">
            <a:avLst/>
          </a:prstGeom>
          <a:noFill/>
          <a:ln/>
        </p:spPr>
        <p:txBody>
          <a:bodyPr wrap="square" lIns="0" tIns="0" rIns="0" bIns="0" rtlCol="0" anchor="ctr"/>
          <a:lstStyle/>
          <a:p>
            <a:pPr indent="0" marL="0">
              <a:buNone/>
            </a:pPr>
            <a:r>
              <a:rPr lang="en-US" sz="1300" b="1" dirty="0">
                <a:solidFill>
                  <a:srgbClr val="2B2118"/>
                </a:solidFill>
                <a:latin typeface="Calibri" pitchFamily="34" charset="0"/>
                <a:ea typeface="Calibri" pitchFamily="34" charset="-122"/>
                <a:cs typeface="Calibri" pitchFamily="34" charset="-120"/>
              </a:rPr>
              <a:t>Room floor / ceiling</a:t>
            </a:r>
            <a:endParaRPr lang="en-US" sz="1300" dirty="0"/>
          </a:p>
        </p:txBody>
      </p:sp>
      <p:sp>
        <p:nvSpPr>
          <p:cNvPr id="19" name="Text 17"/>
          <p:cNvSpPr/>
          <p:nvPr/>
        </p:nvSpPr>
        <p:spPr>
          <a:xfrm>
            <a:off x="1152144" y="4032504"/>
            <a:ext cx="5029200" cy="310896"/>
          </a:xfrm>
          <a:prstGeom prst="rect">
            <a:avLst/>
          </a:prstGeom>
          <a:noFill/>
          <a:ln/>
        </p:spPr>
        <p:txBody>
          <a:bodyPr wrap="square" lIns="0" tIns="0" rIns="0" bIns="0" rtlCol="0" anchor="ctr"/>
          <a:lstStyle/>
          <a:p>
            <a:pPr indent="0" marL="0">
              <a:buNone/>
            </a:pPr>
            <a:r>
              <a:rPr lang="en-US" sz="1050" dirty="0">
                <a:solidFill>
                  <a:srgbClr val="776A5F"/>
                </a:solidFill>
                <a:latin typeface="Calibri" pitchFamily="34" charset="0"/>
                <a:ea typeface="Calibri" pitchFamily="34" charset="-122"/>
                <a:cs typeface="Calibri" pitchFamily="34" charset="-120"/>
              </a:rPr>
              <a:t>Per hotel and category</a:t>
            </a:r>
            <a:endParaRPr lang="en-US" sz="1050" dirty="0"/>
          </a:p>
        </p:txBody>
      </p:sp>
      <p:sp>
        <p:nvSpPr>
          <p:cNvPr id="20" name="Shape 18"/>
          <p:cNvSpPr/>
          <p:nvPr/>
        </p:nvSpPr>
        <p:spPr>
          <a:xfrm>
            <a:off x="566928" y="4517136"/>
            <a:ext cx="420624" cy="420624"/>
          </a:xfrm>
          <a:prstGeom prst="ellipse">
            <a:avLst/>
          </a:prstGeom>
          <a:solidFill>
            <a:srgbClr val="2B2118"/>
          </a:solidFill>
          <a:ln/>
        </p:spPr>
      </p:sp>
      <p:sp>
        <p:nvSpPr>
          <p:cNvPr id="21" name="Text 19"/>
          <p:cNvSpPr/>
          <p:nvPr/>
        </p:nvSpPr>
        <p:spPr>
          <a:xfrm>
            <a:off x="566928" y="4517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152144" y="4489704"/>
            <a:ext cx="3017520" cy="310896"/>
          </a:xfrm>
          <a:prstGeom prst="rect">
            <a:avLst/>
          </a:prstGeom>
          <a:noFill/>
          <a:ln/>
        </p:spPr>
        <p:txBody>
          <a:bodyPr wrap="square" lIns="0" tIns="0" rIns="0" bIns="0" rtlCol="0" anchor="ctr"/>
          <a:lstStyle/>
          <a:p>
            <a:pPr indent="0" marL="0">
              <a:buNone/>
            </a:pPr>
            <a:r>
              <a:rPr lang="en-US" sz="1300" b="1" dirty="0">
                <a:solidFill>
                  <a:srgbClr val="2B2118"/>
                </a:solidFill>
                <a:latin typeface="Calibri" pitchFamily="34" charset="0"/>
                <a:ea typeface="Calibri" pitchFamily="34" charset="-122"/>
                <a:cs typeface="Calibri" pitchFamily="34" charset="-120"/>
              </a:rPr>
              <a:t>MIN_PRICE / MAX_PRICE</a:t>
            </a:r>
            <a:endParaRPr lang="en-US" sz="1300" dirty="0"/>
          </a:p>
        </p:txBody>
      </p:sp>
      <p:sp>
        <p:nvSpPr>
          <p:cNvPr id="23" name="Text 21"/>
          <p:cNvSpPr/>
          <p:nvPr/>
        </p:nvSpPr>
        <p:spPr>
          <a:xfrm>
            <a:off x="1152144" y="4782312"/>
            <a:ext cx="5029200" cy="310896"/>
          </a:xfrm>
          <a:prstGeom prst="rect">
            <a:avLst/>
          </a:prstGeom>
          <a:noFill/>
          <a:ln/>
        </p:spPr>
        <p:txBody>
          <a:bodyPr wrap="square" lIns="0" tIns="0" rIns="0" bIns="0" rtlCol="0" anchor="ctr"/>
          <a:lstStyle/>
          <a:p>
            <a:pPr indent="0" marL="0">
              <a:buNone/>
            </a:pPr>
            <a:r>
              <a:rPr lang="en-US" sz="1050" dirty="0">
                <a:solidFill>
                  <a:srgbClr val="776A5F"/>
                </a:solidFill>
                <a:latin typeface="Calibri" pitchFamily="34" charset="0"/>
                <a:ea typeface="Calibri" pitchFamily="34" charset="-122"/>
                <a:cs typeface="Calibri" pitchFamily="34" charset="-120"/>
              </a:rPr>
              <a:t>Absolute, always last</a:t>
            </a:r>
            <a:endParaRPr lang="en-US" sz="1050" dirty="0"/>
          </a:p>
        </p:txBody>
      </p:sp>
      <p:sp>
        <p:nvSpPr>
          <p:cNvPr id="24" name="Text 22"/>
          <p:cNvSpPr/>
          <p:nvPr/>
        </p:nvSpPr>
        <p:spPr>
          <a:xfrm>
            <a:off x="4315968" y="1536192"/>
            <a:ext cx="1737360" cy="274320"/>
          </a:xfrm>
          <a:prstGeom prst="rect">
            <a:avLst/>
          </a:prstGeom>
          <a:noFill/>
          <a:ln/>
        </p:spPr>
        <p:txBody>
          <a:bodyPr wrap="square" lIns="0" tIns="0" rIns="0" bIns="0" rtlCol="0" anchor="ctr"/>
          <a:lstStyle/>
          <a:p>
            <a:pPr indent="0" marL="0">
              <a:buNone/>
            </a:pPr>
            <a:r>
              <a:rPr lang="en-US" sz="1000" b="1" dirty="0">
                <a:solidFill>
                  <a:srgbClr val="B85042"/>
                </a:solidFill>
                <a:latin typeface="Calibri" pitchFamily="34" charset="0"/>
                <a:ea typeface="Calibri" pitchFamily="34" charset="-122"/>
                <a:cs typeface="Calibri" pitchFamily="34" charset="-120"/>
              </a:rPr>
              <a:t>relative rules</a:t>
            </a:r>
            <a:endParaRPr lang="en-US" sz="1000" dirty="0"/>
          </a:p>
        </p:txBody>
      </p:sp>
      <p:sp>
        <p:nvSpPr>
          <p:cNvPr id="25" name="Text 23"/>
          <p:cNvSpPr/>
          <p:nvPr/>
        </p:nvSpPr>
        <p:spPr>
          <a:xfrm>
            <a:off x="4315968" y="4517136"/>
            <a:ext cx="1737360" cy="274320"/>
          </a:xfrm>
          <a:prstGeom prst="rect">
            <a:avLst/>
          </a:prstGeom>
          <a:noFill/>
          <a:ln/>
        </p:spPr>
        <p:txBody>
          <a:bodyPr wrap="square" lIns="0" tIns="0" rIns="0" bIns="0" rtlCol="0" anchor="ctr"/>
          <a:lstStyle/>
          <a:p>
            <a:pPr indent="0" marL="0">
              <a:buNone/>
            </a:pPr>
            <a:r>
              <a:rPr lang="en-US" sz="1000" b="1" dirty="0">
                <a:solidFill>
                  <a:srgbClr val="2B2118"/>
                </a:solidFill>
                <a:latin typeface="Calibri" pitchFamily="34" charset="0"/>
                <a:ea typeface="Calibri" pitchFamily="34" charset="-122"/>
                <a:cs typeface="Calibri" pitchFamily="34" charset="-120"/>
              </a:rPr>
              <a:t>absolute rules</a:t>
            </a:r>
            <a:endParaRPr lang="en-US" sz="1000" dirty="0"/>
          </a:p>
        </p:txBody>
      </p:sp>
      <p:sp>
        <p:nvSpPr>
          <p:cNvPr id="26" name="Shape 24"/>
          <p:cNvSpPr/>
          <p:nvPr/>
        </p:nvSpPr>
        <p:spPr>
          <a:xfrm>
            <a:off x="6309360" y="1481328"/>
            <a:ext cx="5312664" cy="2286000"/>
          </a:xfrm>
          <a:prstGeom prst="roundRect">
            <a:avLst>
              <a:gd name="adj" fmla="val 2400"/>
            </a:avLst>
          </a:prstGeom>
          <a:solidFill>
            <a:srgbClr val="EFEAD8"/>
          </a:solidFill>
          <a:ln/>
          <a:effectLst>
            <a:outerShdw sx="100000" sy="100000" kx="0" ky="0" algn="bl" rotWithShape="0" blurRad="101600" dist="508" dir="5400000">
              <a:srgbClr val="000000">
                <a:alpha val="10000"/>
              </a:srgbClr>
            </a:outerShdw>
          </a:effectLst>
        </p:spPr>
      </p:sp>
      <p:sp>
        <p:nvSpPr>
          <p:cNvPr id="27" name="Text 25"/>
          <p:cNvSpPr/>
          <p:nvPr/>
        </p:nvSpPr>
        <p:spPr>
          <a:xfrm>
            <a:off x="6583680" y="1645920"/>
            <a:ext cx="4754880" cy="292608"/>
          </a:xfrm>
          <a:prstGeom prst="rect">
            <a:avLst/>
          </a:prstGeom>
          <a:noFill/>
          <a:ln/>
        </p:spPr>
        <p:txBody>
          <a:bodyPr wrap="square" lIns="0" tIns="0" rIns="0" bIns="0" rtlCol="0" anchor="ctr"/>
          <a:lstStyle/>
          <a:p>
            <a:pPr indent="0" marL="0">
              <a:buNone/>
            </a:pPr>
            <a:r>
              <a:rPr lang="en-US" sz="1500" b="1" dirty="0">
                <a:solidFill>
                  <a:srgbClr val="8E3B32"/>
                </a:solidFill>
                <a:latin typeface="Cambria" pitchFamily="34" charset="0"/>
                <a:ea typeface="Cambria" pitchFamily="34" charset="-122"/>
                <a:cs typeface="Cambria" pitchFamily="34" charset="-120"/>
              </a:rPr>
              <a:t>Order is load-bearing</a:t>
            </a:r>
            <a:endParaRPr lang="en-US" sz="1500" dirty="0"/>
          </a:p>
        </p:txBody>
      </p:sp>
      <p:sp>
        <p:nvSpPr>
          <p:cNvPr id="28" name="Text 26"/>
          <p:cNvSpPr/>
          <p:nvPr/>
        </p:nvSpPr>
        <p:spPr>
          <a:xfrm>
            <a:off x="6583680" y="1993392"/>
            <a:ext cx="4754880" cy="1005840"/>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Relative rules run before absolute ones. A floor that a percentage rule can undercut afterwards is not a floor — it is a suggestion. Reversing these two groups produces prices outside MIN_PRICE while every individual rule still reports success.</a:t>
            </a:r>
            <a:endParaRPr lang="en-US" sz="1150" dirty="0"/>
          </a:p>
        </p:txBody>
      </p:sp>
      <p:sp>
        <p:nvSpPr>
          <p:cNvPr id="29" name="Text 27"/>
          <p:cNvSpPr/>
          <p:nvPr/>
        </p:nvSpPr>
        <p:spPr>
          <a:xfrm>
            <a:off x="6583680" y="3017520"/>
            <a:ext cx="4754880" cy="621792"/>
          </a:xfrm>
          <a:prstGeom prst="rect">
            <a:avLst/>
          </a:prstGeom>
          <a:noFill/>
          <a:ln/>
        </p:spPr>
        <p:txBody>
          <a:bodyPr wrap="square" lIns="0" tIns="0" rIns="0" bIns="0" rtlCol="0" anchor="ctr"/>
          <a:lstStyle/>
          <a:p>
            <a:pPr indent="0" marL="0">
              <a:buNone/>
            </a:pPr>
            <a:r>
              <a:rPr lang="en-US" sz="1050" i="1" dirty="0">
                <a:solidFill>
                  <a:srgbClr val="776A5F"/>
                </a:solidFill>
                <a:latin typeface="Calibri" pitchFamily="34" charset="0"/>
                <a:ea typeface="Calibri" pitchFamily="34" charset="-122"/>
                <a:cs typeface="Calibri" pitchFamily="34" charset="-120"/>
              </a:rPr>
              <a:t>44 tests cover the guardrails alone — including a sweep of NaN, infinity, negatives and ₹1e9 through every combination.</a:t>
            </a:r>
            <a:endParaRPr lang="en-US" sz="1050" dirty="0"/>
          </a:p>
        </p:txBody>
      </p:sp>
      <p:sp>
        <p:nvSpPr>
          <p:cNvPr id="30" name="Shape 28"/>
          <p:cNvSpPr/>
          <p:nvPr/>
        </p:nvSpPr>
        <p:spPr>
          <a:xfrm>
            <a:off x="6309360" y="3968496"/>
            <a:ext cx="5312664" cy="1773936"/>
          </a:xfrm>
          <a:prstGeom prst="roundRect">
            <a:avLst>
              <a:gd name="adj" fmla="val 3093"/>
            </a:avLst>
          </a:prstGeom>
          <a:solidFill>
            <a:srgbClr val="2B2118"/>
          </a:solidFill>
          <a:ln/>
          <a:effectLst>
            <a:outerShdw sx="100000" sy="100000" kx="0" ky="0" algn="bl" rotWithShape="0" blurRad="101600" dist="508" dir="5400000">
              <a:srgbClr val="000000">
                <a:alpha val="10000"/>
              </a:srgbClr>
            </a:outerShdw>
          </a:effectLst>
        </p:spPr>
      </p:sp>
      <p:sp>
        <p:nvSpPr>
          <p:cNvPr id="31" name="Text 29"/>
          <p:cNvSpPr/>
          <p:nvPr/>
        </p:nvSpPr>
        <p:spPr>
          <a:xfrm>
            <a:off x="6583680" y="4114800"/>
            <a:ext cx="4754880" cy="292608"/>
          </a:xfrm>
          <a:prstGeom prst="rect">
            <a:avLst/>
          </a:prstGeom>
          <a:noFill/>
          <a:ln/>
        </p:spPr>
        <p:txBody>
          <a:bodyPr wrap="square" lIns="0" tIns="0" rIns="0" bIns="0" rtlCol="0" anchor="ctr"/>
          <a:lstStyle/>
          <a:p>
            <a:pPr indent="0" marL="0">
              <a:buNone/>
            </a:pPr>
            <a:r>
              <a:rPr lang="en-US" sz="1500" b="1" dirty="0">
                <a:solidFill>
                  <a:srgbClr val="B85042"/>
                </a:solidFill>
                <a:latin typeface="Cambria" pitchFamily="34" charset="0"/>
                <a:ea typeface="Cambria" pitchFamily="34" charset="-122"/>
                <a:cs typeface="Cambria" pitchFamily="34" charset="-120"/>
              </a:rPr>
              <a:t>The type gate</a:t>
            </a:r>
            <a:endParaRPr lang="en-US" sz="1500" dirty="0"/>
          </a:p>
        </p:txBody>
      </p:sp>
      <p:sp>
        <p:nvSpPr>
          <p:cNvPr id="32" name="Text 30"/>
          <p:cNvSpPr/>
          <p:nvPr/>
        </p:nvSpPr>
        <p:spPr>
          <a:xfrm>
            <a:off x="6583680" y="4443984"/>
            <a:ext cx="4754880" cy="749808"/>
          </a:xfrm>
          <a:prstGeom prst="rect">
            <a:avLst/>
          </a:prstGeom>
          <a:noFill/>
          <a:ln/>
        </p:spPr>
        <p:txBody>
          <a:bodyPr wrap="square" lIns="0" tIns="0" rIns="0" bIns="0" rtlCol="0" anchor="ctr"/>
          <a:lstStyle/>
          <a:p>
            <a:pPr indent="0" marL="0">
              <a:buNone/>
            </a:pPr>
            <a:r>
              <a:rPr lang="en-US" sz="1150" dirty="0">
                <a:solidFill>
                  <a:srgbClr val="D8CFC4"/>
                </a:solidFill>
                <a:latin typeface="Calibri" pitchFamily="34" charset="0"/>
                <a:ea typeface="Calibri" pitchFamily="34" charset="-122"/>
                <a:cs typeface="Calibri" pitchFamily="34" charset="-120"/>
              </a:rPr>
              <a:t>The engine returns RawPrice. Only guardrails.apply() can construct a FinalPrice — it holds a module-private token — and the API will only serialise a FinalPrice.</a:t>
            </a:r>
            <a:endParaRPr lang="en-US" sz="1150" dirty="0"/>
          </a:p>
        </p:txBody>
      </p:sp>
      <p:sp>
        <p:nvSpPr>
          <p:cNvPr id="33" name="Text 31"/>
          <p:cNvSpPr/>
          <p:nvPr/>
        </p:nvSpPr>
        <p:spPr>
          <a:xfrm>
            <a:off x="6583680" y="5212080"/>
            <a:ext cx="4754880"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So "guardrails always run" is a property of the type system, not a convention somebody has to remember.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INGESTION</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A real scraper, pointed at a site that permits it</a:t>
            </a:r>
            <a:endParaRPr lang="en-US" sz="3200" dirty="0"/>
          </a:p>
        </p:txBody>
      </p:sp>
      <p:sp>
        <p:nvSpPr>
          <p:cNvPr id="4" name="Shape 2"/>
          <p:cNvSpPr/>
          <p:nvPr/>
        </p:nvSpPr>
        <p:spPr>
          <a:xfrm>
            <a:off x="566928" y="1481328"/>
            <a:ext cx="5394960" cy="2084832"/>
          </a:xfrm>
          <a:prstGeom prst="roundRect">
            <a:avLst>
              <a:gd name="adj" fmla="val 2632"/>
            </a:avLst>
          </a:prstGeom>
          <a:solidFill>
            <a:srgbClr val="FBF8F2"/>
          </a:solidFill>
          <a:ln/>
          <a:effectLst>
            <a:outerShdw sx="100000" sy="100000" kx="0" ky="0" algn="bl" rotWithShape="0" blurRad="101600" dist="508" dir="5400000">
              <a:srgbClr val="000000">
                <a:alpha val="10000"/>
              </a:srgbClr>
            </a:outerShdw>
          </a:effectLst>
        </p:spPr>
      </p:sp>
      <p:sp>
        <p:nvSpPr>
          <p:cNvPr id="5" name="Text 3"/>
          <p:cNvSpPr/>
          <p:nvPr/>
        </p:nvSpPr>
        <p:spPr>
          <a:xfrm>
            <a:off x="841248" y="1645920"/>
            <a:ext cx="4846320" cy="292608"/>
          </a:xfrm>
          <a:prstGeom prst="rect">
            <a:avLst/>
          </a:prstGeom>
          <a:noFill/>
          <a:ln/>
        </p:spPr>
        <p:txBody>
          <a:bodyPr wrap="square" lIns="0" tIns="0" rIns="0" bIns="0" rtlCol="0" anchor="ctr"/>
          <a:lstStyle/>
          <a:p>
            <a:pPr indent="0" marL="0">
              <a:buNone/>
            </a:pPr>
            <a:r>
              <a:rPr lang="en-US" sz="1500" b="1" dirty="0">
                <a:solidFill>
                  <a:srgbClr val="2B2118"/>
                </a:solidFill>
                <a:latin typeface="Cambria" pitchFamily="34" charset="0"/>
                <a:ea typeface="Cambria" pitchFamily="34" charset="-122"/>
                <a:cs typeface="Cambria" pitchFamily="34" charset="-120"/>
              </a:rPr>
              <a:t>The problem</a:t>
            </a:r>
            <a:endParaRPr lang="en-US" sz="1500" dirty="0"/>
          </a:p>
        </p:txBody>
      </p:sp>
      <p:sp>
        <p:nvSpPr>
          <p:cNvPr id="6" name="Text 4"/>
          <p:cNvSpPr/>
          <p:nvPr/>
        </p:nvSpPr>
        <p:spPr>
          <a:xfrm>
            <a:off x="841248" y="1975104"/>
            <a:ext cx="4846320" cy="1005840"/>
          </a:xfrm>
          <a:prstGeom prst="rect">
            <a:avLst/>
          </a:prstGeom>
          <a:noFill/>
          <a:ln/>
        </p:spPr>
        <p:txBody>
          <a:bodyPr wrap="square" lIns="0" tIns="0" rIns="0" bIns="0" rtlCol="0" anchor="ctr"/>
          <a:lstStyle/>
          <a:p>
            <a:pPr indent="0" marL="0">
              <a:buNone/>
            </a:pPr>
            <a:r>
              <a:rPr lang="en-US" sz="1200" dirty="0">
                <a:solidFill>
                  <a:srgbClr val="2B2118"/>
                </a:solidFill>
                <a:latin typeface="Calibri" pitchFamily="34" charset="0"/>
                <a:ea typeface="Calibri" pitchFamily="34" charset="-122"/>
                <a:cs typeface="Calibri" pitchFamily="34" charset="-120"/>
              </a:rPr>
              <a:t>Booking.com and Expedia both disallow the search paths their scrapers would need, in robots.txt. The scraper honours robots.txt — so pointing at them correctly produces ScraperBlocked and collects nothing.</a:t>
            </a:r>
            <a:endParaRPr lang="en-US" sz="1200" dirty="0"/>
          </a:p>
        </p:txBody>
      </p:sp>
      <p:sp>
        <p:nvSpPr>
          <p:cNvPr id="7" name="Text 5"/>
          <p:cNvSpPr/>
          <p:nvPr/>
        </p:nvSpPr>
        <p:spPr>
          <a:xfrm>
            <a:off x="841248" y="3017520"/>
            <a:ext cx="4846320" cy="402336"/>
          </a:xfrm>
          <a:prstGeom prst="rect">
            <a:avLst/>
          </a:prstGeom>
          <a:noFill/>
          <a:ln/>
        </p:spPr>
        <p:txBody>
          <a:bodyPr wrap="square" lIns="0" tIns="0" rIns="0" bIns="0" rtlCol="0" anchor="ctr"/>
          <a:lstStyle/>
          <a:p>
            <a:pPr indent="0" marL="0">
              <a:buNone/>
            </a:pPr>
            <a:r>
              <a:rPr lang="en-US" sz="1150" b="1" i="1" dirty="0">
                <a:solidFill>
                  <a:srgbClr val="8E3B32"/>
                </a:solidFill>
                <a:latin typeface="Calibri" pitchFamily="34" charset="0"/>
                <a:ea typeface="Calibri" pitchFamily="34" charset="-122"/>
                <a:cs typeface="Calibri" pitchFamily="34" charset="-120"/>
              </a:rPr>
              <a:t>Two options: delete the check, or scrape something that says yes.</a:t>
            </a:r>
            <a:endParaRPr lang="en-US" sz="1150" dirty="0"/>
          </a:p>
        </p:txBody>
      </p:sp>
      <p:sp>
        <p:nvSpPr>
          <p:cNvPr id="8" name="Shape 6"/>
          <p:cNvSpPr/>
          <p:nvPr/>
        </p:nvSpPr>
        <p:spPr>
          <a:xfrm>
            <a:off x="6236208" y="1481328"/>
            <a:ext cx="5385816" cy="2084832"/>
          </a:xfrm>
          <a:prstGeom prst="roundRect">
            <a:avLst>
              <a:gd name="adj" fmla="val 2632"/>
            </a:avLst>
          </a:prstGeom>
          <a:solidFill>
            <a:srgbClr val="EFEAD8"/>
          </a:solidFill>
          <a:ln/>
          <a:effectLst>
            <a:outerShdw sx="100000" sy="100000" kx="0" ky="0" algn="bl" rotWithShape="0" blurRad="101600" dist="508" dir="5400000">
              <a:srgbClr val="000000">
                <a:alpha val="10000"/>
              </a:srgbClr>
            </a:outerShdw>
          </a:effectLst>
        </p:spPr>
      </p:sp>
      <p:sp>
        <p:nvSpPr>
          <p:cNvPr id="9" name="Text 7"/>
          <p:cNvSpPr/>
          <p:nvPr/>
        </p:nvSpPr>
        <p:spPr>
          <a:xfrm>
            <a:off x="6510528" y="1645920"/>
            <a:ext cx="4846320" cy="292608"/>
          </a:xfrm>
          <a:prstGeom prst="rect">
            <a:avLst/>
          </a:prstGeom>
          <a:noFill/>
          <a:ln/>
        </p:spPr>
        <p:txBody>
          <a:bodyPr wrap="square" lIns="0" tIns="0" rIns="0" bIns="0" rtlCol="0" anchor="ctr"/>
          <a:lstStyle/>
          <a:p>
            <a:pPr indent="0" marL="0">
              <a:buNone/>
            </a:pPr>
            <a:r>
              <a:rPr lang="en-US" sz="1500" b="1" dirty="0">
                <a:solidFill>
                  <a:srgbClr val="8E3B32"/>
                </a:solidFill>
                <a:latin typeface="Cambria" pitchFamily="34" charset="0"/>
                <a:ea typeface="Cambria" pitchFamily="34" charset="-122"/>
                <a:cs typeface="Cambria" pitchFamily="34" charset="-120"/>
              </a:rPr>
              <a:t>The decision</a:t>
            </a:r>
            <a:endParaRPr lang="en-US" sz="1500" dirty="0"/>
          </a:p>
        </p:txBody>
      </p:sp>
      <p:sp>
        <p:nvSpPr>
          <p:cNvPr id="10" name="Text 8"/>
          <p:cNvSpPr/>
          <p:nvPr/>
        </p:nvSpPr>
        <p:spPr>
          <a:xfrm>
            <a:off x="6510528" y="1975104"/>
            <a:ext cx="4846320" cy="1005840"/>
          </a:xfrm>
          <a:prstGeom prst="rect">
            <a:avLst/>
          </a:prstGeom>
          <a:noFill/>
          <a:ln/>
        </p:spPr>
        <p:txBody>
          <a:bodyPr wrap="square" lIns="0" tIns="0" rIns="0" bIns="0" rtlCol="0" anchor="ctr"/>
          <a:lstStyle/>
          <a:p>
            <a:pPr indent="0" marL="0">
              <a:buNone/>
            </a:pPr>
            <a:r>
              <a:rPr lang="en-US" sz="1200" dirty="0">
                <a:solidFill>
                  <a:srgbClr val="2B2118"/>
                </a:solidFill>
                <a:latin typeface="Calibri" pitchFamily="34" charset="0"/>
                <a:ea typeface="Calibri" pitchFamily="34" charset="-122"/>
                <a:cs typeface="Calibri" pitchFamily="34" charset="-120"/>
              </a:rPr>
              <a:t>The project ships demo_ota/ — a real web server with real HTML and its own robots.txt that allows /search. The scraper fetches it over the network, reads the policy, parses CSS selectors, respects the rate limiter.</a:t>
            </a:r>
            <a:endParaRPr lang="en-US" sz="1200" dirty="0"/>
          </a:p>
        </p:txBody>
      </p:sp>
      <p:sp>
        <p:nvSpPr>
          <p:cNvPr id="11" name="Text 9"/>
          <p:cNvSpPr/>
          <p:nvPr/>
        </p:nvSpPr>
        <p:spPr>
          <a:xfrm>
            <a:off x="6510528" y="3017520"/>
            <a:ext cx="4846320" cy="402336"/>
          </a:xfrm>
          <a:prstGeom prst="rect">
            <a:avLst/>
          </a:prstGeom>
          <a:noFill/>
          <a:ln/>
        </p:spPr>
        <p:txBody>
          <a:bodyPr wrap="square" lIns="0" tIns="0" rIns="0" bIns="0" rtlCol="0" anchor="ctr"/>
          <a:lstStyle/>
          <a:p>
            <a:pPr indent="0" marL="0">
              <a:buNone/>
            </a:pPr>
            <a:r>
              <a:rPr lang="en-US" sz="1150" b="1" i="1" dirty="0">
                <a:solidFill>
                  <a:srgbClr val="8E3B32"/>
                </a:solidFill>
                <a:latin typeface="Calibri" pitchFamily="34" charset="0"/>
                <a:ea typeface="Calibri" pitchFamily="34" charset="-122"/>
                <a:cs typeface="Calibri" pitchFamily="34" charset="-120"/>
              </a:rPr>
              <a:t>Every part of the scraping stack is real. Only the server's owner differs.</a:t>
            </a:r>
            <a:endParaRPr lang="en-US" sz="1150" dirty="0"/>
          </a:p>
        </p:txBody>
      </p:sp>
      <p:sp>
        <p:nvSpPr>
          <p:cNvPr id="12" name="Text 10"/>
          <p:cNvSpPr/>
          <p:nvPr/>
        </p:nvSpPr>
        <p:spPr>
          <a:xfrm>
            <a:off x="566928" y="3749040"/>
            <a:ext cx="11055096" cy="310896"/>
          </a:xfrm>
          <a:prstGeom prst="rect">
            <a:avLst/>
          </a:prstGeom>
          <a:noFill/>
          <a:ln/>
        </p:spPr>
        <p:txBody>
          <a:bodyPr wrap="square" lIns="0" tIns="0" rIns="0" bIns="0" rtlCol="0" anchor="ctr"/>
          <a:lstStyle/>
          <a:p>
            <a:pPr indent="0" marL="0">
              <a:buNone/>
            </a:pPr>
            <a:r>
              <a:rPr lang="en-US" sz="1400" b="1" dirty="0">
                <a:solidFill>
                  <a:srgbClr val="2B2118"/>
                </a:solidFill>
                <a:latin typeface="Cambria" pitchFamily="34" charset="0"/>
                <a:ea typeface="Cambria" pitchFamily="34" charset="-122"/>
                <a:cs typeface="Cambria" pitchFamily="34" charset="-120"/>
              </a:rPr>
              <a:t>One interface, four implementations — swapping in a licensed feed is one subclass</a:t>
            </a:r>
            <a:endParaRPr lang="en-US" sz="1400" dirty="0"/>
          </a:p>
        </p:txBody>
      </p:sp>
      <p:sp>
        <p:nvSpPr>
          <p:cNvPr id="13" name="Shape 11"/>
          <p:cNvSpPr/>
          <p:nvPr/>
        </p:nvSpPr>
        <p:spPr>
          <a:xfrm>
            <a:off x="566928" y="4151376"/>
            <a:ext cx="2606040" cy="1133856"/>
          </a:xfrm>
          <a:prstGeom prst="roundRect">
            <a:avLst>
              <a:gd name="adj" fmla="val 4839"/>
            </a:avLst>
          </a:prstGeom>
          <a:solidFill>
            <a:srgbClr val="FBF8F2"/>
          </a:solidFill>
          <a:ln/>
          <a:effectLst>
            <a:outerShdw sx="100000" sy="100000" kx="0" ky="0" algn="bl" rotWithShape="0" blurRad="101600" dist="508" dir="5400000">
              <a:srgbClr val="000000">
                <a:alpha val="10000"/>
              </a:srgbClr>
            </a:outerShdw>
          </a:effectLst>
        </p:spPr>
      </p:sp>
      <p:sp>
        <p:nvSpPr>
          <p:cNvPr id="14" name="Text 12"/>
          <p:cNvSpPr/>
          <p:nvPr/>
        </p:nvSpPr>
        <p:spPr>
          <a:xfrm>
            <a:off x="749808" y="4279392"/>
            <a:ext cx="2240280" cy="274320"/>
          </a:xfrm>
          <a:prstGeom prst="rect">
            <a:avLst/>
          </a:prstGeom>
          <a:noFill/>
          <a:ln/>
        </p:spPr>
        <p:txBody>
          <a:bodyPr wrap="square" lIns="0" tIns="0" rIns="0" bIns="0" rtlCol="0" anchor="ctr"/>
          <a:lstStyle/>
          <a:p>
            <a:pPr indent="0" marL="0">
              <a:buNone/>
            </a:pPr>
            <a:r>
              <a:rPr lang="en-US" sz="1200" b="1" dirty="0">
                <a:solidFill>
                  <a:srgbClr val="2B2118"/>
                </a:solidFill>
                <a:latin typeface="Courier New" pitchFamily="34" charset="0"/>
                <a:ea typeface="Courier New" pitchFamily="34" charset="-122"/>
                <a:cs typeface="Courier New" pitchFamily="34" charset="-120"/>
              </a:rPr>
              <a:t>synthetic</a:t>
            </a:r>
            <a:endParaRPr lang="en-US" sz="1200" dirty="0"/>
          </a:p>
        </p:txBody>
      </p:sp>
      <p:sp>
        <p:nvSpPr>
          <p:cNvPr id="15" name="Text 13"/>
          <p:cNvSpPr/>
          <p:nvPr/>
        </p:nvSpPr>
        <p:spPr>
          <a:xfrm>
            <a:off x="749808" y="4553712"/>
            <a:ext cx="2240280" cy="256032"/>
          </a:xfrm>
          <a:prstGeom prst="rect">
            <a:avLst/>
          </a:prstGeom>
          <a:noFill/>
          <a:ln/>
        </p:spPr>
        <p:txBody>
          <a:bodyPr wrap="square" lIns="0" tIns="0" rIns="0" bIns="0" rtlCol="0" anchor="ctr"/>
          <a:lstStyle/>
          <a:p>
            <a:pPr indent="0" marL="0">
              <a:buNone/>
            </a:pPr>
            <a:r>
              <a:rPr lang="en-US" sz="1000" b="1" dirty="0">
                <a:solidFill>
                  <a:srgbClr val="776A5F"/>
                </a:solidFill>
                <a:latin typeface="Calibri" pitchFamily="34" charset="0"/>
                <a:ea typeface="Calibri" pitchFamily="34" charset="-122"/>
                <a:cs typeface="Calibri" pitchFamily="34" charset="-120"/>
              </a:rPr>
              <a:t>no network</a:t>
            </a:r>
            <a:endParaRPr lang="en-US" sz="1000" dirty="0"/>
          </a:p>
        </p:txBody>
      </p:sp>
      <p:sp>
        <p:nvSpPr>
          <p:cNvPr id="16" name="Text 14"/>
          <p:cNvSpPr/>
          <p:nvPr/>
        </p:nvSpPr>
        <p:spPr>
          <a:xfrm>
            <a:off x="749808" y="4791456"/>
            <a:ext cx="2240280" cy="420624"/>
          </a:xfrm>
          <a:prstGeom prst="rect">
            <a:avLst/>
          </a:prstGeom>
          <a:noFill/>
          <a:ln/>
        </p:spPr>
        <p:txBody>
          <a:bodyPr wrap="square" lIns="0" tIns="0" rIns="0" bIns="0" rtlCol="0" anchor="ctr"/>
          <a:lstStyle/>
          <a:p>
            <a:pPr indent="0" marL="0">
              <a:buNone/>
            </a:pPr>
            <a:r>
              <a:rPr lang="en-US" sz="1000" dirty="0">
                <a:solidFill>
                  <a:srgbClr val="776A5F"/>
                </a:solidFill>
                <a:latin typeface="Calibri" pitchFamily="34" charset="0"/>
                <a:ea typeface="Calibri" pitchFamily="34" charset="-122"/>
                <a:cs typeface="Calibri" pitchFamily="34" charset="-120"/>
              </a:rPr>
              <a:t>offline generator, deterministic</a:t>
            </a:r>
            <a:endParaRPr lang="en-US" sz="1000" dirty="0"/>
          </a:p>
        </p:txBody>
      </p:sp>
      <p:sp>
        <p:nvSpPr>
          <p:cNvPr id="17" name="Shape 15"/>
          <p:cNvSpPr/>
          <p:nvPr/>
        </p:nvSpPr>
        <p:spPr>
          <a:xfrm>
            <a:off x="3355848" y="4151376"/>
            <a:ext cx="2606040" cy="1133856"/>
          </a:xfrm>
          <a:prstGeom prst="roundRect">
            <a:avLst>
              <a:gd name="adj" fmla="val 4839"/>
            </a:avLst>
          </a:prstGeom>
          <a:solidFill>
            <a:srgbClr val="EFEAD8"/>
          </a:solidFill>
          <a:ln/>
          <a:effectLst>
            <a:outerShdw sx="100000" sy="100000" kx="0" ky="0" algn="bl" rotWithShape="0" blurRad="101600" dist="508" dir="5400000">
              <a:srgbClr val="000000">
                <a:alpha val="10000"/>
              </a:srgbClr>
            </a:outerShdw>
          </a:effectLst>
        </p:spPr>
      </p:sp>
      <p:sp>
        <p:nvSpPr>
          <p:cNvPr id="18" name="Text 16"/>
          <p:cNvSpPr/>
          <p:nvPr/>
        </p:nvSpPr>
        <p:spPr>
          <a:xfrm>
            <a:off x="3538728" y="4279392"/>
            <a:ext cx="2240280" cy="274320"/>
          </a:xfrm>
          <a:prstGeom prst="rect">
            <a:avLst/>
          </a:prstGeom>
          <a:noFill/>
          <a:ln/>
        </p:spPr>
        <p:txBody>
          <a:bodyPr wrap="square" lIns="0" tIns="0" rIns="0" bIns="0" rtlCol="0" anchor="ctr"/>
          <a:lstStyle/>
          <a:p>
            <a:pPr indent="0" marL="0">
              <a:buNone/>
            </a:pPr>
            <a:r>
              <a:rPr lang="en-US" sz="1200" b="1" dirty="0">
                <a:solidFill>
                  <a:srgbClr val="8E3B32"/>
                </a:solidFill>
                <a:latin typeface="Courier New" pitchFamily="34" charset="0"/>
                <a:ea typeface="Courier New" pitchFamily="34" charset="-122"/>
                <a:cs typeface="Courier New" pitchFamily="34" charset="-120"/>
              </a:rPr>
              <a:t>demo_ota</a:t>
            </a:r>
            <a:endParaRPr lang="en-US" sz="1200" dirty="0"/>
          </a:p>
        </p:txBody>
      </p:sp>
      <p:sp>
        <p:nvSpPr>
          <p:cNvPr id="19" name="Text 17"/>
          <p:cNvSpPr/>
          <p:nvPr/>
        </p:nvSpPr>
        <p:spPr>
          <a:xfrm>
            <a:off x="3538728" y="4553712"/>
            <a:ext cx="2240280" cy="256032"/>
          </a:xfrm>
          <a:prstGeom prst="rect">
            <a:avLst/>
          </a:prstGeom>
          <a:noFill/>
          <a:ln/>
        </p:spPr>
        <p:txBody>
          <a:bodyPr wrap="square" lIns="0" tIns="0" rIns="0" bIns="0" rtlCol="0" anchor="ctr"/>
          <a:lstStyle/>
          <a:p>
            <a:pPr indent="0" marL="0">
              <a:buNone/>
            </a:pPr>
            <a:r>
              <a:rPr lang="en-US" sz="1000" b="1" dirty="0">
                <a:solidFill>
                  <a:srgbClr val="B85042"/>
                </a:solidFill>
                <a:latin typeface="Calibri" pitchFamily="34" charset="0"/>
                <a:ea typeface="Calibri" pitchFamily="34" charset="-122"/>
                <a:cs typeface="Calibri" pitchFamily="34" charset="-120"/>
              </a:rPr>
              <a:t>REAL scraping</a:t>
            </a:r>
            <a:endParaRPr lang="en-US" sz="1000" dirty="0"/>
          </a:p>
        </p:txBody>
      </p:sp>
      <p:sp>
        <p:nvSpPr>
          <p:cNvPr id="20" name="Text 18"/>
          <p:cNvSpPr/>
          <p:nvPr/>
        </p:nvSpPr>
        <p:spPr>
          <a:xfrm>
            <a:off x="3538728" y="4791456"/>
            <a:ext cx="2240280" cy="420624"/>
          </a:xfrm>
          <a:prstGeom prst="rect">
            <a:avLst/>
          </a:prstGeom>
          <a:noFill/>
          <a:ln/>
        </p:spPr>
        <p:txBody>
          <a:bodyPr wrap="square" lIns="0" tIns="0" rIns="0" bIns="0" rtlCol="0" anchor="ctr"/>
          <a:lstStyle/>
          <a:p>
            <a:pPr indent="0" marL="0">
              <a:buNone/>
            </a:pPr>
            <a:r>
              <a:rPr lang="en-US" sz="1000" dirty="0">
                <a:solidFill>
                  <a:srgbClr val="776A5F"/>
                </a:solidFill>
                <a:latin typeface="Calibri" pitchFamily="34" charset="0"/>
                <a:ea typeface="Calibri" pitchFamily="34" charset="-122"/>
                <a:cs typeface="Calibri" pitchFamily="34" charset="-120"/>
              </a:rPr>
              <a:t>the default under Docker</a:t>
            </a:r>
            <a:endParaRPr lang="en-US" sz="1000" dirty="0"/>
          </a:p>
        </p:txBody>
      </p:sp>
      <p:sp>
        <p:nvSpPr>
          <p:cNvPr id="21" name="Shape 19"/>
          <p:cNvSpPr/>
          <p:nvPr/>
        </p:nvSpPr>
        <p:spPr>
          <a:xfrm>
            <a:off x="6144768" y="4151376"/>
            <a:ext cx="2606040" cy="1133856"/>
          </a:xfrm>
          <a:prstGeom prst="roundRect">
            <a:avLst>
              <a:gd name="adj" fmla="val 4839"/>
            </a:avLst>
          </a:prstGeom>
          <a:solidFill>
            <a:srgbClr val="FBF8F2"/>
          </a:solidFill>
          <a:ln/>
          <a:effectLst>
            <a:outerShdw sx="100000" sy="100000" kx="0" ky="0" algn="bl" rotWithShape="0" blurRad="101600" dist="508" dir="5400000">
              <a:srgbClr val="000000">
                <a:alpha val="10000"/>
              </a:srgbClr>
            </a:outerShdw>
          </a:effectLst>
        </p:spPr>
      </p:sp>
      <p:sp>
        <p:nvSpPr>
          <p:cNvPr id="22" name="Text 20"/>
          <p:cNvSpPr/>
          <p:nvPr/>
        </p:nvSpPr>
        <p:spPr>
          <a:xfrm>
            <a:off x="6327648" y="4279392"/>
            <a:ext cx="2240280" cy="274320"/>
          </a:xfrm>
          <a:prstGeom prst="rect">
            <a:avLst/>
          </a:prstGeom>
          <a:noFill/>
          <a:ln/>
        </p:spPr>
        <p:txBody>
          <a:bodyPr wrap="square" lIns="0" tIns="0" rIns="0" bIns="0" rtlCol="0" anchor="ctr"/>
          <a:lstStyle/>
          <a:p>
            <a:pPr indent="0" marL="0">
              <a:buNone/>
            </a:pPr>
            <a:r>
              <a:rPr lang="en-US" sz="1200" b="1" dirty="0">
                <a:solidFill>
                  <a:srgbClr val="2B2118"/>
                </a:solidFill>
                <a:latin typeface="Courier New" pitchFamily="34" charset="0"/>
                <a:ea typeface="Courier New" pitchFamily="34" charset="-122"/>
                <a:cs typeface="Courier New" pitchFamily="34" charset="-120"/>
              </a:rPr>
              <a:t>booking</a:t>
            </a:r>
            <a:endParaRPr lang="en-US" sz="1200" dirty="0"/>
          </a:p>
        </p:txBody>
      </p:sp>
      <p:sp>
        <p:nvSpPr>
          <p:cNvPr id="23" name="Text 21"/>
          <p:cNvSpPr/>
          <p:nvPr/>
        </p:nvSpPr>
        <p:spPr>
          <a:xfrm>
            <a:off x="6327648" y="4553712"/>
            <a:ext cx="2240280" cy="256032"/>
          </a:xfrm>
          <a:prstGeom prst="rect">
            <a:avLst/>
          </a:prstGeom>
          <a:noFill/>
          <a:ln/>
        </p:spPr>
        <p:txBody>
          <a:bodyPr wrap="square" lIns="0" tIns="0" rIns="0" bIns="0" rtlCol="0" anchor="ctr"/>
          <a:lstStyle/>
          <a:p>
            <a:pPr indent="0" marL="0">
              <a:buNone/>
            </a:pPr>
            <a:r>
              <a:rPr lang="en-US" sz="1000" b="1" dirty="0">
                <a:solidFill>
                  <a:srgbClr val="776A5F"/>
                </a:solidFill>
                <a:latin typeface="Calibri" pitchFamily="34" charset="0"/>
                <a:ea typeface="Calibri" pitchFamily="34" charset="-122"/>
                <a:cs typeface="Calibri" pitchFamily="34" charset="-120"/>
              </a:rPr>
              <a:t>third-party</a:t>
            </a:r>
            <a:endParaRPr lang="en-US" sz="1000" dirty="0"/>
          </a:p>
        </p:txBody>
      </p:sp>
      <p:sp>
        <p:nvSpPr>
          <p:cNvPr id="24" name="Text 22"/>
          <p:cNvSpPr/>
          <p:nvPr/>
        </p:nvSpPr>
        <p:spPr>
          <a:xfrm>
            <a:off x="6327648" y="4791456"/>
            <a:ext cx="2240280" cy="420624"/>
          </a:xfrm>
          <a:prstGeom prst="rect">
            <a:avLst/>
          </a:prstGeom>
          <a:noFill/>
          <a:ln/>
        </p:spPr>
        <p:txBody>
          <a:bodyPr wrap="square" lIns="0" tIns="0" rIns="0" bIns="0" rtlCol="0" anchor="ctr"/>
          <a:lstStyle/>
          <a:p>
            <a:pPr indent="0" marL="0">
              <a:buNone/>
            </a:pPr>
            <a:r>
              <a:rPr lang="en-US" sz="1000" dirty="0">
                <a:solidFill>
                  <a:srgbClr val="776A5F"/>
                </a:solidFill>
                <a:latin typeface="Calibri" pitchFamily="34" charset="0"/>
                <a:ea typeface="Calibri" pitchFamily="34" charset="-122"/>
                <a:cs typeface="Calibri" pitchFamily="34" charset="-120"/>
              </a:rPr>
              <a:t>opt-in twice, robots refuses</a:t>
            </a:r>
            <a:endParaRPr lang="en-US" sz="1000" dirty="0"/>
          </a:p>
        </p:txBody>
      </p:sp>
      <p:sp>
        <p:nvSpPr>
          <p:cNvPr id="25" name="Shape 23"/>
          <p:cNvSpPr/>
          <p:nvPr/>
        </p:nvSpPr>
        <p:spPr>
          <a:xfrm>
            <a:off x="8933688" y="4151376"/>
            <a:ext cx="2606040" cy="1133856"/>
          </a:xfrm>
          <a:prstGeom prst="roundRect">
            <a:avLst>
              <a:gd name="adj" fmla="val 4839"/>
            </a:avLst>
          </a:prstGeom>
          <a:solidFill>
            <a:srgbClr val="FBF8F2"/>
          </a:solidFill>
          <a:ln/>
          <a:effectLst>
            <a:outerShdw sx="100000" sy="100000" kx="0" ky="0" algn="bl" rotWithShape="0" blurRad="101600" dist="508" dir="5400000">
              <a:srgbClr val="000000">
                <a:alpha val="10000"/>
              </a:srgbClr>
            </a:outerShdw>
          </a:effectLst>
        </p:spPr>
      </p:sp>
      <p:sp>
        <p:nvSpPr>
          <p:cNvPr id="26" name="Text 24"/>
          <p:cNvSpPr/>
          <p:nvPr/>
        </p:nvSpPr>
        <p:spPr>
          <a:xfrm>
            <a:off x="9116568" y="4279392"/>
            <a:ext cx="2240280" cy="274320"/>
          </a:xfrm>
          <a:prstGeom prst="rect">
            <a:avLst/>
          </a:prstGeom>
          <a:noFill/>
          <a:ln/>
        </p:spPr>
        <p:txBody>
          <a:bodyPr wrap="square" lIns="0" tIns="0" rIns="0" bIns="0" rtlCol="0" anchor="ctr"/>
          <a:lstStyle/>
          <a:p>
            <a:pPr indent="0" marL="0">
              <a:buNone/>
            </a:pPr>
            <a:r>
              <a:rPr lang="en-US" sz="1200" b="1" dirty="0">
                <a:solidFill>
                  <a:srgbClr val="2B2118"/>
                </a:solidFill>
                <a:latin typeface="Courier New" pitchFamily="34" charset="0"/>
                <a:ea typeface="Courier New" pitchFamily="34" charset="-122"/>
                <a:cs typeface="Courier New" pitchFamily="34" charset="-120"/>
              </a:rPr>
              <a:t>expedia</a:t>
            </a:r>
            <a:endParaRPr lang="en-US" sz="1200" dirty="0"/>
          </a:p>
        </p:txBody>
      </p:sp>
      <p:sp>
        <p:nvSpPr>
          <p:cNvPr id="27" name="Text 25"/>
          <p:cNvSpPr/>
          <p:nvPr/>
        </p:nvSpPr>
        <p:spPr>
          <a:xfrm>
            <a:off x="9116568" y="4553712"/>
            <a:ext cx="2240280" cy="256032"/>
          </a:xfrm>
          <a:prstGeom prst="rect">
            <a:avLst/>
          </a:prstGeom>
          <a:noFill/>
          <a:ln/>
        </p:spPr>
        <p:txBody>
          <a:bodyPr wrap="square" lIns="0" tIns="0" rIns="0" bIns="0" rtlCol="0" anchor="ctr"/>
          <a:lstStyle/>
          <a:p>
            <a:pPr indent="0" marL="0">
              <a:buNone/>
            </a:pPr>
            <a:r>
              <a:rPr lang="en-US" sz="1000" b="1" dirty="0">
                <a:solidFill>
                  <a:srgbClr val="776A5F"/>
                </a:solidFill>
                <a:latin typeface="Calibri" pitchFamily="34" charset="0"/>
                <a:ea typeface="Calibri" pitchFamily="34" charset="-122"/>
                <a:cs typeface="Calibri" pitchFamily="34" charset="-120"/>
              </a:rPr>
              <a:t>third-party</a:t>
            </a:r>
            <a:endParaRPr lang="en-US" sz="1000" dirty="0"/>
          </a:p>
        </p:txBody>
      </p:sp>
      <p:sp>
        <p:nvSpPr>
          <p:cNvPr id="28" name="Text 26"/>
          <p:cNvSpPr/>
          <p:nvPr/>
        </p:nvSpPr>
        <p:spPr>
          <a:xfrm>
            <a:off x="9116568" y="4791456"/>
            <a:ext cx="2240280" cy="420624"/>
          </a:xfrm>
          <a:prstGeom prst="rect">
            <a:avLst/>
          </a:prstGeom>
          <a:noFill/>
          <a:ln/>
        </p:spPr>
        <p:txBody>
          <a:bodyPr wrap="square" lIns="0" tIns="0" rIns="0" bIns="0" rtlCol="0" anchor="ctr"/>
          <a:lstStyle/>
          <a:p>
            <a:pPr indent="0" marL="0">
              <a:buNone/>
            </a:pPr>
            <a:r>
              <a:rPr lang="en-US" sz="1000" dirty="0">
                <a:solidFill>
                  <a:srgbClr val="776A5F"/>
                </a:solidFill>
                <a:latin typeface="Calibri" pitchFamily="34" charset="0"/>
                <a:ea typeface="Calibri" pitchFamily="34" charset="-122"/>
                <a:cs typeface="Calibri" pitchFamily="34" charset="-120"/>
              </a:rPr>
              <a:t>opt-in twice, robots refuses</a:t>
            </a:r>
            <a:endParaRPr lang="en-US" sz="1000" dirty="0"/>
          </a:p>
        </p:txBody>
      </p:sp>
      <p:sp>
        <p:nvSpPr>
          <p:cNvPr id="29" name="Text 27"/>
          <p:cNvSpPr/>
          <p:nvPr/>
        </p:nvSpPr>
        <p:spPr>
          <a:xfrm>
            <a:off x="566928" y="5431536"/>
            <a:ext cx="11055096" cy="365760"/>
          </a:xfrm>
          <a:prstGeom prst="rect">
            <a:avLst/>
          </a:prstGeom>
          <a:noFill/>
          <a:ln/>
        </p:spPr>
        <p:txBody>
          <a:bodyPr wrap="square" lIns="0" tIns="0" rIns="0" bIns="0" rtlCol="0" anchor="ctr"/>
          <a:lstStyle/>
          <a:p>
            <a:pPr indent="0" marL="0">
              <a:buNone/>
            </a:pPr>
            <a:r>
              <a:rPr lang="en-US" sz="1100" i="1" dirty="0">
                <a:solidFill>
                  <a:srgbClr val="776A5F"/>
                </a:solidFill>
                <a:latin typeface="Calibri" pitchFamily="34" charset="0"/>
                <a:ea typeface="Calibri" pitchFamily="34" charset="-122"/>
                <a:cs typeface="Calibri" pitchFamily="34" charset="-120"/>
              </a:rPr>
              <a:t>INGESTION_ENABLE_REAL_SCRAPERS gates third-party terms-of-service risk — not "does it use HTTP". Gating demo_ota behind it would put the safe option behind the frightening switch.</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STREAMING</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At-least-once, made safe by idempotent writes</a:t>
            </a:r>
            <a:endParaRPr lang="en-US" sz="3200" dirty="0"/>
          </a:p>
        </p:txBody>
      </p:sp>
      <p:sp>
        <p:nvSpPr>
          <p:cNvPr id="4" name="Shape 2"/>
          <p:cNvSpPr/>
          <p:nvPr/>
        </p:nvSpPr>
        <p:spPr>
          <a:xfrm>
            <a:off x="566928" y="1517904"/>
            <a:ext cx="457200" cy="457200"/>
          </a:xfrm>
          <a:prstGeom prst="ellipse">
            <a:avLst/>
          </a:prstGeom>
          <a:solidFill>
            <a:srgbClr val="B85042"/>
          </a:solidFill>
          <a:ln/>
        </p:spPr>
      </p:sp>
      <p:sp>
        <p:nvSpPr>
          <p:cNvPr id="5" name="Text 3"/>
          <p:cNvSpPr/>
          <p:nvPr/>
        </p:nvSpPr>
        <p:spPr>
          <a:xfrm>
            <a:off x="566928" y="15179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88720" y="1499616"/>
            <a:ext cx="5577840" cy="310896"/>
          </a:xfrm>
          <a:prstGeom prst="rect">
            <a:avLst/>
          </a:prstGeom>
          <a:noFill/>
          <a:ln/>
        </p:spPr>
        <p:txBody>
          <a:bodyPr wrap="square" lIns="0" tIns="0" rIns="0" bIns="0" rtlCol="0" anchor="ctr"/>
          <a:lstStyle/>
          <a:p>
            <a:pPr indent="0" marL="0">
              <a:buNone/>
            </a:pPr>
            <a:r>
              <a:rPr lang="en-US" sz="1350" b="1" dirty="0">
                <a:solidFill>
                  <a:srgbClr val="2B2118"/>
                </a:solidFill>
                <a:latin typeface="Calibri" pitchFamily="34" charset="0"/>
                <a:ea typeface="Calibri" pitchFamily="34" charset="-122"/>
                <a:cs typeface="Calibri" pitchFamily="34" charset="-120"/>
              </a:rPr>
              <a:t>Producer publishes</a:t>
            </a:r>
            <a:endParaRPr lang="en-US" sz="1350" dirty="0"/>
          </a:p>
        </p:txBody>
      </p:sp>
      <p:sp>
        <p:nvSpPr>
          <p:cNvPr id="7" name="Text 5"/>
          <p:cNvSpPr/>
          <p:nvPr/>
        </p:nvSpPr>
        <p:spPr>
          <a:xfrm>
            <a:off x="1188720" y="1810512"/>
            <a:ext cx="5577840" cy="365760"/>
          </a:xfrm>
          <a:prstGeom prst="rect">
            <a:avLst/>
          </a:prstGeom>
          <a:noFill/>
          <a:ln/>
        </p:spPr>
        <p:txBody>
          <a:bodyPr wrap="square" lIns="0" tIns="0" rIns="0" bIns="0" rtlCol="0" anchor="ctr"/>
          <a:lstStyle/>
          <a:p>
            <a:pPr indent="0" marL="0">
              <a:buNone/>
            </a:pPr>
            <a:r>
              <a:rPr lang="en-US" sz="1100" dirty="0">
                <a:solidFill>
                  <a:srgbClr val="776A5F"/>
                </a:solidFill>
                <a:latin typeface="Calibri" pitchFamily="34" charset="0"/>
                <a:ea typeface="Calibri" pitchFamily="34" charset="-122"/>
                <a:cs typeface="Calibri" pitchFamily="34" charset="-120"/>
              </a:rPr>
              <a:t>Each observation is wrapped in an envelope carrying a uuid4 event_id</a:t>
            </a:r>
            <a:endParaRPr lang="en-US" sz="1100" dirty="0"/>
          </a:p>
        </p:txBody>
      </p:sp>
      <p:sp>
        <p:nvSpPr>
          <p:cNvPr id="8" name="Shape 6"/>
          <p:cNvSpPr/>
          <p:nvPr/>
        </p:nvSpPr>
        <p:spPr>
          <a:xfrm>
            <a:off x="566928" y="2377440"/>
            <a:ext cx="457200" cy="457200"/>
          </a:xfrm>
          <a:prstGeom prst="ellipse">
            <a:avLst/>
          </a:prstGeom>
          <a:solidFill>
            <a:srgbClr val="B85042"/>
          </a:solidFill>
          <a:ln/>
        </p:spPr>
      </p:sp>
      <p:sp>
        <p:nvSpPr>
          <p:cNvPr id="9" name="Text 7"/>
          <p:cNvSpPr/>
          <p:nvPr/>
        </p:nvSpPr>
        <p:spPr>
          <a:xfrm>
            <a:off x="566928" y="23774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88720" y="2359152"/>
            <a:ext cx="5577840" cy="310896"/>
          </a:xfrm>
          <a:prstGeom prst="rect">
            <a:avLst/>
          </a:prstGeom>
          <a:noFill/>
          <a:ln/>
        </p:spPr>
        <p:txBody>
          <a:bodyPr wrap="square" lIns="0" tIns="0" rIns="0" bIns="0" rtlCol="0" anchor="ctr"/>
          <a:lstStyle/>
          <a:p>
            <a:pPr indent="0" marL="0">
              <a:buNone/>
            </a:pPr>
            <a:r>
              <a:rPr lang="en-US" sz="1350" b="1" dirty="0">
                <a:solidFill>
                  <a:srgbClr val="2B2118"/>
                </a:solidFill>
                <a:latin typeface="Calibri" pitchFamily="34" charset="0"/>
                <a:ea typeface="Calibri" pitchFamily="34" charset="-122"/>
                <a:cs typeface="Calibri" pitchFamily="34" charset="-120"/>
              </a:rPr>
              <a:t>Consumer reads a batch</a:t>
            </a:r>
            <a:endParaRPr lang="en-US" sz="1350" dirty="0"/>
          </a:p>
        </p:txBody>
      </p:sp>
      <p:sp>
        <p:nvSpPr>
          <p:cNvPr id="11" name="Text 9"/>
          <p:cNvSpPr/>
          <p:nvPr/>
        </p:nvSpPr>
        <p:spPr>
          <a:xfrm>
            <a:off x="1188720" y="2670048"/>
            <a:ext cx="5577840" cy="365760"/>
          </a:xfrm>
          <a:prstGeom prst="rect">
            <a:avLst/>
          </a:prstGeom>
          <a:noFill/>
          <a:ln/>
        </p:spPr>
        <p:txBody>
          <a:bodyPr wrap="square" lIns="0" tIns="0" rIns="0" bIns="0" rtlCol="0" anchor="ctr"/>
          <a:lstStyle/>
          <a:p>
            <a:pPr indent="0" marL="0">
              <a:buNone/>
            </a:pPr>
            <a:r>
              <a:rPr lang="en-US" sz="1100" dirty="0">
                <a:solidFill>
                  <a:srgbClr val="776A5F"/>
                </a:solidFill>
                <a:latin typeface="Calibri" pitchFamily="34" charset="0"/>
                <a:ea typeface="Calibri" pitchFamily="34" charset="-122"/>
                <a:cs typeface="Calibri" pitchFamily="34" charset="-120"/>
              </a:rPr>
              <a:t>Auto-commit is OFF — this is the whole design</a:t>
            </a:r>
            <a:endParaRPr lang="en-US" sz="1100" dirty="0"/>
          </a:p>
        </p:txBody>
      </p:sp>
      <p:sp>
        <p:nvSpPr>
          <p:cNvPr id="12" name="Shape 10"/>
          <p:cNvSpPr/>
          <p:nvPr/>
        </p:nvSpPr>
        <p:spPr>
          <a:xfrm>
            <a:off x="566928" y="3236976"/>
            <a:ext cx="457200" cy="457200"/>
          </a:xfrm>
          <a:prstGeom prst="ellipse">
            <a:avLst/>
          </a:prstGeom>
          <a:solidFill>
            <a:srgbClr val="B85042"/>
          </a:solidFill>
          <a:ln/>
        </p:spPr>
      </p:sp>
      <p:sp>
        <p:nvSpPr>
          <p:cNvPr id="13" name="Text 11"/>
          <p:cNvSpPr/>
          <p:nvPr/>
        </p:nvSpPr>
        <p:spPr>
          <a:xfrm>
            <a:off x="566928" y="323697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88720" y="3218688"/>
            <a:ext cx="5577840" cy="310896"/>
          </a:xfrm>
          <a:prstGeom prst="rect">
            <a:avLst/>
          </a:prstGeom>
          <a:noFill/>
          <a:ln/>
        </p:spPr>
        <p:txBody>
          <a:bodyPr wrap="square" lIns="0" tIns="0" rIns="0" bIns="0" rtlCol="0" anchor="ctr"/>
          <a:lstStyle/>
          <a:p>
            <a:pPr indent="0" marL="0">
              <a:buNone/>
            </a:pPr>
            <a:r>
              <a:rPr lang="en-US" sz="1350" b="1" dirty="0">
                <a:solidFill>
                  <a:srgbClr val="2B2118"/>
                </a:solidFill>
                <a:latin typeface="Calibri" pitchFamily="34" charset="0"/>
                <a:ea typeface="Calibri" pitchFamily="34" charset="-122"/>
                <a:cs typeface="Calibri" pitchFamily="34" charset="-120"/>
              </a:rPr>
              <a:t>Handler writes to Postgres</a:t>
            </a:r>
            <a:endParaRPr lang="en-US" sz="1350" dirty="0"/>
          </a:p>
        </p:txBody>
      </p:sp>
      <p:sp>
        <p:nvSpPr>
          <p:cNvPr id="15" name="Text 13"/>
          <p:cNvSpPr/>
          <p:nvPr/>
        </p:nvSpPr>
        <p:spPr>
          <a:xfrm>
            <a:off x="1188720" y="3529584"/>
            <a:ext cx="5577840" cy="365760"/>
          </a:xfrm>
          <a:prstGeom prst="rect">
            <a:avLst/>
          </a:prstGeom>
          <a:noFill/>
          <a:ln/>
        </p:spPr>
        <p:txBody>
          <a:bodyPr wrap="square" lIns="0" tIns="0" rIns="0" bIns="0" rtlCol="0" anchor="ctr"/>
          <a:lstStyle/>
          <a:p>
            <a:pPr indent="0" marL="0">
              <a:buNone/>
            </a:pPr>
            <a:r>
              <a:rPr lang="en-US" sz="1100" dirty="0">
                <a:solidFill>
                  <a:srgbClr val="776A5F"/>
                </a:solidFill>
                <a:latin typeface="Calibri" pitchFamily="34" charset="0"/>
                <a:ea typeface="Calibri" pitchFamily="34" charset="-122"/>
                <a:cs typeface="Calibri" pitchFamily="34" charset="-120"/>
              </a:rPr>
              <a:t>INSERT ... ON CONFLICT DO NOTHING on the unique event_id</a:t>
            </a:r>
            <a:endParaRPr lang="en-US" sz="1100" dirty="0"/>
          </a:p>
        </p:txBody>
      </p:sp>
      <p:sp>
        <p:nvSpPr>
          <p:cNvPr id="16" name="Shape 14"/>
          <p:cNvSpPr/>
          <p:nvPr/>
        </p:nvSpPr>
        <p:spPr>
          <a:xfrm>
            <a:off x="566928" y="4096512"/>
            <a:ext cx="457200" cy="457200"/>
          </a:xfrm>
          <a:prstGeom prst="ellipse">
            <a:avLst/>
          </a:prstGeom>
          <a:solidFill>
            <a:srgbClr val="B85042"/>
          </a:solidFill>
          <a:ln/>
        </p:spPr>
      </p:sp>
      <p:sp>
        <p:nvSpPr>
          <p:cNvPr id="17" name="Text 15"/>
          <p:cNvSpPr/>
          <p:nvPr/>
        </p:nvSpPr>
        <p:spPr>
          <a:xfrm>
            <a:off x="566928" y="40965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188720" y="4078224"/>
            <a:ext cx="5577840" cy="310896"/>
          </a:xfrm>
          <a:prstGeom prst="rect">
            <a:avLst/>
          </a:prstGeom>
          <a:noFill/>
          <a:ln/>
        </p:spPr>
        <p:txBody>
          <a:bodyPr wrap="square" lIns="0" tIns="0" rIns="0" bIns="0" rtlCol="0" anchor="ctr"/>
          <a:lstStyle/>
          <a:p>
            <a:pPr indent="0" marL="0">
              <a:buNone/>
            </a:pPr>
            <a:r>
              <a:rPr lang="en-US" sz="1350" b="1" dirty="0">
                <a:solidFill>
                  <a:srgbClr val="2B2118"/>
                </a:solidFill>
                <a:latin typeface="Calibri" pitchFamily="34" charset="0"/>
                <a:ea typeface="Calibri" pitchFamily="34" charset="-122"/>
                <a:cs typeface="Calibri" pitchFamily="34" charset="-120"/>
              </a:rPr>
              <a:t>Offset committed after the DB commit</a:t>
            </a:r>
            <a:endParaRPr lang="en-US" sz="1350" dirty="0"/>
          </a:p>
        </p:txBody>
      </p:sp>
      <p:sp>
        <p:nvSpPr>
          <p:cNvPr id="19" name="Text 17"/>
          <p:cNvSpPr/>
          <p:nvPr/>
        </p:nvSpPr>
        <p:spPr>
          <a:xfrm>
            <a:off x="1188720" y="4389120"/>
            <a:ext cx="5577840" cy="365760"/>
          </a:xfrm>
          <a:prstGeom prst="rect">
            <a:avLst/>
          </a:prstGeom>
          <a:noFill/>
          <a:ln/>
        </p:spPr>
        <p:txBody>
          <a:bodyPr wrap="square" lIns="0" tIns="0" rIns="0" bIns="0" rtlCol="0" anchor="ctr"/>
          <a:lstStyle/>
          <a:p>
            <a:pPr indent="0" marL="0">
              <a:buNone/>
            </a:pPr>
            <a:r>
              <a:rPr lang="en-US" sz="1100" dirty="0">
                <a:solidFill>
                  <a:srgbClr val="776A5F"/>
                </a:solidFill>
                <a:latin typeface="Calibri" pitchFamily="34" charset="0"/>
                <a:ea typeface="Calibri" pitchFamily="34" charset="-122"/>
                <a:cs typeface="Calibri" pitchFamily="34" charset="-120"/>
              </a:rPr>
              <a:t>So a crash replays the message rather than losing it</a:t>
            </a:r>
            <a:endParaRPr lang="en-US" sz="1100" dirty="0"/>
          </a:p>
        </p:txBody>
      </p:sp>
      <p:sp>
        <p:nvSpPr>
          <p:cNvPr id="20" name="Shape 18"/>
          <p:cNvSpPr/>
          <p:nvPr/>
        </p:nvSpPr>
        <p:spPr>
          <a:xfrm>
            <a:off x="7004304" y="1481328"/>
            <a:ext cx="4617720" cy="2011680"/>
          </a:xfrm>
          <a:prstGeom prst="roundRect">
            <a:avLst>
              <a:gd name="adj" fmla="val 2727"/>
            </a:avLst>
          </a:prstGeom>
          <a:solidFill>
            <a:srgbClr val="2B2118"/>
          </a:solidFill>
          <a:ln/>
          <a:effectLst>
            <a:outerShdw sx="100000" sy="100000" kx="0" ky="0" algn="bl" rotWithShape="0" blurRad="101600" dist="508" dir="5400000">
              <a:srgbClr val="000000">
                <a:alpha val="10000"/>
              </a:srgbClr>
            </a:outerShdw>
          </a:effectLst>
        </p:spPr>
      </p:sp>
      <p:sp>
        <p:nvSpPr>
          <p:cNvPr id="21" name="Text 19"/>
          <p:cNvSpPr/>
          <p:nvPr/>
        </p:nvSpPr>
        <p:spPr>
          <a:xfrm>
            <a:off x="7278624" y="1645920"/>
            <a:ext cx="4069080" cy="292608"/>
          </a:xfrm>
          <a:prstGeom prst="rect">
            <a:avLst/>
          </a:prstGeom>
          <a:noFill/>
          <a:ln/>
        </p:spPr>
        <p:txBody>
          <a:bodyPr wrap="square" lIns="0" tIns="0" rIns="0" bIns="0" rtlCol="0" anchor="ctr"/>
          <a:lstStyle/>
          <a:p>
            <a:pPr indent="0" marL="0">
              <a:buNone/>
            </a:pPr>
            <a:r>
              <a:rPr lang="en-US" sz="1500" b="1" dirty="0">
                <a:solidFill>
                  <a:srgbClr val="B85042"/>
                </a:solidFill>
                <a:latin typeface="Cambria" pitchFamily="34" charset="0"/>
                <a:ea typeface="Cambria" pitchFamily="34" charset="-122"/>
                <a:cs typeface="Cambria" pitchFamily="34" charset="-120"/>
              </a:rPr>
              <a:t>The trade being made</a:t>
            </a:r>
            <a:endParaRPr lang="en-US" sz="1500" dirty="0"/>
          </a:p>
        </p:txBody>
      </p:sp>
      <p:sp>
        <p:nvSpPr>
          <p:cNvPr id="22" name="Text 20"/>
          <p:cNvSpPr/>
          <p:nvPr/>
        </p:nvSpPr>
        <p:spPr>
          <a:xfrm>
            <a:off x="7278624" y="1975104"/>
            <a:ext cx="4069080" cy="1371600"/>
          </a:xfrm>
          <a:prstGeom prst="rect">
            <a:avLst/>
          </a:prstGeom>
          <a:noFill/>
          <a:ln/>
        </p:spPr>
        <p:txBody>
          <a:bodyPr wrap="square" lIns="0" tIns="0" rIns="0" bIns="0" rtlCol="0" anchor="ctr"/>
          <a:lstStyle/>
          <a:p>
            <a:pPr indent="0" marL="0">
              <a:buNone/>
            </a:pPr>
            <a:r>
              <a:rPr lang="en-US" sz="1150" dirty="0">
                <a:solidFill>
                  <a:srgbClr val="D8CFC4"/>
                </a:solidFill>
                <a:latin typeface="Calibri" pitchFamily="34" charset="0"/>
                <a:ea typeface="Calibri" pitchFamily="34" charset="-122"/>
                <a:cs typeface="Calibri" pitchFamily="34" charset="-120"/>
              </a:rPr>
              <a:t>Committing the offset before the write would be at-most-once: a crash silently loses competitor observations, and the pricing engine keeps quoting a market it can no longer see.</a:t>
            </a:r>
            <a:endParaRPr lang="en-US" sz="1150" dirty="0"/>
          </a:p>
        </p:txBody>
      </p:sp>
      <p:sp>
        <p:nvSpPr>
          <p:cNvPr id="23" name="Shape 21"/>
          <p:cNvSpPr/>
          <p:nvPr/>
        </p:nvSpPr>
        <p:spPr>
          <a:xfrm>
            <a:off x="7004304" y="3675888"/>
            <a:ext cx="4617720" cy="2066544"/>
          </a:xfrm>
          <a:prstGeom prst="roundRect">
            <a:avLst>
              <a:gd name="adj" fmla="val 2655"/>
            </a:avLst>
          </a:prstGeom>
          <a:solidFill>
            <a:srgbClr val="EFEAD8"/>
          </a:solidFill>
          <a:ln/>
          <a:effectLst>
            <a:outerShdw sx="100000" sy="100000" kx="0" ky="0" algn="bl" rotWithShape="0" blurRad="101600" dist="508" dir="5400000">
              <a:srgbClr val="000000">
                <a:alpha val="10000"/>
              </a:srgbClr>
            </a:outerShdw>
          </a:effectLst>
        </p:spPr>
      </p:sp>
      <p:sp>
        <p:nvSpPr>
          <p:cNvPr id="24" name="Text 22"/>
          <p:cNvSpPr/>
          <p:nvPr/>
        </p:nvSpPr>
        <p:spPr>
          <a:xfrm>
            <a:off x="7278624" y="3840480"/>
            <a:ext cx="4069080" cy="292608"/>
          </a:xfrm>
          <a:prstGeom prst="rect">
            <a:avLst/>
          </a:prstGeom>
          <a:noFill/>
          <a:ln/>
        </p:spPr>
        <p:txBody>
          <a:bodyPr wrap="square" lIns="0" tIns="0" rIns="0" bIns="0" rtlCol="0" anchor="ctr"/>
          <a:lstStyle/>
          <a:p>
            <a:pPr indent="0" marL="0">
              <a:buNone/>
            </a:pPr>
            <a:r>
              <a:rPr lang="en-US" sz="1500" b="1" dirty="0">
                <a:solidFill>
                  <a:srgbClr val="8E3B32"/>
                </a:solidFill>
                <a:latin typeface="Cambria" pitchFamily="34" charset="0"/>
                <a:ea typeface="Cambria" pitchFamily="34" charset="-122"/>
                <a:cs typeface="Cambria" pitchFamily="34" charset="-120"/>
              </a:rPr>
              <a:t>Why event_id is the key</a:t>
            </a:r>
            <a:endParaRPr lang="en-US" sz="1500" dirty="0"/>
          </a:p>
        </p:txBody>
      </p:sp>
      <p:sp>
        <p:nvSpPr>
          <p:cNvPr id="25" name="Text 23"/>
          <p:cNvSpPr/>
          <p:nvPr/>
        </p:nvSpPr>
        <p:spPr>
          <a:xfrm>
            <a:off x="7278624" y="4169664"/>
            <a:ext cx="4069080" cy="1463040"/>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After a consumer rebalance the same message legitimately arrives twice. Without a unique key that is a duplicated observation quietly dragging the competitor average around — a data-quality bug with no error and no log line.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AI AGENT</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The agent explains. The engine decides.</a:t>
            </a:r>
            <a:endParaRPr lang="en-US" sz="3200" dirty="0"/>
          </a:p>
        </p:txBody>
      </p:sp>
      <p:sp>
        <p:nvSpPr>
          <p:cNvPr id="4" name="Shape 2"/>
          <p:cNvSpPr/>
          <p:nvPr/>
        </p:nvSpPr>
        <p:spPr>
          <a:xfrm>
            <a:off x="566928" y="1481328"/>
            <a:ext cx="5394960" cy="3291840"/>
          </a:xfrm>
          <a:prstGeom prst="roundRect">
            <a:avLst>
              <a:gd name="adj" fmla="val 1667"/>
            </a:avLst>
          </a:prstGeom>
          <a:solidFill>
            <a:srgbClr val="FBF8F2"/>
          </a:solidFill>
          <a:ln/>
          <a:effectLst>
            <a:outerShdw sx="100000" sy="100000" kx="0" ky="0" algn="bl" rotWithShape="0" blurRad="101600" dist="508" dir="5400000">
              <a:srgbClr val="000000">
                <a:alpha val="10000"/>
              </a:srgbClr>
            </a:outerShdw>
          </a:effectLst>
        </p:spPr>
      </p:sp>
      <p:sp>
        <p:nvSpPr>
          <p:cNvPr id="5" name="Text 3"/>
          <p:cNvSpPr/>
          <p:nvPr/>
        </p:nvSpPr>
        <p:spPr>
          <a:xfrm>
            <a:off x="841248" y="1664208"/>
            <a:ext cx="4846320" cy="292608"/>
          </a:xfrm>
          <a:prstGeom prst="rect">
            <a:avLst/>
          </a:prstGeom>
          <a:noFill/>
          <a:ln/>
        </p:spPr>
        <p:txBody>
          <a:bodyPr wrap="square" lIns="0" tIns="0" rIns="0" bIns="0" rtlCol="0" anchor="ctr"/>
          <a:lstStyle/>
          <a:p>
            <a:pPr indent="0" marL="0">
              <a:buNone/>
            </a:pPr>
            <a:r>
              <a:rPr lang="en-US" sz="1500" b="1" dirty="0">
                <a:solidFill>
                  <a:srgbClr val="2B2118"/>
                </a:solidFill>
                <a:latin typeface="Cambria" pitchFamily="34" charset="0"/>
                <a:ea typeface="Cambria" pitchFamily="34" charset="-122"/>
                <a:cs typeface="Cambria" pitchFamily="34" charset="-120"/>
              </a:rPr>
              <a:t>Where it deliberately does not go</a:t>
            </a:r>
            <a:endParaRPr lang="en-US" sz="1500" dirty="0"/>
          </a:p>
        </p:txBody>
      </p:sp>
      <p:sp>
        <p:nvSpPr>
          <p:cNvPr id="6" name="Text 4"/>
          <p:cNvSpPr/>
          <p:nvPr/>
        </p:nvSpPr>
        <p:spPr>
          <a:xfrm>
            <a:off x="841248" y="2029968"/>
            <a:ext cx="4846320" cy="182880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Not the pricing calculation — that needs reproducibility, auditability and a 25 ms budget. An LLM gives up all three.</a:t>
            </a:r>
            <a:endParaRPr lang="en-US" sz="1150" dirty="0"/>
          </a:p>
          <a:p>
            <a:pPr marL="342900" indent="-342900">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Not the demand forecast — Prophet and the booster are 39% and 55% better than baseline, run in milliseconds, and expose importances.</a:t>
            </a:r>
            <a:endParaRPr lang="en-US" sz="1150" dirty="0"/>
          </a:p>
          <a:p>
            <a:pPr marL="342900" indent="-342900">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Not anywhere inside the request path.</a:t>
            </a:r>
            <a:endParaRPr lang="en-US" sz="1150" dirty="0"/>
          </a:p>
        </p:txBody>
      </p:sp>
      <p:sp>
        <p:nvSpPr>
          <p:cNvPr id="7" name="Shape 5"/>
          <p:cNvSpPr/>
          <p:nvPr/>
        </p:nvSpPr>
        <p:spPr>
          <a:xfrm>
            <a:off x="841248" y="3913632"/>
            <a:ext cx="4846320" cy="713232"/>
          </a:xfrm>
          <a:prstGeom prst="roundRect">
            <a:avLst>
              <a:gd name="adj" fmla="val 7692"/>
            </a:avLst>
          </a:prstGeom>
          <a:solidFill>
            <a:srgbClr val="B85042"/>
          </a:solidFill>
          <a:ln/>
        </p:spPr>
      </p:sp>
      <p:sp>
        <p:nvSpPr>
          <p:cNvPr id="8" name="Text 6"/>
          <p:cNvSpPr/>
          <p:nvPr/>
        </p:nvSpPr>
        <p:spPr>
          <a:xfrm>
            <a:off x="841248" y="3913632"/>
            <a:ext cx="4846320"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Language models are not regressors.</a:t>
            </a:r>
            <a:endParaRPr lang="en-US" sz="1500" dirty="0"/>
          </a:p>
        </p:txBody>
      </p:sp>
      <p:sp>
        <p:nvSpPr>
          <p:cNvPr id="9" name="Shape 7"/>
          <p:cNvSpPr/>
          <p:nvPr/>
        </p:nvSpPr>
        <p:spPr>
          <a:xfrm>
            <a:off x="6236208" y="1481328"/>
            <a:ext cx="5385816" cy="3291840"/>
          </a:xfrm>
          <a:prstGeom prst="roundRect">
            <a:avLst>
              <a:gd name="adj" fmla="val 1667"/>
            </a:avLst>
          </a:prstGeom>
          <a:solidFill>
            <a:srgbClr val="EFEAD8"/>
          </a:solidFill>
          <a:ln/>
          <a:effectLst>
            <a:outerShdw sx="100000" sy="100000" kx="0" ky="0" algn="bl" rotWithShape="0" blurRad="101600" dist="508" dir="5400000">
              <a:srgbClr val="000000">
                <a:alpha val="10000"/>
              </a:srgbClr>
            </a:outerShdw>
          </a:effectLst>
        </p:spPr>
      </p:sp>
      <p:sp>
        <p:nvSpPr>
          <p:cNvPr id="10" name="Text 8"/>
          <p:cNvSpPr/>
          <p:nvPr/>
        </p:nvSpPr>
        <p:spPr>
          <a:xfrm>
            <a:off x="6510528" y="1664208"/>
            <a:ext cx="4846320" cy="292608"/>
          </a:xfrm>
          <a:prstGeom prst="rect">
            <a:avLst/>
          </a:prstGeom>
          <a:noFill/>
          <a:ln/>
        </p:spPr>
        <p:txBody>
          <a:bodyPr wrap="square" lIns="0" tIns="0" rIns="0" bIns="0" rtlCol="0" anchor="ctr"/>
          <a:lstStyle/>
          <a:p>
            <a:pPr indent="0" marL="0">
              <a:buNone/>
            </a:pPr>
            <a:r>
              <a:rPr lang="en-US" sz="1500" b="1" dirty="0">
                <a:solidFill>
                  <a:srgbClr val="8E3B32"/>
                </a:solidFill>
                <a:latin typeface="Cambria" pitchFamily="34" charset="0"/>
                <a:ea typeface="Cambria" pitchFamily="34" charset="-122"/>
                <a:cs typeface="Cambria" pitchFamily="34" charset="-120"/>
              </a:rPr>
              <a:t>Where it earns its keep</a:t>
            </a:r>
            <a:endParaRPr lang="en-US" sz="1500" dirty="0"/>
          </a:p>
        </p:txBody>
      </p:sp>
      <p:sp>
        <p:nvSpPr>
          <p:cNvPr id="11" name="Text 9"/>
          <p:cNvSpPr/>
          <p:nvPr/>
        </p:nvSpPr>
        <p:spPr>
          <a:xfrm>
            <a:off x="6510528" y="2011680"/>
            <a:ext cx="4846320" cy="402336"/>
          </a:xfrm>
          <a:prstGeom prst="rect">
            <a:avLst/>
          </a:prstGeom>
          <a:noFill/>
          <a:ln/>
        </p:spPr>
        <p:txBody>
          <a:bodyPr wrap="square" lIns="0" tIns="0" rIns="0" bIns="0" rtlCol="0" anchor="ctr"/>
          <a:lstStyle/>
          <a:p>
            <a:pPr indent="0" marL="0">
              <a:buNone/>
            </a:pPr>
            <a:r>
              <a:rPr lang="en-US" sz="1150" i="1" dirty="0">
                <a:solidFill>
                  <a:srgbClr val="776A5F"/>
                </a:solidFill>
                <a:latin typeface="Calibri" pitchFamily="34" charset="0"/>
                <a:ea typeface="Calibri" pitchFamily="34" charset="-122"/>
                <a:cs typeface="Calibri" pitchFamily="34" charset="-120"/>
              </a:rPr>
              <a:t>Every decision is already stored with its full arithmetic. What was missing is language.</a:t>
            </a:r>
            <a:endParaRPr lang="en-US" sz="1150" dirty="0"/>
          </a:p>
        </p:txBody>
      </p:sp>
      <p:sp>
        <p:nvSpPr>
          <p:cNvPr id="12" name="Text 10"/>
          <p:cNvSpPr/>
          <p:nvPr/>
        </p:nvSpPr>
        <p:spPr>
          <a:xfrm>
            <a:off x="6510528" y="2468880"/>
            <a:ext cx="4846320" cy="17373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Explaining a decision from the stored breakdown, naming the exact guardrail that changed the number</a:t>
            </a:r>
            <a:endParaRPr lang="en-US" sz="1150" dirty="0"/>
          </a:p>
          <a:p>
            <a:pPr marL="342900" indent="-342900">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Triaging correlated monitoring alerts into one root cause</a:t>
            </a:r>
            <a:endParaRPr lang="en-US" sz="1150" dirty="0"/>
          </a:p>
          <a:p>
            <a:pPr marL="342900" indent="-342900">
              <a:spcAft>
                <a:spcPts val="700"/>
              </a:spcAft>
              <a:buSzPct val="100000"/>
              <a:buChar char="•"/>
            </a:pPr>
            <a:r>
              <a:rPr lang="en-US" sz="1150" dirty="0">
                <a:solidFill>
                  <a:srgbClr val="2B2118"/>
                </a:solidFill>
                <a:latin typeface="Calibri" pitchFamily="34" charset="0"/>
                <a:ea typeface="Calibri" pitchFamily="34" charset="-122"/>
                <a:cs typeface="Calibri" pitchFamily="34" charset="-120"/>
              </a:rPr>
              <a:t>Extracting events from unstructured text — the one use that would improve the model, not just the operator</a:t>
            </a:r>
            <a:endParaRPr lang="en-US" sz="1150" dirty="0"/>
          </a:p>
        </p:txBody>
      </p:sp>
      <p:sp>
        <p:nvSpPr>
          <p:cNvPr id="13" name="Shape 11"/>
          <p:cNvSpPr/>
          <p:nvPr/>
        </p:nvSpPr>
        <p:spPr>
          <a:xfrm>
            <a:off x="6510528" y="4114800"/>
            <a:ext cx="4846320" cy="512064"/>
          </a:xfrm>
          <a:prstGeom prst="roundRect">
            <a:avLst>
              <a:gd name="adj" fmla="val 10714"/>
            </a:avLst>
          </a:prstGeom>
          <a:solidFill>
            <a:srgbClr val="FFFFFF"/>
          </a:solidFill>
          <a:ln/>
        </p:spPr>
      </p:sp>
      <p:sp>
        <p:nvSpPr>
          <p:cNvPr id="14" name="Text 12"/>
          <p:cNvSpPr/>
          <p:nvPr/>
        </p:nvSpPr>
        <p:spPr>
          <a:xfrm>
            <a:off x="6510528" y="4114800"/>
            <a:ext cx="4846320" cy="512064"/>
          </a:xfrm>
          <a:prstGeom prst="rect">
            <a:avLst/>
          </a:prstGeom>
          <a:noFill/>
          <a:ln/>
        </p:spPr>
        <p:txBody>
          <a:bodyPr wrap="square" lIns="0" tIns="0" rIns="0" bIns="0" rtlCol="0" anchor="ctr"/>
          <a:lstStyle/>
          <a:p>
            <a:pPr algn="ctr" indent="0" marL="0">
              <a:buNone/>
            </a:pPr>
            <a:r>
              <a:rPr lang="en-US" sz="1200" b="1" dirty="0">
                <a:solidFill>
                  <a:srgbClr val="8E3B32"/>
                </a:solidFill>
                <a:latin typeface="Calibri" pitchFamily="34" charset="0"/>
                <a:ea typeface="Calibri" pitchFamily="34" charset="-122"/>
                <a:cs typeface="Calibri" pitchFamily="34" charset="-120"/>
              </a:rPr>
              <a:t>Read-only. Simulations use persist=false.</a:t>
            </a:r>
            <a:endParaRPr lang="en-US" sz="1200" dirty="0"/>
          </a:p>
        </p:txBody>
      </p:sp>
      <p:sp>
        <p:nvSpPr>
          <p:cNvPr id="15" name="Shape 13"/>
          <p:cNvSpPr/>
          <p:nvPr/>
        </p:nvSpPr>
        <p:spPr>
          <a:xfrm>
            <a:off x="566928" y="4974336"/>
            <a:ext cx="11055096" cy="822960"/>
          </a:xfrm>
          <a:prstGeom prst="roundRect">
            <a:avLst>
              <a:gd name="adj" fmla="val 6667"/>
            </a:avLst>
          </a:prstGeom>
          <a:solidFill>
            <a:srgbClr val="2B2118"/>
          </a:solidFill>
          <a:ln/>
          <a:effectLst>
            <a:outerShdw sx="100000" sy="100000" kx="0" ky="0" algn="bl" rotWithShape="0" blurRad="101600" dist="508" dir="5400000">
              <a:srgbClr val="000000">
                <a:alpha val="10000"/>
              </a:srgbClr>
            </a:outerShdw>
          </a:effectLst>
        </p:spPr>
      </p:sp>
      <p:sp>
        <p:nvSpPr>
          <p:cNvPr id="16" name="Text 14"/>
          <p:cNvSpPr/>
          <p:nvPr/>
        </p:nvSpPr>
        <p:spPr>
          <a:xfrm>
            <a:off x="841248" y="5084064"/>
            <a:ext cx="10424160" cy="60350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The tempting middle position — let the model pick the multipliers and keep the guardrails — is worse than either extreme. Guardrails clamp the output; they cannot detect that the reasoning was wrong.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AI AGENT</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Read-only is enforced in code, not in a prompt</a:t>
            </a:r>
            <a:endParaRPr lang="en-US" sz="3200" dirty="0"/>
          </a:p>
        </p:txBody>
      </p:sp>
      <p:sp>
        <p:nvSpPr>
          <p:cNvPr id="4" name="Shape 2"/>
          <p:cNvSpPr/>
          <p:nvPr/>
        </p:nvSpPr>
        <p:spPr>
          <a:xfrm>
            <a:off x="566928" y="1517904"/>
            <a:ext cx="6217920" cy="713232"/>
          </a:xfrm>
          <a:prstGeom prst="roundRect">
            <a:avLst>
              <a:gd name="adj" fmla="val 7692"/>
            </a:avLst>
          </a:prstGeom>
          <a:solidFill>
            <a:srgbClr val="8C7B6B"/>
          </a:solidFill>
          <a:ln/>
        </p:spPr>
      </p:sp>
      <p:sp>
        <p:nvSpPr>
          <p:cNvPr id="5" name="Text 3"/>
          <p:cNvSpPr/>
          <p:nvPr/>
        </p:nvSpPr>
        <p:spPr>
          <a:xfrm>
            <a:off x="795528" y="1591056"/>
            <a:ext cx="576072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dashboard/pages/8_AI_Agent.py</a:t>
            </a:r>
            <a:endParaRPr lang="en-US" sz="1250" dirty="0"/>
          </a:p>
        </p:txBody>
      </p:sp>
      <p:sp>
        <p:nvSpPr>
          <p:cNvPr id="6" name="Text 4"/>
          <p:cNvSpPr/>
          <p:nvPr/>
        </p:nvSpPr>
        <p:spPr>
          <a:xfrm>
            <a:off x="795528" y="1883664"/>
            <a:ext cx="5760720" cy="292608"/>
          </a:xfrm>
          <a:prstGeom prst="rect">
            <a:avLst/>
          </a:prstGeom>
          <a:noFill/>
          <a:ln/>
        </p:spPr>
        <p:txBody>
          <a:bodyPr wrap="square" lIns="0" tIns="0" rIns="0" bIns="0" rtlCol="0" anchor="ctr"/>
          <a:lstStyle/>
          <a:p>
            <a:pPr indent="0" marL="0">
              <a:buNone/>
            </a:pPr>
            <a:r>
              <a:rPr lang="en-US" sz="1000" dirty="0">
                <a:solidFill>
                  <a:srgbClr val="EFE7DC"/>
                </a:solidFill>
                <a:latin typeface="Calibri" pitchFamily="34" charset="0"/>
                <a:ea typeface="Calibri" pitchFamily="34" charset="-122"/>
                <a:cs typeface="Calibri" pitchFamily="34" charset="-120"/>
              </a:rPr>
              <a:t>Presentation — the tool trace is rendered beside every answer</a:t>
            </a:r>
            <a:endParaRPr lang="en-US" sz="1000" dirty="0"/>
          </a:p>
        </p:txBody>
      </p:sp>
      <p:sp>
        <p:nvSpPr>
          <p:cNvPr id="7" name="Shape 5"/>
          <p:cNvSpPr/>
          <p:nvPr/>
        </p:nvSpPr>
        <p:spPr>
          <a:xfrm>
            <a:off x="566928" y="2377440"/>
            <a:ext cx="6217920" cy="713232"/>
          </a:xfrm>
          <a:prstGeom prst="roundRect">
            <a:avLst>
              <a:gd name="adj" fmla="val 7692"/>
            </a:avLst>
          </a:prstGeom>
          <a:solidFill>
            <a:srgbClr val="5E8272"/>
          </a:solidFill>
          <a:ln/>
        </p:spPr>
      </p:sp>
      <p:sp>
        <p:nvSpPr>
          <p:cNvPr id="8" name="Text 6"/>
          <p:cNvSpPr/>
          <p:nvPr/>
        </p:nvSpPr>
        <p:spPr>
          <a:xfrm>
            <a:off x="795528" y="2450592"/>
            <a:ext cx="576072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ai_agent/agent.py</a:t>
            </a:r>
            <a:endParaRPr lang="en-US" sz="1250" dirty="0"/>
          </a:p>
        </p:txBody>
      </p:sp>
      <p:sp>
        <p:nvSpPr>
          <p:cNvPr id="9" name="Text 7"/>
          <p:cNvSpPr/>
          <p:nvPr/>
        </p:nvSpPr>
        <p:spPr>
          <a:xfrm>
            <a:off x="795528" y="2743200"/>
            <a:ext cx="5760720" cy="292608"/>
          </a:xfrm>
          <a:prstGeom prst="rect">
            <a:avLst/>
          </a:prstGeom>
          <a:noFill/>
          <a:ln/>
        </p:spPr>
        <p:txBody>
          <a:bodyPr wrap="square" lIns="0" tIns="0" rIns="0" bIns="0" rtlCol="0" anchor="ctr"/>
          <a:lstStyle/>
          <a:p>
            <a:pPr indent="0" marL="0">
              <a:buNone/>
            </a:pPr>
            <a:r>
              <a:rPr lang="en-US" sz="1000" dirty="0">
                <a:solidFill>
                  <a:srgbClr val="EFE7DC"/>
                </a:solidFill>
                <a:latin typeface="Calibri" pitchFamily="34" charset="0"/>
                <a:ea typeface="Calibri" pitchFamily="34" charset="-122"/>
                <a:cs typeface="Calibri" pitchFamily="34" charset="-120"/>
              </a:rPr>
              <a:t>Reasoning — PricingAgent, system prompt, the loop, MAX_ITERATIONS = 12</a:t>
            </a:r>
            <a:endParaRPr lang="en-US" sz="1000" dirty="0"/>
          </a:p>
        </p:txBody>
      </p:sp>
      <p:sp>
        <p:nvSpPr>
          <p:cNvPr id="10" name="Shape 8"/>
          <p:cNvSpPr/>
          <p:nvPr/>
        </p:nvSpPr>
        <p:spPr>
          <a:xfrm>
            <a:off x="566928" y="3236976"/>
            <a:ext cx="6217920" cy="713232"/>
          </a:xfrm>
          <a:prstGeom prst="roundRect">
            <a:avLst>
              <a:gd name="adj" fmla="val 7692"/>
            </a:avLst>
          </a:prstGeom>
          <a:solidFill>
            <a:srgbClr val="B85042"/>
          </a:solidFill>
          <a:ln/>
        </p:spPr>
      </p:sp>
      <p:sp>
        <p:nvSpPr>
          <p:cNvPr id="11" name="Text 9"/>
          <p:cNvSpPr/>
          <p:nvPr/>
        </p:nvSpPr>
        <p:spPr>
          <a:xfrm>
            <a:off x="795528" y="3310128"/>
            <a:ext cx="576072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ai_agent/tools.py</a:t>
            </a:r>
            <a:endParaRPr lang="en-US" sz="1250" dirty="0"/>
          </a:p>
        </p:txBody>
      </p:sp>
      <p:sp>
        <p:nvSpPr>
          <p:cNvPr id="12" name="Text 10"/>
          <p:cNvSpPr/>
          <p:nvPr/>
        </p:nvSpPr>
        <p:spPr>
          <a:xfrm>
            <a:off x="795528" y="3602736"/>
            <a:ext cx="5760720" cy="292608"/>
          </a:xfrm>
          <a:prstGeom prst="rect">
            <a:avLst/>
          </a:prstGeom>
          <a:noFill/>
          <a:ln/>
        </p:spPr>
        <p:txBody>
          <a:bodyPr wrap="square" lIns="0" tIns="0" rIns="0" bIns="0" rtlCol="0" anchor="ctr"/>
          <a:lstStyle/>
          <a:p>
            <a:pPr indent="0" marL="0">
              <a:buNone/>
            </a:pPr>
            <a:r>
              <a:rPr lang="en-US" sz="1000" dirty="0">
                <a:solidFill>
                  <a:srgbClr val="EFE7DC"/>
                </a:solidFill>
                <a:latin typeface="Calibri" pitchFamily="34" charset="0"/>
                <a:ea typeface="Calibri" pitchFamily="34" charset="-122"/>
                <a:cs typeface="Calibri" pitchFamily="34" charset="-120"/>
              </a:rPr>
              <a:t>Capability — 6 tools, and the allowlist that bounds them</a:t>
            </a:r>
            <a:endParaRPr lang="en-US" sz="1000" dirty="0"/>
          </a:p>
        </p:txBody>
      </p:sp>
      <p:sp>
        <p:nvSpPr>
          <p:cNvPr id="13" name="Shape 11"/>
          <p:cNvSpPr/>
          <p:nvPr/>
        </p:nvSpPr>
        <p:spPr>
          <a:xfrm>
            <a:off x="566928" y="4096512"/>
            <a:ext cx="6217920" cy="713232"/>
          </a:xfrm>
          <a:prstGeom prst="roundRect">
            <a:avLst>
              <a:gd name="adj" fmla="val 7692"/>
            </a:avLst>
          </a:prstGeom>
          <a:solidFill>
            <a:srgbClr val="2B2118"/>
          </a:solidFill>
          <a:ln/>
        </p:spPr>
      </p:sp>
      <p:sp>
        <p:nvSpPr>
          <p:cNvPr id="14" name="Text 12"/>
          <p:cNvSpPr/>
          <p:nvPr/>
        </p:nvSpPr>
        <p:spPr>
          <a:xfrm>
            <a:off x="795528" y="4169664"/>
            <a:ext cx="576072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FastAPI — the same 12 endpoints the dashboard uses</a:t>
            </a:r>
            <a:endParaRPr lang="en-US" sz="1250" dirty="0"/>
          </a:p>
        </p:txBody>
      </p:sp>
      <p:sp>
        <p:nvSpPr>
          <p:cNvPr id="15" name="Text 13"/>
          <p:cNvSpPr/>
          <p:nvPr/>
        </p:nvSpPr>
        <p:spPr>
          <a:xfrm>
            <a:off x="795528" y="4462272"/>
            <a:ext cx="5760720" cy="292608"/>
          </a:xfrm>
          <a:prstGeom prst="rect">
            <a:avLst/>
          </a:prstGeom>
          <a:noFill/>
          <a:ln/>
        </p:spPr>
        <p:txBody>
          <a:bodyPr wrap="square" lIns="0" tIns="0" rIns="0" bIns="0" rtlCol="0" anchor="ctr"/>
          <a:lstStyle/>
          <a:p>
            <a:pPr indent="0" marL="0">
              <a:buNone/>
            </a:pPr>
            <a:r>
              <a:rPr lang="en-US" sz="1000" dirty="0">
                <a:solidFill>
                  <a:srgbClr val="EFE7DC"/>
                </a:solidFill>
                <a:latin typeface="Calibri" pitchFamily="34" charset="0"/>
                <a:ea typeface="Calibri" pitchFamily="34" charset="-122"/>
                <a:cs typeface="Calibri" pitchFamily="34" charset="-120"/>
              </a:rPr>
              <a:t>No database access, no new subsystem</a:t>
            </a:r>
            <a:endParaRPr lang="en-US" sz="1000" dirty="0"/>
          </a:p>
        </p:txBody>
      </p:sp>
      <p:sp>
        <p:nvSpPr>
          <p:cNvPr id="16" name="Shape 14"/>
          <p:cNvSpPr/>
          <p:nvPr/>
        </p:nvSpPr>
        <p:spPr>
          <a:xfrm>
            <a:off x="7004304" y="1517904"/>
            <a:ext cx="4617720" cy="2286000"/>
          </a:xfrm>
          <a:prstGeom prst="roundRect">
            <a:avLst>
              <a:gd name="adj" fmla="val 2400"/>
            </a:avLst>
          </a:prstGeom>
          <a:solidFill>
            <a:srgbClr val="EFEAD8"/>
          </a:solidFill>
          <a:ln/>
          <a:effectLst>
            <a:outerShdw sx="100000" sy="100000" kx="0" ky="0" algn="bl" rotWithShape="0" blurRad="101600" dist="508" dir="5400000">
              <a:srgbClr val="000000">
                <a:alpha val="10000"/>
              </a:srgbClr>
            </a:outerShdw>
          </a:effectLst>
        </p:spPr>
      </p:sp>
      <p:sp>
        <p:nvSpPr>
          <p:cNvPr id="17" name="Text 15"/>
          <p:cNvSpPr/>
          <p:nvPr/>
        </p:nvSpPr>
        <p:spPr>
          <a:xfrm>
            <a:off x="7278624" y="1682496"/>
            <a:ext cx="4069080" cy="292608"/>
          </a:xfrm>
          <a:prstGeom prst="rect">
            <a:avLst/>
          </a:prstGeom>
          <a:noFill/>
          <a:ln/>
        </p:spPr>
        <p:txBody>
          <a:bodyPr wrap="square" lIns="0" tIns="0" rIns="0" bIns="0" rtlCol="0" anchor="ctr"/>
          <a:lstStyle/>
          <a:p>
            <a:pPr indent="0" marL="0">
              <a:buNone/>
            </a:pPr>
            <a:r>
              <a:rPr lang="en-US" sz="1500" b="1" dirty="0">
                <a:solidFill>
                  <a:srgbClr val="8E3B32"/>
                </a:solidFill>
                <a:latin typeface="Cambria" pitchFamily="34" charset="0"/>
                <a:ea typeface="Cambria" pitchFamily="34" charset="-122"/>
                <a:cs typeface="Cambria" pitchFamily="34" charset="-120"/>
              </a:rPr>
              <a:t>The allowlist</a:t>
            </a:r>
            <a:endParaRPr lang="en-US" sz="1500" dirty="0"/>
          </a:p>
        </p:txBody>
      </p:sp>
      <p:sp>
        <p:nvSpPr>
          <p:cNvPr id="18" name="Text 16"/>
          <p:cNvSpPr/>
          <p:nvPr/>
        </p:nvSpPr>
        <p:spPr>
          <a:xfrm>
            <a:off x="7278624" y="2011680"/>
            <a:ext cx="4069080" cy="1280160"/>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A fixed set of (method, path) pairs, checked before any request leaves. Anything else raises ToolCallDenied. Adding a write tool does not quietly start working — it fails until somebody deliberately edits that tuple, which is a diff a reviewer sees.</a:t>
            </a:r>
            <a:endParaRPr lang="en-US" sz="1150" dirty="0"/>
          </a:p>
        </p:txBody>
      </p:sp>
      <p:sp>
        <p:nvSpPr>
          <p:cNvPr id="19" name="Text 17"/>
          <p:cNvSpPr/>
          <p:nvPr/>
        </p:nvSpPr>
        <p:spPr>
          <a:xfrm>
            <a:off x="7278624" y="3291840"/>
            <a:ext cx="4069080" cy="402336"/>
          </a:xfrm>
          <a:prstGeom prst="rect">
            <a:avLst/>
          </a:prstGeom>
          <a:noFill/>
          <a:ln/>
        </p:spPr>
        <p:txBody>
          <a:bodyPr wrap="square" lIns="0" tIns="0" rIns="0" bIns="0" rtlCol="0" anchor="ctr"/>
          <a:lstStyle/>
          <a:p>
            <a:pPr indent="0" marL="0">
              <a:buNone/>
            </a:pPr>
            <a:r>
              <a:rPr lang="en-US" sz="1100" b="1" i="1" dirty="0">
                <a:solidFill>
                  <a:srgbClr val="8E3B32"/>
                </a:solidFill>
                <a:latin typeface="Calibri" pitchFamily="34" charset="0"/>
                <a:ea typeface="Calibri" pitchFamily="34" charset="-122"/>
                <a:cs typeface="Calibri" pitchFamily="34" charset="-120"/>
              </a:rPr>
              <a:t>persist=false is hardcoded, not a parameter the model can set.</a:t>
            </a:r>
            <a:endParaRPr lang="en-US" sz="1100" dirty="0"/>
          </a:p>
        </p:txBody>
      </p:sp>
      <p:sp>
        <p:nvSpPr>
          <p:cNvPr id="20" name="Shape 18"/>
          <p:cNvSpPr/>
          <p:nvPr/>
        </p:nvSpPr>
        <p:spPr>
          <a:xfrm>
            <a:off x="7004304" y="3986784"/>
            <a:ext cx="4617720" cy="1755648"/>
          </a:xfrm>
          <a:prstGeom prst="roundRect">
            <a:avLst>
              <a:gd name="adj" fmla="val 3125"/>
            </a:avLst>
          </a:prstGeom>
          <a:solidFill>
            <a:srgbClr val="FBF8F2"/>
          </a:solidFill>
          <a:ln/>
          <a:effectLst>
            <a:outerShdw sx="100000" sy="100000" kx="0" ky="0" algn="bl" rotWithShape="0" blurRad="101600" dist="508" dir="5400000">
              <a:srgbClr val="000000">
                <a:alpha val="10000"/>
              </a:srgbClr>
            </a:outerShdw>
          </a:effectLst>
        </p:spPr>
      </p:sp>
      <p:sp>
        <p:nvSpPr>
          <p:cNvPr id="21" name="Text 19"/>
          <p:cNvSpPr/>
          <p:nvPr/>
        </p:nvSpPr>
        <p:spPr>
          <a:xfrm>
            <a:off x="7278624" y="4151376"/>
            <a:ext cx="4069080" cy="292608"/>
          </a:xfrm>
          <a:prstGeom prst="rect">
            <a:avLst/>
          </a:prstGeom>
          <a:noFill/>
          <a:ln/>
        </p:spPr>
        <p:txBody>
          <a:bodyPr wrap="square" lIns="0" tIns="0" rIns="0" bIns="0" rtlCol="0" anchor="ctr"/>
          <a:lstStyle/>
          <a:p>
            <a:pPr indent="0" marL="0">
              <a:buNone/>
            </a:pPr>
            <a:r>
              <a:rPr lang="en-US" sz="1500" b="1" dirty="0">
                <a:solidFill>
                  <a:srgbClr val="2B2118"/>
                </a:solidFill>
                <a:latin typeface="Cambria" pitchFamily="34" charset="0"/>
                <a:ea typeface="Cambria" pitchFamily="34" charset="-122"/>
                <a:cs typeface="Cambria" pitchFamily="34" charset="-120"/>
              </a:rPr>
              <a:t>Two tiers, on purpose</a:t>
            </a:r>
            <a:endParaRPr lang="en-US" sz="1500" dirty="0"/>
          </a:p>
        </p:txBody>
      </p:sp>
      <p:sp>
        <p:nvSpPr>
          <p:cNvPr id="22" name="Text 20"/>
          <p:cNvSpPr/>
          <p:nvPr/>
        </p:nvSpPr>
        <p:spPr>
          <a:xfrm>
            <a:off x="7278624" y="4480560"/>
            <a:ext cx="4069080" cy="1133856"/>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agent.py is a true agent — the questions cannot be enumerated and each call depends on the last. triage.py is a single call with no tools. Reaching for the agent tier where one call suffices is the commonest way to overpay.</a:t>
            </a:r>
            <a:endParaRPr lang="en-US" sz="1150" dirty="0"/>
          </a:p>
        </p:txBody>
      </p:sp>
      <p:sp>
        <p:nvSpPr>
          <p:cNvPr id="23" name="Text 21"/>
          <p:cNvSpPr/>
          <p:nvPr/>
        </p:nvSpPr>
        <p:spPr>
          <a:xfrm>
            <a:off x="566928" y="5102352"/>
            <a:ext cx="6217920" cy="640080"/>
          </a:xfrm>
          <a:prstGeom prst="rect">
            <a:avLst/>
          </a:prstGeom>
          <a:noFill/>
          <a:ln/>
        </p:spPr>
        <p:txBody>
          <a:bodyPr wrap="square" lIns="0" tIns="0" rIns="0" bIns="0" rtlCol="0" anchor="ctr"/>
          <a:lstStyle/>
          <a:p>
            <a:pPr indent="0" marL="0">
              <a:buNone/>
            </a:pPr>
            <a:r>
              <a:rPr lang="en-US" sz="1100" i="1" dirty="0">
                <a:solidFill>
                  <a:srgbClr val="776A5F"/>
                </a:solidFill>
                <a:latin typeface="Calibri" pitchFamily="34" charset="0"/>
                <a:ea typeface="Calibri" pitchFamily="34" charset="-122"/>
                <a:cs typeface="Calibri" pitchFamily="34" charset="-120"/>
              </a:rPr>
              <a:t>No RAG and no vector database — the data is structured, so retrieval here is SQL and typed REST. Embedding an exact query to search it approximately would be a downgrade.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MLOPS &amp; MONITORING</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Degrade, don't die — and say so out loud</a:t>
            </a:r>
            <a:endParaRPr lang="en-US" sz="3200" dirty="0"/>
          </a:p>
        </p:txBody>
      </p:sp>
      <p:sp>
        <p:nvSpPr>
          <p:cNvPr id="4" name="Text 2"/>
          <p:cNvSpPr/>
          <p:nvPr/>
        </p:nvSpPr>
        <p:spPr>
          <a:xfrm>
            <a:off x="566928" y="1517904"/>
            <a:ext cx="5669280" cy="310896"/>
          </a:xfrm>
          <a:prstGeom prst="rect">
            <a:avLst/>
          </a:prstGeom>
          <a:noFill/>
          <a:ln/>
        </p:spPr>
        <p:txBody>
          <a:bodyPr wrap="square" lIns="0" tIns="0" rIns="0" bIns="0" rtlCol="0" anchor="ctr"/>
          <a:lstStyle/>
          <a:p>
            <a:pPr indent="0" marL="0">
              <a:buNone/>
            </a:pPr>
            <a:r>
              <a:rPr lang="en-US" sz="1400" b="1" dirty="0">
                <a:solidFill>
                  <a:srgbClr val="8E3B32"/>
                </a:solidFill>
                <a:latin typeface="Cambria" pitchFamily="34" charset="0"/>
                <a:ea typeface="Cambria" pitchFamily="34" charset="-122"/>
                <a:cs typeface="Cambria" pitchFamily="34" charset="-120"/>
              </a:rPr>
              <a:t>Model registry</a:t>
            </a:r>
            <a:endParaRPr lang="en-US" sz="1400" dirty="0"/>
          </a:p>
        </p:txBody>
      </p:sp>
      <p:sp>
        <p:nvSpPr>
          <p:cNvPr id="5" name="Text 3"/>
          <p:cNvSpPr/>
          <p:nvPr/>
        </p:nvSpPr>
        <p:spPr>
          <a:xfrm>
            <a:off x="566928" y="1828800"/>
            <a:ext cx="5669280" cy="93268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Versioned artifacts, feature_list.json, a training report per run. Resolution order: explicit → MODEL_ACTIVE_VERSION → newest.</a:t>
            </a:r>
            <a:endParaRPr lang="en-US" sz="1150" dirty="0"/>
          </a:p>
        </p:txBody>
      </p:sp>
      <p:sp>
        <p:nvSpPr>
          <p:cNvPr id="6" name="Text 4"/>
          <p:cNvSpPr/>
          <p:nvPr/>
        </p:nvSpPr>
        <p:spPr>
          <a:xfrm>
            <a:off x="566928" y="2889504"/>
            <a:ext cx="5669280" cy="310896"/>
          </a:xfrm>
          <a:prstGeom prst="rect">
            <a:avLst/>
          </a:prstGeom>
          <a:noFill/>
          <a:ln/>
        </p:spPr>
        <p:txBody>
          <a:bodyPr wrap="square" lIns="0" tIns="0" rIns="0" bIns="0" rtlCol="0" anchor="ctr"/>
          <a:lstStyle/>
          <a:p>
            <a:pPr indent="0" marL="0">
              <a:buNone/>
            </a:pPr>
            <a:r>
              <a:rPr lang="en-US" sz="1400" b="1" dirty="0">
                <a:solidFill>
                  <a:srgbClr val="8E3B32"/>
                </a:solidFill>
                <a:latin typeface="Cambria" pitchFamily="34" charset="0"/>
                <a:ea typeface="Cambria" pitchFamily="34" charset="-122"/>
                <a:cs typeface="Cambria" pitchFamily="34" charset="-120"/>
              </a:rPr>
              <a:t>Loading is lazy and never fatal</a:t>
            </a:r>
            <a:endParaRPr lang="en-US" sz="1400" dirty="0"/>
          </a:p>
        </p:txBody>
      </p:sp>
      <p:sp>
        <p:nvSpPr>
          <p:cNvPr id="7" name="Text 5"/>
          <p:cNvSpPr/>
          <p:nvPr/>
        </p:nvSpPr>
        <p:spPr>
          <a:xfrm>
            <a:off x="566928" y="3200400"/>
            <a:ext cx="5669280" cy="93268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A missing artifact is a degraded service on the historical fallback, not a failed boot. An API that refuses to start before it has been trained cannot be deployed before it is trained.</a:t>
            </a:r>
            <a:endParaRPr lang="en-US" sz="1150" dirty="0"/>
          </a:p>
        </p:txBody>
      </p:sp>
      <p:sp>
        <p:nvSpPr>
          <p:cNvPr id="8" name="Text 6"/>
          <p:cNvSpPr/>
          <p:nvPr/>
        </p:nvSpPr>
        <p:spPr>
          <a:xfrm>
            <a:off x="566928" y="4261104"/>
            <a:ext cx="5669280" cy="310896"/>
          </a:xfrm>
          <a:prstGeom prst="rect">
            <a:avLst/>
          </a:prstGeom>
          <a:noFill/>
          <a:ln/>
        </p:spPr>
        <p:txBody>
          <a:bodyPr wrap="square" lIns="0" tIns="0" rIns="0" bIns="0" rtlCol="0" anchor="ctr"/>
          <a:lstStyle/>
          <a:p>
            <a:pPr indent="0" marL="0">
              <a:buNone/>
            </a:pPr>
            <a:r>
              <a:rPr lang="en-US" sz="1400" b="1" dirty="0">
                <a:solidFill>
                  <a:srgbClr val="8E3B32"/>
                </a:solidFill>
                <a:latin typeface="Cambria" pitchFamily="34" charset="0"/>
                <a:ea typeface="Cambria" pitchFamily="34" charset="-122"/>
                <a:cs typeface="Cambria" pitchFamily="34" charset="-120"/>
              </a:rPr>
              <a:t>The feature contract is checked at load</a:t>
            </a:r>
            <a:endParaRPr lang="en-US" sz="1400" dirty="0"/>
          </a:p>
        </p:txBody>
      </p:sp>
      <p:sp>
        <p:nvSpPr>
          <p:cNvPr id="9" name="Text 7"/>
          <p:cNvSpPr/>
          <p:nvPr/>
        </p:nvSpPr>
        <p:spPr>
          <a:xfrm>
            <a:off x="566928" y="4572000"/>
            <a:ext cx="5669280" cy="932688"/>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Not at first request — so a model/feature mismatch surfaces at deploy time, not in production traffic.</a:t>
            </a:r>
            <a:endParaRPr lang="en-US" sz="1150" dirty="0"/>
          </a:p>
        </p:txBody>
      </p:sp>
      <p:sp>
        <p:nvSpPr>
          <p:cNvPr id="10" name="Shape 8"/>
          <p:cNvSpPr/>
          <p:nvPr/>
        </p:nvSpPr>
        <p:spPr>
          <a:xfrm>
            <a:off x="6583680" y="1517904"/>
            <a:ext cx="5038344" cy="2048256"/>
          </a:xfrm>
          <a:prstGeom prst="roundRect">
            <a:avLst>
              <a:gd name="adj" fmla="val 2679"/>
            </a:avLst>
          </a:prstGeom>
          <a:solidFill>
            <a:srgbClr val="FBF8F2"/>
          </a:solidFill>
          <a:ln/>
          <a:effectLst>
            <a:outerShdw sx="100000" sy="100000" kx="0" ky="0" algn="bl" rotWithShape="0" blurRad="101600" dist="508" dir="5400000">
              <a:srgbClr val="000000">
                <a:alpha val="10000"/>
              </a:srgbClr>
            </a:outerShdw>
          </a:effectLst>
        </p:spPr>
      </p:sp>
      <p:sp>
        <p:nvSpPr>
          <p:cNvPr id="11" name="Text 9"/>
          <p:cNvSpPr/>
          <p:nvPr/>
        </p:nvSpPr>
        <p:spPr>
          <a:xfrm>
            <a:off x="6858000" y="1682496"/>
            <a:ext cx="4480560" cy="292608"/>
          </a:xfrm>
          <a:prstGeom prst="rect">
            <a:avLst/>
          </a:prstGeom>
          <a:noFill/>
          <a:ln/>
        </p:spPr>
        <p:txBody>
          <a:bodyPr wrap="square" lIns="0" tIns="0" rIns="0" bIns="0" rtlCol="0" anchor="ctr"/>
          <a:lstStyle/>
          <a:p>
            <a:pPr indent="0" marL="0">
              <a:buNone/>
            </a:pPr>
            <a:r>
              <a:rPr lang="en-US" sz="1500" b="1" dirty="0">
                <a:solidFill>
                  <a:srgbClr val="2B2118"/>
                </a:solidFill>
                <a:latin typeface="Cambria" pitchFamily="34" charset="0"/>
                <a:ea typeface="Cambria" pitchFamily="34" charset="-122"/>
                <a:cs typeface="Cambria" pitchFamily="34" charset="-120"/>
              </a:rPr>
              <a:t>What is monitored</a:t>
            </a:r>
            <a:endParaRPr lang="en-US" sz="1500" dirty="0"/>
          </a:p>
        </p:txBody>
      </p:sp>
      <p:sp>
        <p:nvSpPr>
          <p:cNvPr id="12" name="Text 10"/>
          <p:cNvSpPr/>
          <p:nvPr/>
        </p:nvSpPr>
        <p:spPr>
          <a:xfrm>
            <a:off x="6858000" y="2029968"/>
            <a:ext cx="4480560" cy="137160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2B2118"/>
                </a:solidFill>
                <a:latin typeface="Calibri" pitchFamily="34" charset="0"/>
                <a:ea typeface="Calibri" pitchFamily="34" charset="-122"/>
                <a:cs typeface="Calibri" pitchFamily="34" charset="-120"/>
              </a:rPr>
              <a:t>9 data-quality checks — integrity, freshness, competitor coverage, nulls, grain duplication</a:t>
            </a:r>
            <a:endParaRPr lang="en-US" sz="1100" dirty="0"/>
          </a:p>
          <a:p>
            <a:pPr marL="342900" indent="-342900">
              <a:spcAft>
                <a:spcPts val="700"/>
              </a:spcAft>
              <a:buSzPct val="100000"/>
              <a:buChar char="•"/>
            </a:pPr>
            <a:r>
              <a:rPr lang="en-US" sz="1100" dirty="0">
                <a:solidFill>
                  <a:srgbClr val="2B2118"/>
                </a:solidFill>
                <a:latin typeface="Calibri" pitchFamily="34" charset="0"/>
                <a:ea typeface="Calibri" pitchFamily="34" charset="-122"/>
                <a:cs typeface="Calibri" pitchFamily="34" charset="-120"/>
              </a:rPr>
              <a:t>PSI drift per feature; prediction and price distributions</a:t>
            </a:r>
            <a:endParaRPr lang="en-US" sz="1100" dirty="0"/>
          </a:p>
          <a:p>
            <a:pPr marL="342900" indent="-342900">
              <a:spcAft>
                <a:spcPts val="700"/>
              </a:spcAft>
              <a:buSzPct val="100000"/>
              <a:buChar char="•"/>
            </a:pPr>
            <a:r>
              <a:rPr lang="en-US" sz="1100" dirty="0">
                <a:solidFill>
                  <a:srgbClr val="2B2118"/>
                </a:solidFill>
                <a:latin typeface="Calibri" pitchFamily="34" charset="0"/>
                <a:ea typeface="Calibri" pitchFamily="34" charset="-122"/>
                <a:cs typeface="Calibri" pitchFamily="34" charset="-120"/>
              </a:rPr>
              <a:t>Guardrail pressure — how often each rule fires</a:t>
            </a:r>
            <a:endParaRPr lang="en-US" sz="1100" dirty="0"/>
          </a:p>
        </p:txBody>
      </p:sp>
      <p:sp>
        <p:nvSpPr>
          <p:cNvPr id="13" name="Shape 11"/>
          <p:cNvSpPr/>
          <p:nvPr/>
        </p:nvSpPr>
        <p:spPr>
          <a:xfrm>
            <a:off x="6583680" y="3749040"/>
            <a:ext cx="5038344" cy="1993392"/>
          </a:xfrm>
          <a:prstGeom prst="roundRect">
            <a:avLst>
              <a:gd name="adj" fmla="val 2752"/>
            </a:avLst>
          </a:prstGeom>
          <a:solidFill>
            <a:srgbClr val="2B2118"/>
          </a:solidFill>
          <a:ln/>
          <a:effectLst>
            <a:outerShdw sx="100000" sy="100000" kx="0" ky="0" algn="bl" rotWithShape="0" blurRad="101600" dist="508" dir="5400000">
              <a:srgbClr val="000000">
                <a:alpha val="10000"/>
              </a:srgbClr>
            </a:outerShdw>
          </a:effectLst>
        </p:spPr>
      </p:sp>
      <p:sp>
        <p:nvSpPr>
          <p:cNvPr id="14" name="Text 12"/>
          <p:cNvSpPr/>
          <p:nvPr/>
        </p:nvSpPr>
        <p:spPr>
          <a:xfrm>
            <a:off x="6858000" y="3913632"/>
            <a:ext cx="4480560" cy="292608"/>
          </a:xfrm>
          <a:prstGeom prst="rect">
            <a:avLst/>
          </a:prstGeom>
          <a:noFill/>
          <a:ln/>
        </p:spPr>
        <p:txBody>
          <a:bodyPr wrap="square" lIns="0" tIns="0" rIns="0" bIns="0" rtlCol="0" anchor="ctr"/>
          <a:lstStyle/>
          <a:p>
            <a:pPr indent="0" marL="0">
              <a:buNone/>
            </a:pPr>
            <a:r>
              <a:rPr lang="en-US" sz="1500" b="1" dirty="0">
                <a:solidFill>
                  <a:srgbClr val="B85042"/>
                </a:solidFill>
                <a:latin typeface="Cambria" pitchFamily="34" charset="0"/>
                <a:ea typeface="Cambria" pitchFamily="34" charset="-122"/>
                <a:cs typeface="Cambria" pitchFamily="34" charset="-120"/>
              </a:rPr>
              <a:t>The caveat it emits about itself</a:t>
            </a:r>
            <a:endParaRPr lang="en-US" sz="1500" dirty="0"/>
          </a:p>
        </p:txBody>
      </p:sp>
      <p:sp>
        <p:nvSpPr>
          <p:cNvPr id="15" name="Text 13"/>
          <p:cNvSpPr/>
          <p:nvPr/>
        </p:nvSpPr>
        <p:spPr>
          <a:xfrm>
            <a:off x="6858000" y="4242816"/>
            <a:ext cx="4480560" cy="969264"/>
          </a:xfrm>
          <a:prstGeom prst="rect">
            <a:avLst/>
          </a:prstGeom>
          <a:noFill/>
          <a:ln/>
        </p:spPr>
        <p:txBody>
          <a:bodyPr wrap="square" lIns="0" tIns="0" rIns="0" bIns="0" rtlCol="0" anchor="ctr"/>
          <a:lstStyle/>
          <a:p>
            <a:pPr indent="0" marL="0">
              <a:buNone/>
            </a:pPr>
            <a:r>
              <a:rPr lang="en-US" sz="1150" dirty="0">
                <a:solidFill>
                  <a:srgbClr val="D8CFC4"/>
                </a:solidFill>
                <a:latin typeface="Calibri" pitchFamily="34" charset="0"/>
                <a:ea typeface="Calibri" pitchFamily="34" charset="-122"/>
                <a:cs typeface="Calibri" pitchFamily="34" charset="-120"/>
              </a:rPr>
              <a:t>With under two years of history, comparing a 30-day window against a longer reference cannot separate drift from season. August in Goa genuinely does not look like January in Goa.</a:t>
            </a:r>
            <a:endParaRPr lang="en-US" sz="1150" dirty="0"/>
          </a:p>
        </p:txBody>
      </p:sp>
      <p:sp>
        <p:nvSpPr>
          <p:cNvPr id="16" name="Text 14"/>
          <p:cNvSpPr/>
          <p:nvPr/>
        </p:nvSpPr>
        <p:spPr>
          <a:xfrm>
            <a:off x="6858000" y="5230368"/>
            <a:ext cx="448056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 system that cries wolf every autumn is a system people mute.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TESTING</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840 tests in 50 seconds, none needing a server</a:t>
            </a:r>
            <a:endParaRPr lang="en-US" sz="3200" dirty="0"/>
          </a:p>
        </p:txBody>
      </p:sp>
      <p:sp>
        <p:nvSpPr>
          <p:cNvPr id="4" name="Shape 2"/>
          <p:cNvSpPr/>
          <p:nvPr/>
        </p:nvSpPr>
        <p:spPr>
          <a:xfrm>
            <a:off x="566928" y="1517904"/>
            <a:ext cx="2606040" cy="1920240"/>
          </a:xfrm>
          <a:prstGeom prst="roundRect">
            <a:avLst>
              <a:gd name="adj" fmla="val 2857"/>
            </a:avLst>
          </a:prstGeom>
          <a:solidFill>
            <a:srgbClr val="FBF8F2"/>
          </a:solidFill>
          <a:ln/>
          <a:effectLst>
            <a:outerShdw sx="100000" sy="100000" kx="0" ky="0" algn="bl" rotWithShape="0" blurRad="101600" dist="508" dir="5400000">
              <a:srgbClr val="000000">
                <a:alpha val="10000"/>
              </a:srgbClr>
            </a:outerShdw>
          </a:effectLst>
        </p:spPr>
      </p:sp>
      <p:sp>
        <p:nvSpPr>
          <p:cNvPr id="5" name="Shape 3"/>
          <p:cNvSpPr/>
          <p:nvPr/>
        </p:nvSpPr>
        <p:spPr>
          <a:xfrm>
            <a:off x="786384" y="1700784"/>
            <a:ext cx="402336" cy="402336"/>
          </a:xfrm>
          <a:prstGeom prst="ellipse">
            <a:avLst/>
          </a:prstGeom>
          <a:solidFill>
            <a:srgbClr val="B85042"/>
          </a:solidFill>
          <a:ln/>
        </p:spPr>
      </p:sp>
      <p:sp>
        <p:nvSpPr>
          <p:cNvPr id="6" name="Text 4"/>
          <p:cNvSpPr/>
          <p:nvPr/>
        </p:nvSpPr>
        <p:spPr>
          <a:xfrm>
            <a:off x="786384" y="17007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786384" y="2194560"/>
            <a:ext cx="2194560" cy="292608"/>
          </a:xfrm>
          <a:prstGeom prst="rect">
            <a:avLst/>
          </a:prstGeom>
          <a:noFill/>
          <a:ln/>
        </p:spPr>
        <p:txBody>
          <a:bodyPr wrap="square" lIns="0" tIns="0" rIns="0" bIns="0" rtlCol="0" anchor="ctr"/>
          <a:lstStyle/>
          <a:p>
            <a:pPr indent="0" marL="0">
              <a:buNone/>
            </a:pPr>
            <a:r>
              <a:rPr lang="en-US" sz="1400" b="1" dirty="0">
                <a:solidFill>
                  <a:srgbClr val="2B2118"/>
                </a:solidFill>
                <a:latin typeface="Cambria" pitchFamily="34" charset="0"/>
                <a:ea typeface="Cambria" pitchFamily="34" charset="-122"/>
                <a:cs typeface="Cambria" pitchFamily="34" charset="-120"/>
              </a:rPr>
              <a:t>Unit</a:t>
            </a:r>
            <a:endParaRPr lang="en-US" sz="1400" dirty="0"/>
          </a:p>
        </p:txBody>
      </p:sp>
      <p:sp>
        <p:nvSpPr>
          <p:cNvPr id="8" name="Text 6"/>
          <p:cNvSpPr/>
          <p:nvPr/>
        </p:nvSpPr>
        <p:spPr>
          <a:xfrm>
            <a:off x="786384" y="2505456"/>
            <a:ext cx="2194560" cy="822960"/>
          </a:xfrm>
          <a:prstGeom prst="rect">
            <a:avLst/>
          </a:prstGeom>
          <a:noFill/>
          <a:ln/>
        </p:spPr>
        <p:txBody>
          <a:bodyPr wrap="square" lIns="0" tIns="0" rIns="0" bIns="0" rtlCol="0" anchor="ctr"/>
          <a:lstStyle/>
          <a:p>
            <a:pPr indent="0" marL="0">
              <a:buNone/>
            </a:pPr>
            <a:r>
              <a:rPr lang="en-US" sz="1050" dirty="0">
                <a:solidFill>
                  <a:srgbClr val="776A5F"/>
                </a:solidFill>
                <a:latin typeface="Calibri" pitchFamily="34" charset="0"/>
                <a:ea typeface="Calibri" pitchFamily="34" charset="-122"/>
                <a:cs typeface="Calibri" pitchFamily="34" charset="-120"/>
              </a:rPr>
              <a:t>Pricing rules, guardrails, metrics, feature maths — pure functions, one line each</a:t>
            </a:r>
            <a:endParaRPr lang="en-US" sz="1050" dirty="0"/>
          </a:p>
        </p:txBody>
      </p:sp>
      <p:sp>
        <p:nvSpPr>
          <p:cNvPr id="9" name="Shape 7"/>
          <p:cNvSpPr/>
          <p:nvPr/>
        </p:nvSpPr>
        <p:spPr>
          <a:xfrm>
            <a:off x="3355848" y="1517904"/>
            <a:ext cx="2606040" cy="1920240"/>
          </a:xfrm>
          <a:prstGeom prst="roundRect">
            <a:avLst>
              <a:gd name="adj" fmla="val 2857"/>
            </a:avLst>
          </a:prstGeom>
          <a:solidFill>
            <a:srgbClr val="FBF8F2"/>
          </a:solidFill>
          <a:ln/>
          <a:effectLst>
            <a:outerShdw sx="100000" sy="100000" kx="0" ky="0" algn="bl" rotWithShape="0" blurRad="101600" dist="508" dir="5400000">
              <a:srgbClr val="000000">
                <a:alpha val="10000"/>
              </a:srgbClr>
            </a:outerShdw>
          </a:effectLst>
        </p:spPr>
      </p:sp>
      <p:sp>
        <p:nvSpPr>
          <p:cNvPr id="10" name="Shape 8"/>
          <p:cNvSpPr/>
          <p:nvPr/>
        </p:nvSpPr>
        <p:spPr>
          <a:xfrm>
            <a:off x="3575304" y="1700784"/>
            <a:ext cx="402336" cy="402336"/>
          </a:xfrm>
          <a:prstGeom prst="ellipse">
            <a:avLst/>
          </a:prstGeom>
          <a:solidFill>
            <a:srgbClr val="B85042"/>
          </a:solidFill>
          <a:ln/>
        </p:spPr>
      </p:sp>
      <p:sp>
        <p:nvSpPr>
          <p:cNvPr id="11" name="Text 9"/>
          <p:cNvSpPr/>
          <p:nvPr/>
        </p:nvSpPr>
        <p:spPr>
          <a:xfrm>
            <a:off x="3575304" y="17007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3575304" y="2194560"/>
            <a:ext cx="2194560" cy="292608"/>
          </a:xfrm>
          <a:prstGeom prst="rect">
            <a:avLst/>
          </a:prstGeom>
          <a:noFill/>
          <a:ln/>
        </p:spPr>
        <p:txBody>
          <a:bodyPr wrap="square" lIns="0" tIns="0" rIns="0" bIns="0" rtlCol="0" anchor="ctr"/>
          <a:lstStyle/>
          <a:p>
            <a:pPr indent="0" marL="0">
              <a:buNone/>
            </a:pPr>
            <a:r>
              <a:rPr lang="en-US" sz="1400" b="1" dirty="0">
                <a:solidFill>
                  <a:srgbClr val="2B2118"/>
                </a:solidFill>
                <a:latin typeface="Cambria" pitchFamily="34" charset="0"/>
                <a:ea typeface="Cambria" pitchFamily="34" charset="-122"/>
                <a:cs typeface="Cambria" pitchFamily="34" charset="-120"/>
              </a:rPr>
              <a:t>Contract</a:t>
            </a:r>
            <a:endParaRPr lang="en-US" sz="1400" dirty="0"/>
          </a:p>
        </p:txBody>
      </p:sp>
      <p:sp>
        <p:nvSpPr>
          <p:cNvPr id="13" name="Text 11"/>
          <p:cNvSpPr/>
          <p:nvPr/>
        </p:nvSpPr>
        <p:spPr>
          <a:xfrm>
            <a:off x="3575304" y="2505456"/>
            <a:ext cx="2194560" cy="822960"/>
          </a:xfrm>
          <a:prstGeom prst="rect">
            <a:avLst/>
          </a:prstGeom>
          <a:noFill/>
          <a:ln/>
        </p:spPr>
        <p:txBody>
          <a:bodyPr wrap="square" lIns="0" tIns="0" rIns="0" bIns="0" rtlCol="0" anchor="ctr"/>
          <a:lstStyle/>
          <a:p>
            <a:pPr indent="0" marL="0">
              <a:buNone/>
            </a:pPr>
            <a:r>
              <a:rPr lang="en-US" sz="1050" dirty="0">
                <a:solidFill>
                  <a:srgbClr val="776A5F"/>
                </a:solidFill>
                <a:latin typeface="Calibri" pitchFamily="34" charset="0"/>
                <a:ea typeface="Calibri" pitchFamily="34" charset="-122"/>
                <a:cs typeface="Calibri" pitchFamily="34" charset="-120"/>
              </a:rPr>
              <a:t>Event envelopes, API schemas, the OpenAPI surface asserted as an exact set</a:t>
            </a:r>
            <a:endParaRPr lang="en-US" sz="1050" dirty="0"/>
          </a:p>
        </p:txBody>
      </p:sp>
      <p:sp>
        <p:nvSpPr>
          <p:cNvPr id="14" name="Shape 12"/>
          <p:cNvSpPr/>
          <p:nvPr/>
        </p:nvSpPr>
        <p:spPr>
          <a:xfrm>
            <a:off x="6144768" y="1517904"/>
            <a:ext cx="2606040" cy="1920240"/>
          </a:xfrm>
          <a:prstGeom prst="roundRect">
            <a:avLst>
              <a:gd name="adj" fmla="val 2857"/>
            </a:avLst>
          </a:prstGeom>
          <a:solidFill>
            <a:srgbClr val="FBF8F2"/>
          </a:solidFill>
          <a:ln/>
          <a:effectLst>
            <a:outerShdw sx="100000" sy="100000" kx="0" ky="0" algn="bl" rotWithShape="0" blurRad="101600" dist="508" dir="5400000">
              <a:srgbClr val="000000">
                <a:alpha val="10000"/>
              </a:srgbClr>
            </a:outerShdw>
          </a:effectLst>
        </p:spPr>
      </p:sp>
      <p:sp>
        <p:nvSpPr>
          <p:cNvPr id="15" name="Shape 13"/>
          <p:cNvSpPr/>
          <p:nvPr/>
        </p:nvSpPr>
        <p:spPr>
          <a:xfrm>
            <a:off x="6364224" y="1700784"/>
            <a:ext cx="402336" cy="402336"/>
          </a:xfrm>
          <a:prstGeom prst="ellipse">
            <a:avLst/>
          </a:prstGeom>
          <a:solidFill>
            <a:srgbClr val="B85042"/>
          </a:solidFill>
          <a:ln/>
        </p:spPr>
      </p:sp>
      <p:sp>
        <p:nvSpPr>
          <p:cNvPr id="16" name="Text 14"/>
          <p:cNvSpPr/>
          <p:nvPr/>
        </p:nvSpPr>
        <p:spPr>
          <a:xfrm>
            <a:off x="6364224" y="17007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6364224" y="2194560"/>
            <a:ext cx="2194560" cy="292608"/>
          </a:xfrm>
          <a:prstGeom prst="rect">
            <a:avLst/>
          </a:prstGeom>
          <a:noFill/>
          <a:ln/>
        </p:spPr>
        <p:txBody>
          <a:bodyPr wrap="square" lIns="0" tIns="0" rIns="0" bIns="0" rtlCol="0" anchor="ctr"/>
          <a:lstStyle/>
          <a:p>
            <a:pPr indent="0" marL="0">
              <a:buNone/>
            </a:pPr>
            <a:r>
              <a:rPr lang="en-US" sz="1400" b="1" dirty="0">
                <a:solidFill>
                  <a:srgbClr val="2B2118"/>
                </a:solidFill>
                <a:latin typeface="Cambria" pitchFamily="34" charset="0"/>
                <a:ea typeface="Cambria" pitchFamily="34" charset="-122"/>
                <a:cs typeface="Cambria" pitchFamily="34" charset="-120"/>
              </a:rPr>
              <a:t>Integration</a:t>
            </a:r>
            <a:endParaRPr lang="en-US" sz="1400" dirty="0"/>
          </a:p>
        </p:txBody>
      </p:sp>
      <p:sp>
        <p:nvSpPr>
          <p:cNvPr id="18" name="Text 16"/>
          <p:cNvSpPr/>
          <p:nvPr/>
        </p:nvSpPr>
        <p:spPr>
          <a:xfrm>
            <a:off x="6364224" y="2505456"/>
            <a:ext cx="2194560" cy="822960"/>
          </a:xfrm>
          <a:prstGeom prst="rect">
            <a:avLst/>
          </a:prstGeom>
          <a:noFill/>
          <a:ln/>
        </p:spPr>
        <p:txBody>
          <a:bodyPr wrap="square" lIns="0" tIns="0" rIns="0" bIns="0" rtlCol="0" anchor="ctr"/>
          <a:lstStyle/>
          <a:p>
            <a:pPr indent="0" marL="0">
              <a:buNone/>
            </a:pPr>
            <a:r>
              <a:rPr lang="en-US" sz="1050" dirty="0">
                <a:solidFill>
                  <a:srgbClr val="776A5F"/>
                </a:solidFill>
                <a:latin typeface="Calibri" pitchFamily="34" charset="0"/>
                <a:ea typeface="Calibri" pitchFamily="34" charset="-122"/>
                <a:cs typeface="Calibri" pitchFamily="34" charset="-120"/>
              </a:rPr>
              <a:t>In-memory SQLite with the session dependency overridden; the scraper against a real server on a free port</a:t>
            </a:r>
            <a:endParaRPr lang="en-US" sz="1050" dirty="0"/>
          </a:p>
        </p:txBody>
      </p:sp>
      <p:sp>
        <p:nvSpPr>
          <p:cNvPr id="19" name="Shape 17"/>
          <p:cNvSpPr/>
          <p:nvPr/>
        </p:nvSpPr>
        <p:spPr>
          <a:xfrm>
            <a:off x="8933688" y="1517904"/>
            <a:ext cx="2606040" cy="1920240"/>
          </a:xfrm>
          <a:prstGeom prst="roundRect">
            <a:avLst>
              <a:gd name="adj" fmla="val 2857"/>
            </a:avLst>
          </a:prstGeom>
          <a:solidFill>
            <a:srgbClr val="EFEAD8"/>
          </a:solidFill>
          <a:ln/>
          <a:effectLst>
            <a:outerShdw sx="100000" sy="100000" kx="0" ky="0" algn="bl" rotWithShape="0" blurRad="101600" dist="508" dir="5400000">
              <a:srgbClr val="000000">
                <a:alpha val="10000"/>
              </a:srgbClr>
            </a:outerShdw>
          </a:effectLst>
        </p:spPr>
      </p:sp>
      <p:sp>
        <p:nvSpPr>
          <p:cNvPr id="20" name="Shape 18"/>
          <p:cNvSpPr/>
          <p:nvPr/>
        </p:nvSpPr>
        <p:spPr>
          <a:xfrm>
            <a:off x="9153144" y="1700784"/>
            <a:ext cx="402336" cy="402336"/>
          </a:xfrm>
          <a:prstGeom prst="ellipse">
            <a:avLst/>
          </a:prstGeom>
          <a:solidFill>
            <a:srgbClr val="B85042"/>
          </a:solidFill>
          <a:ln/>
        </p:spPr>
      </p:sp>
      <p:sp>
        <p:nvSpPr>
          <p:cNvPr id="21" name="Text 19"/>
          <p:cNvSpPr/>
          <p:nvPr/>
        </p:nvSpPr>
        <p:spPr>
          <a:xfrm>
            <a:off x="9153144" y="17007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9153144" y="2194560"/>
            <a:ext cx="2194560" cy="292608"/>
          </a:xfrm>
          <a:prstGeom prst="rect">
            <a:avLst/>
          </a:prstGeom>
          <a:noFill/>
          <a:ln/>
        </p:spPr>
        <p:txBody>
          <a:bodyPr wrap="square" lIns="0" tIns="0" rIns="0" bIns="0" rtlCol="0" anchor="ctr"/>
          <a:lstStyle/>
          <a:p>
            <a:pPr indent="0" marL="0">
              <a:buNone/>
            </a:pPr>
            <a:r>
              <a:rPr lang="en-US" sz="1400" b="1" dirty="0">
                <a:solidFill>
                  <a:srgbClr val="2B2118"/>
                </a:solidFill>
                <a:latin typeface="Cambria" pitchFamily="34" charset="0"/>
                <a:ea typeface="Cambria" pitchFamily="34" charset="-122"/>
                <a:cs typeface="Cambria" pitchFamily="34" charset="-120"/>
              </a:rPr>
              <a:t>End-to-end</a:t>
            </a:r>
            <a:endParaRPr lang="en-US" sz="1400" dirty="0"/>
          </a:p>
        </p:txBody>
      </p:sp>
      <p:sp>
        <p:nvSpPr>
          <p:cNvPr id="23" name="Text 21"/>
          <p:cNvSpPr/>
          <p:nvPr/>
        </p:nvSpPr>
        <p:spPr>
          <a:xfrm>
            <a:off x="9153144" y="2505456"/>
            <a:ext cx="2194560" cy="822960"/>
          </a:xfrm>
          <a:prstGeom prst="rect">
            <a:avLst/>
          </a:prstGeom>
          <a:noFill/>
          <a:ln/>
        </p:spPr>
        <p:txBody>
          <a:bodyPr wrap="square" lIns="0" tIns="0" rIns="0" bIns="0" rtlCol="0" anchor="ctr"/>
          <a:lstStyle/>
          <a:p>
            <a:pPr indent="0" marL="0">
              <a:buNone/>
            </a:pPr>
            <a:r>
              <a:rPr lang="en-US" sz="1050" dirty="0">
                <a:solidFill>
                  <a:srgbClr val="776A5F"/>
                </a:solidFill>
                <a:latin typeface="Calibri" pitchFamily="34" charset="0"/>
                <a:ea typeface="Calibri" pitchFamily="34" charset="-122"/>
                <a:cs typeface="Calibri" pitchFamily="34" charset="-120"/>
              </a:rPr>
              <a:t>Every dashboard page executed with Streamlit's AppTest against a live API</a:t>
            </a:r>
            <a:endParaRPr lang="en-US" sz="1050" dirty="0"/>
          </a:p>
        </p:txBody>
      </p:sp>
      <p:sp>
        <p:nvSpPr>
          <p:cNvPr id="24" name="Shape 22"/>
          <p:cNvSpPr/>
          <p:nvPr/>
        </p:nvSpPr>
        <p:spPr>
          <a:xfrm>
            <a:off x="566928" y="3657600"/>
            <a:ext cx="5394960" cy="2084832"/>
          </a:xfrm>
          <a:prstGeom prst="roundRect">
            <a:avLst>
              <a:gd name="adj" fmla="val 2632"/>
            </a:avLst>
          </a:prstGeom>
          <a:solidFill>
            <a:srgbClr val="2B2118"/>
          </a:solidFill>
          <a:ln/>
          <a:effectLst>
            <a:outerShdw sx="100000" sy="100000" kx="0" ky="0" algn="bl" rotWithShape="0" blurRad="101600" dist="508" dir="5400000">
              <a:srgbClr val="000000">
                <a:alpha val="10000"/>
              </a:srgbClr>
            </a:outerShdw>
          </a:effectLst>
        </p:spPr>
      </p:sp>
      <p:sp>
        <p:nvSpPr>
          <p:cNvPr id="25" name="Text 23"/>
          <p:cNvSpPr/>
          <p:nvPr/>
        </p:nvSpPr>
        <p:spPr>
          <a:xfrm>
            <a:off x="841248" y="3822192"/>
            <a:ext cx="4846320" cy="292608"/>
          </a:xfrm>
          <a:prstGeom prst="rect">
            <a:avLst/>
          </a:prstGeom>
          <a:noFill/>
          <a:ln/>
        </p:spPr>
        <p:txBody>
          <a:bodyPr wrap="square" lIns="0" tIns="0" rIns="0" bIns="0" rtlCol="0" anchor="ctr"/>
          <a:lstStyle/>
          <a:p>
            <a:pPr indent="0" marL="0">
              <a:buNone/>
            </a:pPr>
            <a:r>
              <a:rPr lang="en-US" sz="1500" b="1" dirty="0">
                <a:solidFill>
                  <a:srgbClr val="B85042"/>
                </a:solidFill>
                <a:latin typeface="Cambria" pitchFamily="34" charset="0"/>
                <a:ea typeface="Cambria" pitchFamily="34" charset="-122"/>
                <a:cs typeface="Cambria" pitchFamily="34" charset="-120"/>
              </a:rPr>
              <a:t>The scraper tests start a real server</a:t>
            </a:r>
            <a:endParaRPr lang="en-US" sz="1500" dirty="0"/>
          </a:p>
        </p:txBody>
      </p:sp>
      <p:sp>
        <p:nvSpPr>
          <p:cNvPr id="26" name="Text 24"/>
          <p:cNvSpPr/>
          <p:nvPr/>
        </p:nvSpPr>
        <p:spPr>
          <a:xfrm>
            <a:off x="841248" y="4151376"/>
            <a:ext cx="4846320" cy="1371600"/>
          </a:xfrm>
          <a:prstGeom prst="rect">
            <a:avLst/>
          </a:prstGeom>
          <a:noFill/>
          <a:ln/>
        </p:spPr>
        <p:txBody>
          <a:bodyPr wrap="square" lIns="0" tIns="0" rIns="0" bIns="0" rtlCol="0" anchor="ctr"/>
          <a:lstStyle/>
          <a:p>
            <a:pPr indent="0" marL="0">
              <a:buNone/>
            </a:pPr>
            <a:r>
              <a:rPr lang="en-US" sz="1150" dirty="0">
                <a:solidFill>
                  <a:srgbClr val="D8CFC4"/>
                </a:solidFill>
                <a:latin typeface="Calibri" pitchFamily="34" charset="0"/>
                <a:ea typeface="Calibri" pitchFamily="34" charset="-122"/>
                <a:cs typeface="Calibri" pitchFamily="34" charset="-120"/>
              </a:rPr>
              <a:t>A session fixture runs the demo OTA on an OS-assigned free port and the scraper fetches it over loopback. Mocking httpx would exercise parse() and skip robots.txt, status-code mapping, connection reuse and the rate limiter — between them most of what a scraper actually is.</a:t>
            </a:r>
            <a:endParaRPr lang="en-US" sz="1150" dirty="0"/>
          </a:p>
        </p:txBody>
      </p:sp>
      <p:sp>
        <p:nvSpPr>
          <p:cNvPr id="27" name="Shape 25"/>
          <p:cNvSpPr/>
          <p:nvPr/>
        </p:nvSpPr>
        <p:spPr>
          <a:xfrm>
            <a:off x="6236208" y="3657600"/>
            <a:ext cx="5385816" cy="2084832"/>
          </a:xfrm>
          <a:prstGeom prst="roundRect">
            <a:avLst>
              <a:gd name="adj" fmla="val 2632"/>
            </a:avLst>
          </a:prstGeom>
          <a:solidFill>
            <a:srgbClr val="EFEAD8"/>
          </a:solidFill>
          <a:ln/>
          <a:effectLst>
            <a:outerShdw sx="100000" sy="100000" kx="0" ky="0" algn="bl" rotWithShape="0" blurRad="101600" dist="508" dir="5400000">
              <a:srgbClr val="000000">
                <a:alpha val="10000"/>
              </a:srgbClr>
            </a:outerShdw>
          </a:effectLst>
        </p:spPr>
      </p:sp>
      <p:sp>
        <p:nvSpPr>
          <p:cNvPr id="28" name="Text 26"/>
          <p:cNvSpPr/>
          <p:nvPr/>
        </p:nvSpPr>
        <p:spPr>
          <a:xfrm>
            <a:off x="6510528" y="3822192"/>
            <a:ext cx="4846320" cy="292608"/>
          </a:xfrm>
          <a:prstGeom prst="rect">
            <a:avLst/>
          </a:prstGeom>
          <a:noFill/>
          <a:ln/>
        </p:spPr>
        <p:txBody>
          <a:bodyPr wrap="square" lIns="0" tIns="0" rIns="0" bIns="0" rtlCol="0" anchor="ctr"/>
          <a:lstStyle/>
          <a:p>
            <a:pPr indent="0" marL="0">
              <a:buNone/>
            </a:pPr>
            <a:r>
              <a:rPr lang="en-US" sz="1500" b="1" dirty="0">
                <a:solidFill>
                  <a:srgbClr val="8E3B32"/>
                </a:solidFill>
                <a:latin typeface="Cambria" pitchFamily="34" charset="0"/>
                <a:ea typeface="Cambria" pitchFamily="34" charset="-122"/>
                <a:cs typeface="Cambria" pitchFamily="34" charset="-120"/>
              </a:rPr>
              <a:t>A page that renders is an integration test</a:t>
            </a:r>
            <a:endParaRPr lang="en-US" sz="1500" dirty="0"/>
          </a:p>
        </p:txBody>
      </p:sp>
      <p:sp>
        <p:nvSpPr>
          <p:cNvPr id="29" name="Text 27"/>
          <p:cNvSpPr/>
          <p:nvPr/>
        </p:nvSpPr>
        <p:spPr>
          <a:xfrm>
            <a:off x="6510528" y="4151376"/>
            <a:ext cx="4846320" cy="1371600"/>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Because the dashboard holds no business logic and reaches the API over HTTP, a page rendering proves the endpoint behind it works and returns the shape expected. The AI Agent page is also tested in the state where its SDK is absent — the state most people will first open it in.</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DEBUGGING · 1 OF 3</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It passed every test and was worse than nothing</a:t>
            </a:r>
            <a:endParaRPr lang="en-US" sz="3200" dirty="0"/>
          </a:p>
        </p:txBody>
      </p:sp>
      <p:sp>
        <p:nvSpPr>
          <p:cNvPr id="4" name="Shape 2"/>
          <p:cNvSpPr/>
          <p:nvPr/>
        </p:nvSpPr>
        <p:spPr>
          <a:xfrm>
            <a:off x="566928" y="1517904"/>
            <a:ext cx="5394960" cy="1554480"/>
          </a:xfrm>
          <a:prstGeom prst="roundRect">
            <a:avLst>
              <a:gd name="adj" fmla="val 3529"/>
            </a:avLst>
          </a:prstGeom>
          <a:solidFill>
            <a:srgbClr val="FBF8F2"/>
          </a:solidFill>
          <a:ln/>
          <a:effectLst>
            <a:outerShdw sx="100000" sy="100000" kx="0" ky="0" algn="bl" rotWithShape="0" blurRad="101600" dist="508" dir="5400000">
              <a:srgbClr val="000000">
                <a:alpha val="10000"/>
              </a:srgbClr>
            </a:outerShdw>
          </a:effectLst>
        </p:spPr>
      </p:sp>
      <p:sp>
        <p:nvSpPr>
          <p:cNvPr id="5" name="Text 3"/>
          <p:cNvSpPr/>
          <p:nvPr/>
        </p:nvSpPr>
        <p:spPr>
          <a:xfrm>
            <a:off x="841248" y="1664208"/>
            <a:ext cx="4846320" cy="274320"/>
          </a:xfrm>
          <a:prstGeom prst="rect">
            <a:avLst/>
          </a:prstGeom>
          <a:noFill/>
          <a:ln/>
        </p:spPr>
        <p:txBody>
          <a:bodyPr wrap="square" lIns="0" tIns="0" rIns="0" bIns="0" rtlCol="0" anchor="ctr"/>
          <a:lstStyle/>
          <a:p>
            <a:pPr indent="0" marL="0">
              <a:buNone/>
            </a:pPr>
            <a:r>
              <a:rPr lang="en-US" sz="1100" b="1" dirty="0">
                <a:solidFill>
                  <a:srgbClr val="776A5F"/>
                </a:solidFill>
                <a:latin typeface="Calibri" pitchFamily="34" charset="0"/>
                <a:ea typeface="Calibri" pitchFamily="34" charset="-122"/>
                <a:cs typeface="Calibri" pitchFamily="34" charset="-120"/>
              </a:rPr>
              <a:t>What it looked like</a:t>
            </a:r>
            <a:endParaRPr lang="en-US" sz="1100" dirty="0"/>
          </a:p>
        </p:txBody>
      </p:sp>
      <p:sp>
        <p:nvSpPr>
          <p:cNvPr id="6" name="Text 4"/>
          <p:cNvSpPr/>
          <p:nvPr/>
        </p:nvSpPr>
        <p:spPr>
          <a:xfrm>
            <a:off x="841248" y="1938528"/>
            <a:ext cx="4846320" cy="329184"/>
          </a:xfrm>
          <a:prstGeom prst="rect">
            <a:avLst/>
          </a:prstGeom>
          <a:noFill/>
          <a:ln/>
        </p:spPr>
        <p:txBody>
          <a:bodyPr wrap="square" lIns="0" tIns="0" rIns="0" bIns="0" rtlCol="0" anchor="ctr"/>
          <a:lstStyle/>
          <a:p>
            <a:pPr indent="0" marL="0">
              <a:buNone/>
            </a:pPr>
            <a:r>
              <a:rPr lang="en-US" sz="1700" b="1" dirty="0">
                <a:solidFill>
                  <a:srgbClr val="2B2118"/>
                </a:solidFill>
                <a:latin typeface="Cambria" pitchFamily="34" charset="0"/>
                <a:ea typeface="Cambria" pitchFamily="34" charset="-122"/>
                <a:cs typeface="Cambria" pitchFamily="34" charset="-120"/>
              </a:rPr>
              <a:t>All green.</a:t>
            </a:r>
            <a:endParaRPr lang="en-US" sz="1700" dirty="0"/>
          </a:p>
        </p:txBody>
      </p:sp>
      <p:sp>
        <p:nvSpPr>
          <p:cNvPr id="7" name="Text 5"/>
          <p:cNvSpPr/>
          <p:nvPr/>
        </p:nvSpPr>
        <p:spPr>
          <a:xfrm>
            <a:off x="841248" y="2286000"/>
            <a:ext cx="4846320" cy="640080"/>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Correct shapes, bounded intervals, clean serialisation — every structural test Prophet had, passing.</a:t>
            </a:r>
            <a:endParaRPr lang="en-US" sz="1150" dirty="0"/>
          </a:p>
        </p:txBody>
      </p:sp>
      <p:sp>
        <p:nvSpPr>
          <p:cNvPr id="8" name="Shape 6"/>
          <p:cNvSpPr/>
          <p:nvPr/>
        </p:nvSpPr>
        <p:spPr>
          <a:xfrm>
            <a:off x="6236208" y="1517904"/>
            <a:ext cx="5385816" cy="1554480"/>
          </a:xfrm>
          <a:prstGeom prst="roundRect">
            <a:avLst>
              <a:gd name="adj" fmla="val 3529"/>
            </a:avLst>
          </a:prstGeom>
          <a:solidFill>
            <a:srgbClr val="2B2118"/>
          </a:solidFill>
          <a:ln/>
          <a:effectLst>
            <a:outerShdw sx="100000" sy="100000" kx="0" ky="0" algn="bl" rotWithShape="0" blurRad="101600" dist="508" dir="5400000">
              <a:srgbClr val="000000">
                <a:alpha val="10000"/>
              </a:srgbClr>
            </a:outerShdw>
          </a:effectLst>
        </p:spPr>
      </p:sp>
      <p:sp>
        <p:nvSpPr>
          <p:cNvPr id="9" name="Text 7"/>
          <p:cNvSpPr/>
          <p:nvPr/>
        </p:nvSpPr>
        <p:spPr>
          <a:xfrm>
            <a:off x="6510528" y="1664208"/>
            <a:ext cx="4846320" cy="274320"/>
          </a:xfrm>
          <a:prstGeom prst="rect">
            <a:avLst/>
          </a:prstGeom>
          <a:noFill/>
          <a:ln/>
        </p:spPr>
        <p:txBody>
          <a:bodyPr wrap="square" lIns="0" tIns="0" rIns="0" bIns="0" rtlCol="0" anchor="ctr"/>
          <a:lstStyle/>
          <a:p>
            <a:pPr indent="0" marL="0">
              <a:buNone/>
            </a:pPr>
            <a:r>
              <a:rPr lang="en-US" sz="1100" b="1" dirty="0">
                <a:solidFill>
                  <a:srgbClr val="A99C8E"/>
                </a:solidFill>
                <a:latin typeface="Calibri" pitchFamily="34" charset="0"/>
                <a:ea typeface="Calibri" pitchFamily="34" charset="-122"/>
                <a:cs typeface="Calibri" pitchFamily="34" charset="-120"/>
              </a:rPr>
              <a:t>What it actually was</a:t>
            </a:r>
            <a:endParaRPr lang="en-US" sz="1100" dirty="0"/>
          </a:p>
        </p:txBody>
      </p:sp>
      <p:sp>
        <p:nvSpPr>
          <p:cNvPr id="10" name="Text 8"/>
          <p:cNvSpPr/>
          <p:nvPr/>
        </p:nvSpPr>
        <p:spPr>
          <a:xfrm>
            <a:off x="6510528" y="1938528"/>
            <a:ext cx="4846320" cy="329184"/>
          </a:xfrm>
          <a:prstGeom prst="rect">
            <a:avLst/>
          </a:prstGeom>
          <a:noFill/>
          <a:ln/>
        </p:spPr>
        <p:txBody>
          <a:bodyPr wrap="square" lIns="0" tIns="0" rIns="0" bIns="0" rtlCol="0" anchor="ctr"/>
          <a:lstStyle/>
          <a:p>
            <a:pPr indent="0" marL="0">
              <a:buNone/>
            </a:pPr>
            <a:r>
              <a:rPr lang="en-US" sz="1700" b="1" dirty="0">
                <a:solidFill>
                  <a:srgbClr val="B85042"/>
                </a:solidFill>
                <a:latin typeface="Cambria" pitchFamily="34" charset="0"/>
                <a:ea typeface="Cambria" pitchFamily="34" charset="-122"/>
                <a:cs typeface="Cambria" pitchFamily="34" charset="-120"/>
              </a:rPr>
              <a:t>66% worse than predicting the mean.</a:t>
            </a:r>
            <a:endParaRPr lang="en-US" sz="1700" dirty="0"/>
          </a:p>
        </p:txBody>
      </p:sp>
      <p:sp>
        <p:nvSpPr>
          <p:cNvPr id="11" name="Text 9"/>
          <p:cNvSpPr/>
          <p:nvPr/>
        </p:nvSpPr>
        <p:spPr>
          <a:xfrm>
            <a:off x="6510528" y="2286000"/>
            <a:ext cx="4846320" cy="640080"/>
          </a:xfrm>
          <a:prstGeom prst="rect">
            <a:avLst/>
          </a:prstGeom>
          <a:noFill/>
          <a:ln/>
        </p:spPr>
        <p:txBody>
          <a:bodyPr wrap="square" lIns="0" tIns="0" rIns="0" bIns="0" rtlCol="0" anchor="ctr"/>
          <a:lstStyle/>
          <a:p>
            <a:pPr indent="0" marL="0">
              <a:buNone/>
            </a:pPr>
            <a:r>
              <a:rPr lang="en-US" sz="1150" dirty="0">
                <a:solidFill>
                  <a:srgbClr val="D8CFC4"/>
                </a:solidFill>
                <a:latin typeface="Calibri" pitchFamily="34" charset="0"/>
                <a:ea typeface="Calibri" pitchFamily="34" charset="-122"/>
                <a:cs typeface="Calibri" pitchFamily="34" charset="-120"/>
              </a:rPr>
              <a:t>MAE 0.246 against a 0.148 baseline. R² of −6.5.</a:t>
            </a:r>
            <a:endParaRPr lang="en-US" sz="1150" dirty="0"/>
          </a:p>
        </p:txBody>
      </p:sp>
      <p:sp>
        <p:nvSpPr>
          <p:cNvPr id="12" name="Text 10"/>
          <p:cNvSpPr/>
          <p:nvPr/>
        </p:nvSpPr>
        <p:spPr>
          <a:xfrm>
            <a:off x="566928" y="3310128"/>
            <a:ext cx="11055096" cy="310896"/>
          </a:xfrm>
          <a:prstGeom prst="rect">
            <a:avLst/>
          </a:prstGeom>
          <a:noFill/>
          <a:ln/>
        </p:spPr>
        <p:txBody>
          <a:bodyPr wrap="square" lIns="0" tIns="0" rIns="0" bIns="0" rtlCol="0" anchor="ctr"/>
          <a:lstStyle/>
          <a:p>
            <a:pPr indent="0" marL="0">
              <a:buNone/>
            </a:pPr>
            <a:r>
              <a:rPr lang="en-US" sz="1600" b="1" dirty="0">
                <a:solidFill>
                  <a:srgbClr val="8E3B32"/>
                </a:solidFill>
                <a:latin typeface="Cambria" pitchFamily="34" charset="0"/>
                <a:ea typeface="Cambria" pitchFamily="34" charset="-122"/>
                <a:cs typeface="Cambria" pitchFamily="34" charset="-120"/>
              </a:rPr>
              <a:t>The cause</a:t>
            </a:r>
            <a:endParaRPr lang="en-US" sz="1600" dirty="0"/>
          </a:p>
        </p:txBody>
      </p:sp>
      <p:sp>
        <p:nvSpPr>
          <p:cNvPr id="13" name="Text 11"/>
          <p:cNvSpPr/>
          <p:nvPr/>
        </p:nvSpPr>
        <p:spPr>
          <a:xfrm>
            <a:off x="566928" y="3639312"/>
            <a:ext cx="10424160" cy="457200"/>
          </a:xfrm>
          <a:prstGeom prst="rect">
            <a:avLst/>
          </a:prstGeom>
          <a:noFill/>
          <a:ln/>
        </p:spPr>
        <p:txBody>
          <a:bodyPr wrap="square" lIns="0" tIns="0" rIns="0" bIns="0" rtlCol="0" anchor="ctr"/>
          <a:lstStyle/>
          <a:p>
            <a:pPr indent="0" marL="0">
              <a:buNone/>
            </a:pPr>
            <a:r>
              <a:rPr lang="en-US" sz="1300" dirty="0">
                <a:solidFill>
                  <a:srgbClr val="2B2118"/>
                </a:solidFill>
                <a:latin typeface="Calibri" pitchFamily="34" charset="0"/>
                <a:ea typeface="Calibri" pitchFamily="34" charset="-122"/>
                <a:cs typeface="Calibri" pitchFamily="34" charset="-120"/>
              </a:rPr>
              <a:t>Yearly seasonality fitted on less than one full cycle. With ~365 days the Fourier term is unidentifiable, so it latched onto noise and extrapolated it — confidently.</a:t>
            </a:r>
            <a:endParaRPr lang="en-US" sz="1300" dirty="0"/>
          </a:p>
        </p:txBody>
      </p:sp>
      <p:sp>
        <p:nvSpPr>
          <p:cNvPr id="14" name="Shape 12"/>
          <p:cNvSpPr/>
          <p:nvPr/>
        </p:nvSpPr>
        <p:spPr>
          <a:xfrm>
            <a:off x="566928" y="4169664"/>
            <a:ext cx="2606040" cy="822960"/>
          </a:xfrm>
          <a:prstGeom prst="roundRect">
            <a:avLst>
              <a:gd name="adj" fmla="val 6667"/>
            </a:avLst>
          </a:prstGeom>
          <a:solidFill>
            <a:srgbClr val="EFEAD8"/>
          </a:solidFill>
          <a:ln/>
          <a:effectLst>
            <a:outerShdw sx="100000" sy="100000" kx="0" ky="0" algn="bl" rotWithShape="0" blurRad="101600" dist="508" dir="5400000">
              <a:srgbClr val="000000">
                <a:alpha val="10000"/>
              </a:srgbClr>
            </a:outerShdw>
          </a:effectLst>
        </p:spPr>
      </p:sp>
      <p:sp>
        <p:nvSpPr>
          <p:cNvPr id="15" name="Text 13"/>
          <p:cNvSpPr/>
          <p:nvPr/>
        </p:nvSpPr>
        <p:spPr>
          <a:xfrm>
            <a:off x="749808" y="4279392"/>
            <a:ext cx="2240280" cy="274320"/>
          </a:xfrm>
          <a:prstGeom prst="rect">
            <a:avLst/>
          </a:prstGeom>
          <a:noFill/>
          <a:ln/>
        </p:spPr>
        <p:txBody>
          <a:bodyPr wrap="square" lIns="0" tIns="0" rIns="0" bIns="0" rtlCol="0" anchor="ctr"/>
          <a:lstStyle/>
          <a:p>
            <a:pPr indent="0" marL="0">
              <a:buNone/>
            </a:pPr>
            <a:r>
              <a:rPr lang="en-US" sz="1100" b="1" dirty="0">
                <a:solidFill>
                  <a:srgbClr val="2B2118"/>
                </a:solidFill>
                <a:latin typeface="Calibri" pitchFamily="34" charset="0"/>
                <a:ea typeface="Calibri" pitchFamily="34" charset="-122"/>
                <a:cs typeface="Calibri" pitchFamily="34" charset="-120"/>
              </a:rPr>
              <a:t>Yearly seasonality</a:t>
            </a:r>
            <a:endParaRPr lang="en-US" sz="1100" dirty="0"/>
          </a:p>
        </p:txBody>
      </p:sp>
      <p:sp>
        <p:nvSpPr>
          <p:cNvPr id="16" name="Text 14"/>
          <p:cNvSpPr/>
          <p:nvPr/>
        </p:nvSpPr>
        <p:spPr>
          <a:xfrm>
            <a:off x="749808" y="4553712"/>
            <a:ext cx="2240280" cy="310896"/>
          </a:xfrm>
          <a:prstGeom prst="rect">
            <a:avLst/>
          </a:prstGeom>
          <a:noFill/>
          <a:ln/>
        </p:spPr>
        <p:txBody>
          <a:bodyPr wrap="square" lIns="0" tIns="0" rIns="0" bIns="0" rtlCol="0" anchor="ctr"/>
          <a:lstStyle/>
          <a:p>
            <a:pPr indent="0" marL="0">
              <a:buNone/>
            </a:pPr>
            <a:r>
              <a:rPr lang="en-US" sz="1100" dirty="0">
                <a:solidFill>
                  <a:srgbClr val="8E3B32"/>
                </a:solidFill>
                <a:latin typeface="Calibri" pitchFamily="34" charset="0"/>
                <a:ea typeface="Calibri" pitchFamily="34" charset="-122"/>
                <a:cs typeface="Calibri" pitchFamily="34" charset="-120"/>
              </a:rPr>
              <a:t>OFF below 730 days</a:t>
            </a:r>
            <a:endParaRPr lang="en-US" sz="1100" dirty="0"/>
          </a:p>
        </p:txBody>
      </p:sp>
      <p:sp>
        <p:nvSpPr>
          <p:cNvPr id="17" name="Shape 15"/>
          <p:cNvSpPr/>
          <p:nvPr/>
        </p:nvSpPr>
        <p:spPr>
          <a:xfrm>
            <a:off x="3355848" y="4169664"/>
            <a:ext cx="2606040" cy="822960"/>
          </a:xfrm>
          <a:prstGeom prst="roundRect">
            <a:avLst>
              <a:gd name="adj" fmla="val 6667"/>
            </a:avLst>
          </a:prstGeom>
          <a:solidFill>
            <a:srgbClr val="EFEAD8"/>
          </a:solidFill>
          <a:ln/>
          <a:effectLst>
            <a:outerShdw sx="100000" sy="100000" kx="0" ky="0" algn="bl" rotWithShape="0" blurRad="101600" dist="508" dir="5400000">
              <a:srgbClr val="000000">
                <a:alpha val="10000"/>
              </a:srgbClr>
            </a:outerShdw>
          </a:effectLst>
        </p:spPr>
      </p:sp>
      <p:sp>
        <p:nvSpPr>
          <p:cNvPr id="18" name="Text 16"/>
          <p:cNvSpPr/>
          <p:nvPr/>
        </p:nvSpPr>
        <p:spPr>
          <a:xfrm>
            <a:off x="3538728" y="4279392"/>
            <a:ext cx="2240280" cy="274320"/>
          </a:xfrm>
          <a:prstGeom prst="rect">
            <a:avLst/>
          </a:prstGeom>
          <a:noFill/>
          <a:ln/>
        </p:spPr>
        <p:txBody>
          <a:bodyPr wrap="square" lIns="0" tIns="0" rIns="0" bIns="0" rtlCol="0" anchor="ctr"/>
          <a:lstStyle/>
          <a:p>
            <a:pPr indent="0" marL="0">
              <a:buNone/>
            </a:pPr>
            <a:r>
              <a:rPr lang="en-US" sz="1100" b="1" dirty="0">
                <a:solidFill>
                  <a:srgbClr val="2B2118"/>
                </a:solidFill>
                <a:latin typeface="Calibri" pitchFamily="34" charset="0"/>
                <a:ea typeface="Calibri" pitchFamily="34" charset="-122"/>
                <a:cs typeface="Calibri" pitchFamily="34" charset="-120"/>
              </a:rPr>
              <a:t>Holiday regressors</a:t>
            </a:r>
            <a:endParaRPr lang="en-US" sz="1100" dirty="0"/>
          </a:p>
        </p:txBody>
      </p:sp>
      <p:sp>
        <p:nvSpPr>
          <p:cNvPr id="19" name="Text 17"/>
          <p:cNvSpPr/>
          <p:nvPr/>
        </p:nvSpPr>
        <p:spPr>
          <a:xfrm>
            <a:off x="3538728" y="4553712"/>
            <a:ext cx="2240280" cy="310896"/>
          </a:xfrm>
          <a:prstGeom prst="rect">
            <a:avLst/>
          </a:prstGeom>
          <a:noFill/>
          <a:ln/>
        </p:spPr>
        <p:txBody>
          <a:bodyPr wrap="square" lIns="0" tIns="0" rIns="0" bIns="0" rtlCol="0" anchor="ctr"/>
          <a:lstStyle/>
          <a:p>
            <a:pPr indent="0" marL="0">
              <a:buNone/>
            </a:pPr>
            <a:r>
              <a:rPr lang="en-US" sz="1100" dirty="0">
                <a:solidFill>
                  <a:srgbClr val="8E3B32"/>
                </a:solidFill>
                <a:latin typeface="Calibri" pitchFamily="34" charset="0"/>
                <a:ea typeface="Calibri" pitchFamily="34" charset="-122"/>
                <a:cs typeface="Calibri" pitchFamily="34" charset="-120"/>
              </a:rPr>
              <a:t>OFF below 730 days</a:t>
            </a:r>
            <a:endParaRPr lang="en-US" sz="1100" dirty="0"/>
          </a:p>
        </p:txBody>
      </p:sp>
      <p:sp>
        <p:nvSpPr>
          <p:cNvPr id="20" name="Shape 18"/>
          <p:cNvSpPr/>
          <p:nvPr/>
        </p:nvSpPr>
        <p:spPr>
          <a:xfrm>
            <a:off x="6144768" y="4169664"/>
            <a:ext cx="2606040" cy="822960"/>
          </a:xfrm>
          <a:prstGeom prst="roundRect">
            <a:avLst>
              <a:gd name="adj" fmla="val 6667"/>
            </a:avLst>
          </a:prstGeom>
          <a:solidFill>
            <a:srgbClr val="EFEAD8"/>
          </a:solidFill>
          <a:ln/>
          <a:effectLst>
            <a:outerShdw sx="100000" sy="100000" kx="0" ky="0" algn="bl" rotWithShape="0" blurRad="101600" dist="508" dir="5400000">
              <a:srgbClr val="000000">
                <a:alpha val="10000"/>
              </a:srgbClr>
            </a:outerShdw>
          </a:effectLst>
        </p:spPr>
      </p:sp>
      <p:sp>
        <p:nvSpPr>
          <p:cNvPr id="21" name="Text 19"/>
          <p:cNvSpPr/>
          <p:nvPr/>
        </p:nvSpPr>
        <p:spPr>
          <a:xfrm>
            <a:off x="6327648" y="4279392"/>
            <a:ext cx="2240280" cy="274320"/>
          </a:xfrm>
          <a:prstGeom prst="rect">
            <a:avLst/>
          </a:prstGeom>
          <a:noFill/>
          <a:ln/>
        </p:spPr>
        <p:txBody>
          <a:bodyPr wrap="square" lIns="0" tIns="0" rIns="0" bIns="0" rtlCol="0" anchor="ctr"/>
          <a:lstStyle/>
          <a:p>
            <a:pPr indent="0" marL="0">
              <a:buNone/>
            </a:pPr>
            <a:r>
              <a:rPr lang="en-US" sz="1100" b="1" dirty="0">
                <a:solidFill>
                  <a:srgbClr val="2B2118"/>
                </a:solidFill>
                <a:latin typeface="Calibri" pitchFamily="34" charset="0"/>
                <a:ea typeface="Calibri" pitchFamily="34" charset="-122"/>
                <a:cs typeface="Calibri" pitchFamily="34" charset="-120"/>
              </a:rPr>
              <a:t>Growth</a:t>
            </a:r>
            <a:endParaRPr lang="en-US" sz="1100" dirty="0"/>
          </a:p>
        </p:txBody>
      </p:sp>
      <p:sp>
        <p:nvSpPr>
          <p:cNvPr id="22" name="Text 20"/>
          <p:cNvSpPr/>
          <p:nvPr/>
        </p:nvSpPr>
        <p:spPr>
          <a:xfrm>
            <a:off x="6327648" y="4553712"/>
            <a:ext cx="2240280" cy="310896"/>
          </a:xfrm>
          <a:prstGeom prst="rect">
            <a:avLst/>
          </a:prstGeom>
          <a:noFill/>
          <a:ln/>
        </p:spPr>
        <p:txBody>
          <a:bodyPr wrap="square" lIns="0" tIns="0" rIns="0" bIns="0" rtlCol="0" anchor="ctr"/>
          <a:lstStyle/>
          <a:p>
            <a:pPr indent="0" marL="0">
              <a:buNone/>
            </a:pPr>
            <a:r>
              <a:rPr lang="en-US" sz="1100" dirty="0">
                <a:solidFill>
                  <a:srgbClr val="8E3B32"/>
                </a:solidFill>
                <a:latin typeface="Calibri" pitchFamily="34" charset="0"/>
                <a:ea typeface="Calibri" pitchFamily="34" charset="-122"/>
                <a:cs typeface="Calibri" pitchFamily="34" charset="-120"/>
              </a:rPr>
              <a:t>linear, cps 0.05</a:t>
            </a:r>
            <a:endParaRPr lang="en-US" sz="1100" dirty="0"/>
          </a:p>
        </p:txBody>
      </p:sp>
      <p:sp>
        <p:nvSpPr>
          <p:cNvPr id="23" name="Shape 21"/>
          <p:cNvSpPr/>
          <p:nvPr/>
        </p:nvSpPr>
        <p:spPr>
          <a:xfrm>
            <a:off x="8933688" y="4169664"/>
            <a:ext cx="2688336" cy="822960"/>
          </a:xfrm>
          <a:prstGeom prst="roundRect">
            <a:avLst>
              <a:gd name="adj" fmla="val 6667"/>
            </a:avLst>
          </a:prstGeom>
          <a:solidFill>
            <a:srgbClr val="B85042"/>
          </a:solidFill>
          <a:ln/>
          <a:effectLst>
            <a:outerShdw sx="100000" sy="100000" kx="0" ky="0" algn="bl" rotWithShape="0" blurRad="101600" dist="508" dir="5400000">
              <a:srgbClr val="000000">
                <a:alpha val="10000"/>
              </a:srgbClr>
            </a:outerShdw>
          </a:effectLst>
        </p:spPr>
      </p:sp>
      <p:sp>
        <p:nvSpPr>
          <p:cNvPr id="24" name="Text 22"/>
          <p:cNvSpPr/>
          <p:nvPr/>
        </p:nvSpPr>
        <p:spPr>
          <a:xfrm>
            <a:off x="8933688" y="4169664"/>
            <a:ext cx="2688336"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MAE 0.246 → 0.088</a:t>
            </a:r>
            <a:endParaRPr lang="en-US" sz="1500" dirty="0"/>
          </a:p>
        </p:txBody>
      </p:sp>
      <p:sp>
        <p:nvSpPr>
          <p:cNvPr id="25" name="Shape 23"/>
          <p:cNvSpPr/>
          <p:nvPr/>
        </p:nvSpPr>
        <p:spPr>
          <a:xfrm>
            <a:off x="566928" y="5138928"/>
            <a:ext cx="11055096" cy="713232"/>
          </a:xfrm>
          <a:prstGeom prst="roundRect">
            <a:avLst>
              <a:gd name="adj" fmla="val 7692"/>
            </a:avLst>
          </a:prstGeom>
          <a:solidFill>
            <a:srgbClr val="2B2118"/>
          </a:solidFill>
          <a:ln/>
          <a:effectLst>
            <a:outerShdw sx="100000" sy="100000" kx="0" ky="0" algn="bl" rotWithShape="0" blurRad="101600" dist="508" dir="5400000">
              <a:srgbClr val="000000">
                <a:alpha val="10000"/>
              </a:srgbClr>
            </a:outerShdw>
          </a:effectLst>
        </p:spPr>
      </p:sp>
      <p:sp>
        <p:nvSpPr>
          <p:cNvPr id="26" name="Text 24"/>
          <p:cNvSpPr/>
          <p:nvPr/>
        </p:nvSpPr>
        <p:spPr>
          <a:xfrm>
            <a:off x="841248" y="5138928"/>
            <a:ext cx="10424160" cy="7132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lesson: structural tests prove a model runs. Only a baseline proves it works. Without one I would have shipped a forecaster worse than an average.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DEBUGGING · 2 OF 3</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Right range, right mean, wrong values</a:t>
            </a:r>
            <a:endParaRPr lang="en-US" sz="3200" dirty="0"/>
          </a:p>
        </p:txBody>
      </p:sp>
      <p:sp>
        <p:nvSpPr>
          <p:cNvPr id="4" name="Text 2"/>
          <p:cNvSpPr/>
          <p:nvPr/>
        </p:nvSpPr>
        <p:spPr>
          <a:xfrm>
            <a:off x="566928" y="1481328"/>
            <a:ext cx="5852160" cy="310896"/>
          </a:xfrm>
          <a:prstGeom prst="rect">
            <a:avLst/>
          </a:prstGeom>
          <a:noFill/>
          <a:ln/>
        </p:spPr>
        <p:txBody>
          <a:bodyPr wrap="square" lIns="0" tIns="0" rIns="0" bIns="0" rtlCol="0" anchor="ctr"/>
          <a:lstStyle/>
          <a:p>
            <a:pPr indent="0" marL="0">
              <a:buNone/>
            </a:pPr>
            <a:r>
              <a:rPr lang="en-US" sz="1600" b="1" dirty="0">
                <a:solidFill>
                  <a:srgbClr val="8E3B32"/>
                </a:solidFill>
                <a:latin typeface="Cambria" pitchFamily="34" charset="0"/>
                <a:ea typeface="Cambria" pitchFamily="34" charset="-122"/>
                <a:cs typeface="Cambria" pitchFamily="34" charset="-120"/>
              </a:rPr>
              <a:t>The symptom that gave it away</a:t>
            </a:r>
            <a:endParaRPr lang="en-US" sz="1600" dirty="0"/>
          </a:p>
        </p:txBody>
      </p:sp>
      <p:sp>
        <p:nvSpPr>
          <p:cNvPr id="5" name="Text 3"/>
          <p:cNvSpPr/>
          <p:nvPr/>
        </p:nvSpPr>
        <p:spPr>
          <a:xfrm>
            <a:off x="566928" y="1810512"/>
            <a:ext cx="5852160" cy="603504"/>
          </a:xfrm>
          <a:prstGeom prst="rect">
            <a:avLst/>
          </a:prstGeom>
          <a:noFill/>
          <a:ln/>
        </p:spPr>
        <p:txBody>
          <a:bodyPr wrap="square" lIns="0" tIns="0" rIns="0" bIns="0" rtlCol="0" anchor="ctr"/>
          <a:lstStyle/>
          <a:p>
            <a:pPr indent="0" marL="0">
              <a:buNone/>
            </a:pPr>
            <a:r>
              <a:rPr lang="en-US" sz="1250" dirty="0">
                <a:solidFill>
                  <a:srgbClr val="2B2118"/>
                </a:solidFill>
                <a:latin typeface="Calibri" pitchFamily="34" charset="0"/>
                <a:ea typeface="Calibri" pitchFamily="34" charset="-122"/>
                <a:cs typeface="Calibri" pitchFamily="34" charset="-120"/>
              </a:rPr>
              <a:t>The gradient booster ranked occupancy below weather_score. That is nonsense — on check-in day the rooms on the books essentially are the answer.</a:t>
            </a:r>
            <a:endParaRPr lang="en-US" sz="1250" dirty="0"/>
          </a:p>
        </p:txBody>
      </p:sp>
      <p:sp>
        <p:nvSpPr>
          <p:cNvPr id="6" name="Text 4"/>
          <p:cNvSpPr/>
          <p:nvPr/>
        </p:nvSpPr>
        <p:spPr>
          <a:xfrm>
            <a:off x="566928" y="2395728"/>
            <a:ext cx="5852160" cy="365760"/>
          </a:xfrm>
          <a:prstGeom prst="rect">
            <a:avLst/>
          </a:prstGeom>
          <a:noFill/>
          <a:ln/>
        </p:spPr>
        <p:txBody>
          <a:bodyPr wrap="square" lIns="0" tIns="0" rIns="0" bIns="0" rtlCol="0" anchor="ctr"/>
          <a:lstStyle/>
          <a:p>
            <a:pPr indent="0" marL="0">
              <a:buNone/>
            </a:pPr>
            <a:r>
              <a:rPr lang="en-US" sz="1250" b="1" dirty="0">
                <a:solidFill>
                  <a:srgbClr val="2B2118"/>
                </a:solidFill>
                <a:latin typeface="Calibri" pitchFamily="34" charset="0"/>
                <a:ea typeface="Calibri" pitchFamily="34" charset="-122"/>
                <a:cs typeface="Calibri" pitchFamily="34" charset="-120"/>
              </a:rPr>
              <a:t>Looking closer: the booking curve was flat at ~0.48 occupancy at every horizon. Impossible.</a:t>
            </a:r>
            <a:endParaRPr lang="en-US" sz="1250" dirty="0"/>
          </a:p>
        </p:txBody>
      </p:sp>
      <p:sp>
        <p:nvSpPr>
          <p:cNvPr id="7" name="Shape 5"/>
          <p:cNvSpPr/>
          <p:nvPr/>
        </p:nvSpPr>
        <p:spPr>
          <a:xfrm>
            <a:off x="566928" y="2871216"/>
            <a:ext cx="5852160" cy="1572768"/>
          </a:xfrm>
          <a:prstGeom prst="roundRect">
            <a:avLst>
              <a:gd name="adj" fmla="val 3488"/>
            </a:avLst>
          </a:prstGeom>
          <a:solidFill>
            <a:srgbClr val="2B2118"/>
          </a:solidFill>
          <a:ln/>
          <a:effectLst>
            <a:outerShdw sx="100000" sy="100000" kx="0" ky="0" algn="bl" rotWithShape="0" blurRad="101600" dist="508" dir="5400000">
              <a:srgbClr val="000000">
                <a:alpha val="10000"/>
              </a:srgbClr>
            </a:outerShdw>
          </a:effectLst>
        </p:spPr>
      </p:sp>
      <p:sp>
        <p:nvSpPr>
          <p:cNvPr id="8" name="Text 6"/>
          <p:cNvSpPr/>
          <p:nvPr/>
        </p:nvSpPr>
        <p:spPr>
          <a:xfrm>
            <a:off x="841248" y="3017520"/>
            <a:ext cx="5303520" cy="274320"/>
          </a:xfrm>
          <a:prstGeom prst="rect">
            <a:avLst/>
          </a:prstGeom>
          <a:noFill/>
          <a:ln/>
        </p:spPr>
        <p:txBody>
          <a:bodyPr wrap="square" lIns="0" tIns="0" rIns="0" bIns="0" rtlCol="0" anchor="ctr"/>
          <a:lstStyle/>
          <a:p>
            <a:pPr indent="0" marL="0">
              <a:buNone/>
            </a:pPr>
            <a:r>
              <a:rPr lang="en-US" sz="1100" b="1" dirty="0">
                <a:solidFill>
                  <a:srgbClr val="A99C8E"/>
                </a:solidFill>
                <a:latin typeface="Calibri" pitchFamily="34" charset="0"/>
                <a:ea typeface="Calibri" pitchFamily="34" charset="-122"/>
                <a:cs typeface="Calibri" pitchFamily="34" charset="-120"/>
              </a:rPr>
              <a:t>The cause</a:t>
            </a:r>
            <a:endParaRPr lang="en-US" sz="1100" dirty="0"/>
          </a:p>
        </p:txBody>
      </p:sp>
      <p:sp>
        <p:nvSpPr>
          <p:cNvPr id="9" name="Text 7"/>
          <p:cNvSpPr/>
          <p:nvPr/>
        </p:nvSpPr>
        <p:spPr>
          <a:xfrm>
            <a:off x="841248" y="3291840"/>
            <a:ext cx="5303520" cy="1005840"/>
          </a:xfrm>
          <a:prstGeom prst="rect">
            <a:avLst/>
          </a:prstGeom>
          <a:noFill/>
          <a:ln/>
        </p:spPr>
        <p:txBody>
          <a:bodyPr wrap="square" lIns="0" tIns="0" rIns="0" bIns="0" rtlCol="0" anchor="ctr"/>
          <a:lstStyle/>
          <a:p>
            <a:pPr indent="0" marL="0">
              <a:buNone/>
            </a:pPr>
            <a:r>
              <a:rPr lang="en-US" sz="1150" dirty="0">
                <a:solidFill>
                  <a:srgbClr val="D8CFC4"/>
                </a:solidFill>
                <a:latin typeface="Calibri" pitchFamily="34" charset="0"/>
                <a:ea typeface="Calibri" pitchFamily="34" charset="-122"/>
                <a:cs typeface="Calibri" pitchFamily="34" charset="-120"/>
              </a:rPr>
              <a:t>pd.merge_asof returns a fresh RangeIndex. Restoring row order with sort_index() therefore re-sorted by position — handing every row some other row's on-the-books total.</a:t>
            </a:r>
            <a:endParaRPr lang="en-US" sz="1150" dirty="0"/>
          </a:p>
        </p:txBody>
      </p:sp>
      <p:sp>
        <p:nvSpPr>
          <p:cNvPr id="10" name="Shape 8"/>
          <p:cNvSpPr/>
          <p:nvPr/>
        </p:nvSpPr>
        <p:spPr>
          <a:xfrm>
            <a:off x="6675120" y="1481328"/>
            <a:ext cx="4946904" cy="2962656"/>
          </a:xfrm>
          <a:prstGeom prst="roundRect">
            <a:avLst>
              <a:gd name="adj" fmla="val 1852"/>
            </a:avLst>
          </a:prstGeom>
          <a:solidFill>
            <a:srgbClr val="EFEAD8"/>
          </a:solidFill>
          <a:ln/>
          <a:effectLst>
            <a:outerShdw sx="100000" sy="100000" kx="0" ky="0" algn="bl" rotWithShape="0" blurRad="101600" dist="508" dir="5400000">
              <a:srgbClr val="000000">
                <a:alpha val="10000"/>
              </a:srgbClr>
            </a:outerShdw>
          </a:effectLst>
        </p:spPr>
      </p:sp>
      <p:sp>
        <p:nvSpPr>
          <p:cNvPr id="11" name="Text 9"/>
          <p:cNvSpPr/>
          <p:nvPr/>
        </p:nvSpPr>
        <p:spPr>
          <a:xfrm>
            <a:off x="6949440" y="1645920"/>
            <a:ext cx="4389120" cy="292608"/>
          </a:xfrm>
          <a:prstGeom prst="rect">
            <a:avLst/>
          </a:prstGeom>
          <a:noFill/>
          <a:ln/>
        </p:spPr>
        <p:txBody>
          <a:bodyPr wrap="square" lIns="0" tIns="0" rIns="0" bIns="0" rtlCol="0" anchor="ctr"/>
          <a:lstStyle/>
          <a:p>
            <a:pPr indent="0" marL="0">
              <a:buNone/>
            </a:pPr>
            <a:r>
              <a:rPr lang="en-US" sz="1500" b="1" dirty="0">
                <a:solidFill>
                  <a:srgbClr val="8E3B32"/>
                </a:solidFill>
                <a:latin typeface="Cambria" pitchFamily="34" charset="0"/>
                <a:ea typeface="Cambria" pitchFamily="34" charset="-122"/>
                <a:cs typeface="Cambria" pitchFamily="34" charset="-120"/>
              </a:rPr>
              <a:t>Why it survived the tests</a:t>
            </a:r>
            <a:endParaRPr lang="en-US" sz="1500" dirty="0"/>
          </a:p>
        </p:txBody>
      </p:sp>
      <p:sp>
        <p:nvSpPr>
          <p:cNvPr id="12" name="Text 10"/>
          <p:cNvSpPr/>
          <p:nvPr/>
        </p:nvSpPr>
        <p:spPr>
          <a:xfrm>
            <a:off x="6949440" y="1993392"/>
            <a:ext cx="4389120" cy="640080"/>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The column still had the right range and the right mean — so 10 of the 11 tests in that class passed with the bug in place.</a:t>
            </a:r>
            <a:endParaRPr lang="en-US" sz="1150" dirty="0"/>
          </a:p>
        </p:txBody>
      </p:sp>
      <p:sp>
        <p:nvSpPr>
          <p:cNvPr id="13" name="Text 11"/>
          <p:cNvSpPr/>
          <p:nvPr/>
        </p:nvSpPr>
        <p:spPr>
          <a:xfrm>
            <a:off x="6949440" y="2651760"/>
            <a:ext cx="4389120" cy="914400"/>
          </a:xfrm>
          <a:prstGeom prst="rect">
            <a:avLst/>
          </a:prstGeom>
          <a:noFill/>
          <a:ln/>
        </p:spPr>
        <p:txBody>
          <a:bodyPr wrap="square" lIns="0" tIns="0" rIns="0" bIns="0" rtlCol="0" anchor="ctr"/>
          <a:lstStyle/>
          <a:p>
            <a:pPr indent="0" marL="0">
              <a:buNone/>
            </a:pPr>
            <a:r>
              <a:rPr lang="en-US" sz="1150" dirty="0">
                <a:solidFill>
                  <a:srgbClr val="2B2118"/>
                </a:solidFill>
                <a:latin typeface="Calibri" pitchFamily="34" charset="0"/>
                <a:ea typeface="Calibri" pitchFamily="34" charset="-122"/>
                <a:cs typeface="Calibri" pitchFamily="34" charset="-120"/>
              </a:rPr>
              <a:t>And the regression test only catches it with VARYING horizons. The fixed-horizon version passes either way, because on identical keys a stable sort is a no-op.</a:t>
            </a:r>
            <a:endParaRPr lang="en-US" sz="1150" dirty="0"/>
          </a:p>
        </p:txBody>
      </p:sp>
      <p:sp>
        <p:nvSpPr>
          <p:cNvPr id="14" name="Text 12"/>
          <p:cNvSpPr/>
          <p:nvPr/>
        </p:nvSpPr>
        <p:spPr>
          <a:xfrm>
            <a:off x="6949440" y="3602736"/>
            <a:ext cx="4389120" cy="603504"/>
          </a:xfrm>
          <a:prstGeom prst="rect">
            <a:avLst/>
          </a:prstGeom>
          <a:noFill/>
          <a:ln/>
        </p:spPr>
        <p:txBody>
          <a:bodyPr wrap="square" lIns="0" tIns="0" rIns="0" bIns="0" rtlCol="0" anchor="ctr"/>
          <a:lstStyle/>
          <a:p>
            <a:pPr indent="0" marL="0">
              <a:buNone/>
            </a:pPr>
            <a:r>
              <a:rPr lang="en-US" sz="1200" b="1" i="1" dirty="0">
                <a:solidFill>
                  <a:srgbClr val="8E3B32"/>
                </a:solidFill>
                <a:latin typeface="Calibri" pitchFamily="34" charset="0"/>
                <a:ea typeface="Calibri" pitchFamily="34" charset="-122"/>
                <a:cs typeface="Calibri" pitchFamily="34" charset="-120"/>
              </a:rPr>
              <a:t>A test can be present, passing, and asserting nothing.</a:t>
            </a:r>
            <a:endParaRPr lang="en-US" sz="1200" dirty="0"/>
          </a:p>
        </p:txBody>
      </p:sp>
      <p:sp>
        <p:nvSpPr>
          <p:cNvPr id="15" name="Text 13"/>
          <p:cNvSpPr/>
          <p:nvPr/>
        </p:nvSpPr>
        <p:spPr>
          <a:xfrm>
            <a:off x="566928" y="4626864"/>
            <a:ext cx="2743200" cy="310896"/>
          </a:xfrm>
          <a:prstGeom prst="rect">
            <a:avLst/>
          </a:prstGeom>
          <a:noFill/>
          <a:ln/>
        </p:spPr>
        <p:txBody>
          <a:bodyPr wrap="square" lIns="0" tIns="0" rIns="0" bIns="0" rtlCol="0" anchor="ctr"/>
          <a:lstStyle/>
          <a:p>
            <a:pPr indent="0" marL="0">
              <a:buNone/>
            </a:pPr>
            <a:r>
              <a:rPr lang="en-US" sz="1500" b="1" dirty="0">
                <a:solidFill>
                  <a:srgbClr val="2B2118"/>
                </a:solidFill>
                <a:latin typeface="Cambria" pitchFamily="34" charset="0"/>
                <a:ea typeface="Cambria" pitchFamily="34" charset="-122"/>
                <a:cs typeface="Cambria" pitchFamily="34" charset="-120"/>
              </a:rPr>
              <a:t>After the fix</a:t>
            </a:r>
            <a:endParaRPr lang="en-US" sz="1500" dirty="0"/>
          </a:p>
        </p:txBody>
      </p:sp>
      <p:sp>
        <p:nvSpPr>
          <p:cNvPr id="16" name="Shape 14"/>
          <p:cNvSpPr/>
          <p:nvPr/>
        </p:nvSpPr>
        <p:spPr>
          <a:xfrm>
            <a:off x="3310128" y="4553712"/>
            <a:ext cx="2587752" cy="731520"/>
          </a:xfrm>
          <a:prstGeom prst="roundRect">
            <a:avLst>
              <a:gd name="adj" fmla="val 7500"/>
            </a:avLst>
          </a:prstGeom>
          <a:solidFill>
            <a:srgbClr val="EFEAD8"/>
          </a:solidFill>
          <a:ln/>
          <a:effectLst>
            <a:outerShdw sx="100000" sy="100000" kx="0" ky="0" algn="bl" rotWithShape="0" blurRad="101600" dist="508" dir="5400000">
              <a:srgbClr val="000000">
                <a:alpha val="10000"/>
              </a:srgbClr>
            </a:outerShdw>
          </a:effectLst>
        </p:spPr>
      </p:sp>
      <p:sp>
        <p:nvSpPr>
          <p:cNvPr id="17" name="Text 15"/>
          <p:cNvSpPr/>
          <p:nvPr/>
        </p:nvSpPr>
        <p:spPr>
          <a:xfrm>
            <a:off x="3474720" y="4626864"/>
            <a:ext cx="2286000" cy="256032"/>
          </a:xfrm>
          <a:prstGeom prst="rect">
            <a:avLst/>
          </a:prstGeom>
          <a:noFill/>
          <a:ln/>
        </p:spPr>
        <p:txBody>
          <a:bodyPr wrap="square" lIns="0" tIns="0" rIns="0" bIns="0" rtlCol="0" anchor="ctr"/>
          <a:lstStyle/>
          <a:p>
            <a:pPr indent="0" marL="0">
              <a:buNone/>
            </a:pPr>
            <a:r>
              <a:rPr lang="en-US" sz="1050" b="1" dirty="0">
                <a:solidFill>
                  <a:srgbClr val="776A5F"/>
                </a:solidFill>
                <a:latin typeface="Calibri" pitchFamily="34" charset="0"/>
                <a:ea typeface="Calibri" pitchFamily="34" charset="-122"/>
                <a:cs typeface="Calibri" pitchFamily="34" charset="-120"/>
              </a:rPr>
              <a:t>MAE</a:t>
            </a:r>
            <a:endParaRPr lang="en-US" sz="1050" dirty="0"/>
          </a:p>
        </p:txBody>
      </p:sp>
      <p:sp>
        <p:nvSpPr>
          <p:cNvPr id="18" name="Text 16"/>
          <p:cNvSpPr/>
          <p:nvPr/>
        </p:nvSpPr>
        <p:spPr>
          <a:xfrm>
            <a:off x="3474720" y="4864608"/>
            <a:ext cx="2286000" cy="310896"/>
          </a:xfrm>
          <a:prstGeom prst="rect">
            <a:avLst/>
          </a:prstGeom>
          <a:noFill/>
          <a:ln/>
        </p:spPr>
        <p:txBody>
          <a:bodyPr wrap="square" lIns="0" tIns="0" rIns="0" bIns="0" rtlCol="0" anchor="ctr"/>
          <a:lstStyle/>
          <a:p>
            <a:pPr indent="0" marL="0">
              <a:buNone/>
            </a:pPr>
            <a:r>
              <a:rPr lang="en-US" sz="1250" b="1" dirty="0">
                <a:solidFill>
                  <a:srgbClr val="2B2118"/>
                </a:solidFill>
                <a:latin typeface="Calibri" pitchFamily="34" charset="0"/>
                <a:ea typeface="Calibri" pitchFamily="34" charset="-122"/>
                <a:cs typeface="Calibri" pitchFamily="34" charset="-120"/>
              </a:rPr>
              <a:t>0.087 → 0.064</a:t>
            </a:r>
            <a:endParaRPr lang="en-US" sz="1250" dirty="0"/>
          </a:p>
        </p:txBody>
      </p:sp>
      <p:sp>
        <p:nvSpPr>
          <p:cNvPr id="19" name="Shape 17"/>
          <p:cNvSpPr/>
          <p:nvPr/>
        </p:nvSpPr>
        <p:spPr>
          <a:xfrm>
            <a:off x="6080760" y="4553712"/>
            <a:ext cx="2587752" cy="731520"/>
          </a:xfrm>
          <a:prstGeom prst="roundRect">
            <a:avLst>
              <a:gd name="adj" fmla="val 7500"/>
            </a:avLst>
          </a:prstGeom>
          <a:solidFill>
            <a:srgbClr val="EFEAD8"/>
          </a:solidFill>
          <a:ln/>
          <a:effectLst>
            <a:outerShdw sx="100000" sy="100000" kx="0" ky="0" algn="bl" rotWithShape="0" blurRad="101600" dist="508" dir="5400000">
              <a:srgbClr val="000000">
                <a:alpha val="10000"/>
              </a:srgbClr>
            </a:outerShdw>
          </a:effectLst>
        </p:spPr>
      </p:sp>
      <p:sp>
        <p:nvSpPr>
          <p:cNvPr id="20" name="Text 18"/>
          <p:cNvSpPr/>
          <p:nvPr/>
        </p:nvSpPr>
        <p:spPr>
          <a:xfrm>
            <a:off x="6245352" y="4626864"/>
            <a:ext cx="2286000" cy="256032"/>
          </a:xfrm>
          <a:prstGeom prst="rect">
            <a:avLst/>
          </a:prstGeom>
          <a:noFill/>
          <a:ln/>
        </p:spPr>
        <p:txBody>
          <a:bodyPr wrap="square" lIns="0" tIns="0" rIns="0" bIns="0" rtlCol="0" anchor="ctr"/>
          <a:lstStyle/>
          <a:p>
            <a:pPr indent="0" marL="0">
              <a:buNone/>
            </a:pPr>
            <a:r>
              <a:rPr lang="en-US" sz="1050" b="1" dirty="0">
                <a:solidFill>
                  <a:srgbClr val="776A5F"/>
                </a:solidFill>
                <a:latin typeface="Calibri" pitchFamily="34" charset="0"/>
                <a:ea typeface="Calibri" pitchFamily="34" charset="-122"/>
                <a:cs typeface="Calibri" pitchFamily="34" charset="-120"/>
              </a:rPr>
              <a:t>R²</a:t>
            </a:r>
            <a:endParaRPr lang="en-US" sz="1050" dirty="0"/>
          </a:p>
        </p:txBody>
      </p:sp>
      <p:sp>
        <p:nvSpPr>
          <p:cNvPr id="21" name="Text 19"/>
          <p:cNvSpPr/>
          <p:nvPr/>
        </p:nvSpPr>
        <p:spPr>
          <a:xfrm>
            <a:off x="6245352" y="4864608"/>
            <a:ext cx="2286000" cy="310896"/>
          </a:xfrm>
          <a:prstGeom prst="rect">
            <a:avLst/>
          </a:prstGeom>
          <a:noFill/>
          <a:ln/>
        </p:spPr>
        <p:txBody>
          <a:bodyPr wrap="square" lIns="0" tIns="0" rIns="0" bIns="0" rtlCol="0" anchor="ctr"/>
          <a:lstStyle/>
          <a:p>
            <a:pPr indent="0" marL="0">
              <a:buNone/>
            </a:pPr>
            <a:r>
              <a:rPr lang="en-US" sz="1250" b="1" dirty="0">
                <a:solidFill>
                  <a:srgbClr val="2B2118"/>
                </a:solidFill>
                <a:latin typeface="Calibri" pitchFamily="34" charset="0"/>
                <a:ea typeface="Calibri" pitchFamily="34" charset="-122"/>
                <a:cs typeface="Calibri" pitchFamily="34" charset="-120"/>
              </a:rPr>
              <a:t>0.591 → 0.765</a:t>
            </a:r>
            <a:endParaRPr lang="en-US" sz="1250" dirty="0"/>
          </a:p>
        </p:txBody>
      </p:sp>
      <p:sp>
        <p:nvSpPr>
          <p:cNvPr id="22" name="Shape 20"/>
          <p:cNvSpPr/>
          <p:nvPr/>
        </p:nvSpPr>
        <p:spPr>
          <a:xfrm>
            <a:off x="8851392" y="4553712"/>
            <a:ext cx="2587752" cy="731520"/>
          </a:xfrm>
          <a:prstGeom prst="roundRect">
            <a:avLst>
              <a:gd name="adj" fmla="val 7500"/>
            </a:avLst>
          </a:prstGeom>
          <a:solidFill>
            <a:srgbClr val="B85042"/>
          </a:solidFill>
          <a:ln/>
          <a:effectLst>
            <a:outerShdw sx="100000" sy="100000" kx="0" ky="0" algn="bl" rotWithShape="0" blurRad="101600" dist="508" dir="5400000">
              <a:srgbClr val="000000">
                <a:alpha val="10000"/>
              </a:srgbClr>
            </a:outerShdw>
          </a:effectLst>
        </p:spPr>
      </p:sp>
      <p:sp>
        <p:nvSpPr>
          <p:cNvPr id="23" name="Text 21"/>
          <p:cNvSpPr/>
          <p:nvPr/>
        </p:nvSpPr>
        <p:spPr>
          <a:xfrm>
            <a:off x="9015984" y="4626864"/>
            <a:ext cx="2286000" cy="256032"/>
          </a:xfrm>
          <a:prstGeom prst="rect">
            <a:avLst/>
          </a:prstGeom>
          <a:noFill/>
          <a:ln/>
        </p:spPr>
        <p:txBody>
          <a:bodyPr wrap="square" lIns="0" tIns="0" rIns="0" bIns="0" rtlCol="0" anchor="ctr"/>
          <a:lstStyle/>
          <a:p>
            <a:pPr indent="0" marL="0">
              <a:buNone/>
            </a:pPr>
            <a:r>
              <a:rPr lang="en-US" sz="1050" b="1" dirty="0">
                <a:solidFill>
                  <a:srgbClr val="F2E4E0"/>
                </a:solidFill>
                <a:latin typeface="Calibri" pitchFamily="34" charset="0"/>
                <a:ea typeface="Calibri" pitchFamily="34" charset="-122"/>
                <a:cs typeface="Calibri" pitchFamily="34" charset="-120"/>
              </a:rPr>
              <a:t>Top feature</a:t>
            </a:r>
            <a:endParaRPr lang="en-US" sz="1050" dirty="0"/>
          </a:p>
        </p:txBody>
      </p:sp>
      <p:sp>
        <p:nvSpPr>
          <p:cNvPr id="24" name="Text 22"/>
          <p:cNvSpPr/>
          <p:nvPr/>
        </p:nvSpPr>
        <p:spPr>
          <a:xfrm>
            <a:off x="9015984" y="4864608"/>
            <a:ext cx="22860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weather → occupancy</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DEBUGGING · 3 OF 3</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A robots.txt check that had been doing nothing</a:t>
            </a:r>
            <a:endParaRPr lang="en-US" sz="3200" dirty="0"/>
          </a:p>
        </p:txBody>
      </p:sp>
      <p:sp>
        <p:nvSpPr>
          <p:cNvPr id="4" name="Shape 2"/>
          <p:cNvSpPr/>
          <p:nvPr/>
        </p:nvSpPr>
        <p:spPr>
          <a:xfrm>
            <a:off x="566928" y="1517904"/>
            <a:ext cx="5394960" cy="2194560"/>
          </a:xfrm>
          <a:prstGeom prst="roundRect">
            <a:avLst>
              <a:gd name="adj" fmla="val 2500"/>
            </a:avLst>
          </a:prstGeom>
          <a:solidFill>
            <a:srgbClr val="FBF8F2"/>
          </a:solidFill>
          <a:ln/>
          <a:effectLst>
            <a:outerShdw sx="100000" sy="100000" kx="0" ky="0" algn="bl" rotWithShape="0" blurRad="101600" dist="508" dir="5400000">
              <a:srgbClr val="000000">
                <a:alpha val="10000"/>
              </a:srgbClr>
            </a:outerShdw>
          </a:effectLst>
        </p:spPr>
      </p:sp>
      <p:sp>
        <p:nvSpPr>
          <p:cNvPr id="5" name="Text 3"/>
          <p:cNvSpPr/>
          <p:nvPr/>
        </p:nvSpPr>
        <p:spPr>
          <a:xfrm>
            <a:off x="841248" y="1682496"/>
            <a:ext cx="4846320" cy="274320"/>
          </a:xfrm>
          <a:prstGeom prst="rect">
            <a:avLst/>
          </a:prstGeom>
          <a:noFill/>
          <a:ln/>
        </p:spPr>
        <p:txBody>
          <a:bodyPr wrap="square" lIns="0" tIns="0" rIns="0" bIns="0" rtlCol="0" anchor="ctr"/>
          <a:lstStyle/>
          <a:p>
            <a:pPr indent="0" marL="0">
              <a:buNone/>
            </a:pPr>
            <a:r>
              <a:rPr lang="en-US" sz="1100" b="1" dirty="0">
                <a:solidFill>
                  <a:srgbClr val="776A5F"/>
                </a:solidFill>
                <a:latin typeface="Calibri" pitchFamily="34" charset="0"/>
                <a:ea typeface="Calibri" pitchFamily="34" charset="-122"/>
                <a:cs typeface="Calibri" pitchFamily="34" charset="-120"/>
              </a:rPr>
              <a:t>The test I had</a:t>
            </a:r>
            <a:endParaRPr lang="en-US" sz="1100" dirty="0"/>
          </a:p>
        </p:txBody>
      </p:sp>
      <p:sp>
        <p:nvSpPr>
          <p:cNvPr id="6" name="Text 4"/>
          <p:cNvSpPr/>
          <p:nvPr/>
        </p:nvSpPr>
        <p:spPr>
          <a:xfrm>
            <a:off x="841248" y="1956816"/>
            <a:ext cx="4846320" cy="365760"/>
          </a:xfrm>
          <a:prstGeom prst="rect">
            <a:avLst/>
          </a:prstGeom>
          <a:noFill/>
          <a:ln/>
        </p:spPr>
        <p:txBody>
          <a:bodyPr wrap="square" lIns="0" tIns="0" rIns="0" bIns="0" rtlCol="0" anchor="ctr"/>
          <a:lstStyle/>
          <a:p>
            <a:pPr indent="0" marL="0">
              <a:buNone/>
            </a:pPr>
            <a:r>
              <a:rPr lang="en-US" sz="1500" b="1" dirty="0">
                <a:solidFill>
                  <a:srgbClr val="2B2118"/>
                </a:solidFill>
                <a:latin typeface="Cambria" pitchFamily="34" charset="0"/>
                <a:ea typeface="Cambria" pitchFamily="34" charset="-122"/>
                <a:cs typeface="Cambria" pitchFamily="34" charset="-120"/>
              </a:rPr>
              <a:t>"The scraper fetches an allowed path."</a:t>
            </a:r>
            <a:endParaRPr lang="en-US" sz="1500" dirty="0"/>
          </a:p>
        </p:txBody>
      </p:sp>
      <p:sp>
        <p:nvSpPr>
          <p:cNvPr id="7" name="Text 5"/>
          <p:cNvSpPr/>
          <p:nvPr/>
        </p:nvSpPr>
        <p:spPr>
          <a:xfrm>
            <a:off x="841248" y="2322576"/>
            <a:ext cx="4846320" cy="310896"/>
          </a:xfrm>
          <a:prstGeom prst="rect">
            <a:avLst/>
          </a:prstGeom>
          <a:noFill/>
          <a:ln/>
        </p:spPr>
        <p:txBody>
          <a:bodyPr wrap="square" lIns="0" tIns="0" rIns="0" bIns="0" rtlCol="0" anchor="ctr"/>
          <a:lstStyle/>
          <a:p>
            <a:pPr indent="0" marL="0">
              <a:buNone/>
            </a:pPr>
            <a:r>
              <a:rPr lang="en-US" sz="1250" b="1" dirty="0">
                <a:solidFill>
                  <a:srgbClr val="5E8272"/>
                </a:solidFill>
                <a:latin typeface="Calibri" pitchFamily="34" charset="0"/>
                <a:ea typeface="Calibri" pitchFamily="34" charset="-122"/>
                <a:cs typeface="Calibri" pitchFamily="34" charset="-120"/>
              </a:rPr>
              <a:t>Passing.</a:t>
            </a:r>
            <a:endParaRPr lang="en-US" sz="1250" dirty="0"/>
          </a:p>
        </p:txBody>
      </p:sp>
      <p:sp>
        <p:nvSpPr>
          <p:cNvPr id="8" name="Text 6"/>
          <p:cNvSpPr/>
          <p:nvPr/>
        </p:nvSpPr>
        <p:spPr>
          <a:xfrm>
            <a:off x="841248" y="2724912"/>
            <a:ext cx="4846320" cy="274320"/>
          </a:xfrm>
          <a:prstGeom prst="rect">
            <a:avLst/>
          </a:prstGeom>
          <a:noFill/>
          <a:ln/>
        </p:spPr>
        <p:txBody>
          <a:bodyPr wrap="square" lIns="0" tIns="0" rIns="0" bIns="0" rtlCol="0" anchor="ctr"/>
          <a:lstStyle/>
          <a:p>
            <a:pPr indent="0" marL="0">
              <a:buNone/>
            </a:pPr>
            <a:r>
              <a:rPr lang="en-US" sz="1100" b="1" dirty="0">
                <a:solidFill>
                  <a:srgbClr val="776A5F"/>
                </a:solidFill>
                <a:latin typeface="Calibri" pitchFamily="34" charset="0"/>
                <a:ea typeface="Calibri" pitchFamily="34" charset="-122"/>
                <a:cs typeface="Calibri" pitchFamily="34" charset="-120"/>
              </a:rPr>
              <a:t>The test I did not have</a:t>
            </a:r>
            <a:endParaRPr lang="en-US" sz="1100" dirty="0"/>
          </a:p>
        </p:txBody>
      </p:sp>
      <p:sp>
        <p:nvSpPr>
          <p:cNvPr id="9" name="Text 7"/>
          <p:cNvSpPr/>
          <p:nvPr/>
        </p:nvSpPr>
        <p:spPr>
          <a:xfrm>
            <a:off x="841248" y="2999232"/>
            <a:ext cx="4846320" cy="365760"/>
          </a:xfrm>
          <a:prstGeom prst="rect">
            <a:avLst/>
          </a:prstGeom>
          <a:noFill/>
          <a:ln/>
        </p:spPr>
        <p:txBody>
          <a:bodyPr wrap="square" lIns="0" tIns="0" rIns="0" bIns="0" rtlCol="0" anchor="ctr"/>
          <a:lstStyle/>
          <a:p>
            <a:pPr indent="0" marL="0">
              <a:buNone/>
            </a:pPr>
            <a:r>
              <a:rPr lang="en-US" sz="1500" b="1" dirty="0">
                <a:solidFill>
                  <a:srgbClr val="B85042"/>
                </a:solidFill>
                <a:latin typeface="Cambria" pitchFamily="34" charset="0"/>
                <a:ea typeface="Cambria" pitchFamily="34" charset="-122"/>
                <a:cs typeface="Cambria" pitchFamily="34" charset="-120"/>
              </a:rPr>
              <a:t>"It refuses a disallowed one."</a:t>
            </a:r>
            <a:endParaRPr lang="en-US" sz="1500" dirty="0"/>
          </a:p>
        </p:txBody>
      </p:sp>
      <p:sp>
        <p:nvSpPr>
          <p:cNvPr id="10" name="Text 8"/>
          <p:cNvSpPr/>
          <p:nvPr/>
        </p:nvSpPr>
        <p:spPr>
          <a:xfrm>
            <a:off x="841248" y="3364992"/>
            <a:ext cx="4846320" cy="274320"/>
          </a:xfrm>
          <a:prstGeom prst="rect">
            <a:avLst/>
          </a:prstGeom>
          <a:noFill/>
          <a:ln/>
        </p:spPr>
        <p:txBody>
          <a:bodyPr wrap="square" lIns="0" tIns="0" rIns="0" bIns="0" rtlCol="0" anchor="ctr"/>
          <a:lstStyle/>
          <a:p>
            <a:pPr indent="0" marL="0">
              <a:buNone/>
            </a:pPr>
            <a:r>
              <a:rPr lang="en-US" sz="1250" b="1" dirty="0">
                <a:solidFill>
                  <a:srgbClr val="8E3B32"/>
                </a:solidFill>
                <a:latin typeface="Calibri" pitchFamily="34" charset="0"/>
                <a:ea typeface="Calibri" pitchFamily="34" charset="-122"/>
                <a:cs typeface="Calibri" pitchFamily="34" charset="-120"/>
              </a:rPr>
              <a:t>When I wrote it, it failed.</a:t>
            </a:r>
            <a:endParaRPr lang="en-US" sz="1250" dirty="0"/>
          </a:p>
        </p:txBody>
      </p:sp>
      <p:sp>
        <p:nvSpPr>
          <p:cNvPr id="11" name="Shape 9"/>
          <p:cNvSpPr/>
          <p:nvPr/>
        </p:nvSpPr>
        <p:spPr>
          <a:xfrm>
            <a:off x="6236208" y="1517904"/>
            <a:ext cx="5385816" cy="2194560"/>
          </a:xfrm>
          <a:prstGeom prst="roundRect">
            <a:avLst>
              <a:gd name="adj" fmla="val 2500"/>
            </a:avLst>
          </a:prstGeom>
          <a:solidFill>
            <a:srgbClr val="2B2118"/>
          </a:solidFill>
          <a:ln/>
          <a:effectLst>
            <a:outerShdw sx="100000" sy="100000" kx="0" ky="0" algn="bl" rotWithShape="0" blurRad="101600" dist="508" dir="5400000">
              <a:srgbClr val="000000">
                <a:alpha val="10000"/>
              </a:srgbClr>
            </a:outerShdw>
          </a:effectLst>
        </p:spPr>
      </p:sp>
      <p:sp>
        <p:nvSpPr>
          <p:cNvPr id="12" name="Text 10"/>
          <p:cNvSpPr/>
          <p:nvPr/>
        </p:nvSpPr>
        <p:spPr>
          <a:xfrm>
            <a:off x="6510528" y="1682496"/>
            <a:ext cx="4846320" cy="274320"/>
          </a:xfrm>
          <a:prstGeom prst="rect">
            <a:avLst/>
          </a:prstGeom>
          <a:noFill/>
          <a:ln/>
        </p:spPr>
        <p:txBody>
          <a:bodyPr wrap="square" lIns="0" tIns="0" rIns="0" bIns="0" rtlCol="0" anchor="ctr"/>
          <a:lstStyle/>
          <a:p>
            <a:pPr indent="0" marL="0">
              <a:buNone/>
            </a:pPr>
            <a:r>
              <a:rPr lang="en-US" sz="1100" b="1" dirty="0">
                <a:solidFill>
                  <a:srgbClr val="A99C8E"/>
                </a:solidFill>
                <a:latin typeface="Calibri" pitchFamily="34" charset="0"/>
                <a:ea typeface="Calibri" pitchFamily="34" charset="-122"/>
                <a:cs typeface="Calibri" pitchFamily="34" charset="-120"/>
              </a:rPr>
              <a:t>The cause</a:t>
            </a:r>
            <a:endParaRPr lang="en-US" sz="1100" dirty="0"/>
          </a:p>
        </p:txBody>
      </p:sp>
      <p:sp>
        <p:nvSpPr>
          <p:cNvPr id="13" name="Text 11"/>
          <p:cNvSpPr/>
          <p:nvPr/>
        </p:nvSpPr>
        <p:spPr>
          <a:xfrm>
            <a:off x="6510528" y="1956816"/>
            <a:ext cx="4846320" cy="640080"/>
          </a:xfrm>
          <a:prstGeom prst="rect">
            <a:avLst/>
          </a:prstGeom>
          <a:noFill/>
          <a:ln/>
        </p:spPr>
        <p:txBody>
          <a:bodyPr wrap="square" lIns="0" tIns="0" rIns="0" bIns="0" rtlCol="0" anchor="ctr"/>
          <a:lstStyle/>
          <a:p>
            <a:pPr indent="0" marL="0">
              <a:buNone/>
            </a:pPr>
            <a:r>
              <a:rPr lang="en-US" sz="1150" dirty="0">
                <a:solidFill>
                  <a:srgbClr val="D8CFC4"/>
                </a:solidFill>
                <a:latin typeface="Calibri" pitchFamily="34" charset="0"/>
                <a:ea typeface="Calibri" pitchFamily="34" charset="-122"/>
                <a:cs typeface="Calibri" pitchFamily="34" charset="-120"/>
              </a:rPr>
              <a:t>urllib.robotparser implements the original 1994 standard, where the FIRST matching rule wins — not Google's longest-match.</a:t>
            </a:r>
            <a:endParaRPr lang="en-US" sz="1150" dirty="0"/>
          </a:p>
        </p:txBody>
      </p:sp>
      <p:sp>
        <p:nvSpPr>
          <p:cNvPr id="14" name="Text 12"/>
          <p:cNvSpPr/>
          <p:nvPr/>
        </p:nvSpPr>
        <p:spPr>
          <a:xfrm>
            <a:off x="6510528" y="2615184"/>
            <a:ext cx="2286000" cy="566928"/>
          </a:xfrm>
          <a:prstGeom prst="rect">
            <a:avLst/>
          </a:prstGeom>
          <a:noFill/>
          <a:ln/>
        </p:spPr>
        <p:txBody>
          <a:bodyPr wrap="square" lIns="0" tIns="0" rIns="0" bIns="0" rtlCol="0" anchor="ctr"/>
          <a:lstStyle/>
          <a:p>
            <a:pPr indent="0" marL="0">
              <a:buNone/>
            </a:pPr>
            <a:r>
              <a:rPr lang="en-US" sz="1100" dirty="0">
                <a:solidFill>
                  <a:srgbClr val="B85042"/>
                </a:solidFill>
                <a:latin typeface="Courier New" pitchFamily="34" charset="0"/>
                <a:ea typeface="Courier New" pitchFamily="34" charset="-122"/>
                <a:cs typeface="Courier New" pitchFamily="34" charset="-120"/>
              </a:rPr>
              <a:t>Allow: /</a:t>
            </a:r>
            <a:endParaRPr lang="en-US" sz="1100" dirty="0"/>
          </a:p>
          <a:p>
            <a:pPr indent="0" marL="0">
              <a:buNone/>
            </a:pPr>
            <a:r>
              <a:rPr lang="en-US" sz="1100" dirty="0">
                <a:solidFill>
                  <a:srgbClr val="B85042"/>
                </a:solidFill>
                <a:latin typeface="Courier New" pitchFamily="34" charset="0"/>
                <a:ea typeface="Courier New" pitchFamily="34" charset="-122"/>
                <a:cs typeface="Courier New" pitchFamily="34" charset="-120"/>
              </a:rPr>
              <a:t>Disallow: /admin</a:t>
            </a:r>
            <a:endParaRPr lang="en-US" sz="1100" dirty="0"/>
          </a:p>
        </p:txBody>
      </p:sp>
      <p:sp>
        <p:nvSpPr>
          <p:cNvPr id="15" name="Text 13"/>
          <p:cNvSpPr/>
          <p:nvPr/>
        </p:nvSpPr>
        <p:spPr>
          <a:xfrm>
            <a:off x="8869680" y="2615184"/>
            <a:ext cx="2487168" cy="914400"/>
          </a:xfrm>
          <a:prstGeom prst="rect">
            <a:avLst/>
          </a:prstGeom>
          <a:noFill/>
          <a:ln/>
        </p:spPr>
        <p:txBody>
          <a:bodyPr wrap="square" lIns="0" tIns="0" rIns="0" bIns="0" rtlCol="0" anchor="ctr"/>
          <a:lstStyle/>
          <a:p>
            <a:pPr indent="0" marL="0">
              <a:buNone/>
            </a:pPr>
            <a:r>
              <a:rPr lang="en-US" sz="1050" dirty="0">
                <a:solidFill>
                  <a:srgbClr val="D8CFC4"/>
                </a:solidFill>
                <a:latin typeface="Calibri" pitchFamily="34" charset="0"/>
                <a:ea typeface="Calibri" pitchFamily="34" charset="-122"/>
                <a:cs typeface="Calibri" pitchFamily="34" charset="-120"/>
              </a:rPr>
              <a:t>The blanket allow matched first, so the disallow beneath it was dead text. The scraper fetched a path it had been told not to.</a:t>
            </a:r>
            <a:endParaRPr lang="en-US" sz="1050" dirty="0"/>
          </a:p>
        </p:txBody>
      </p:sp>
      <p:sp>
        <p:nvSpPr>
          <p:cNvPr id="16" name="Shape 14"/>
          <p:cNvSpPr/>
          <p:nvPr/>
        </p:nvSpPr>
        <p:spPr>
          <a:xfrm>
            <a:off x="566928" y="3913632"/>
            <a:ext cx="11055096" cy="914400"/>
          </a:xfrm>
          <a:prstGeom prst="roundRect">
            <a:avLst>
              <a:gd name="adj" fmla="val 6000"/>
            </a:avLst>
          </a:prstGeom>
          <a:solidFill>
            <a:srgbClr val="EFEAD8"/>
          </a:solidFill>
          <a:ln/>
          <a:effectLst>
            <a:outerShdw sx="100000" sy="100000" kx="0" ky="0" algn="bl" rotWithShape="0" blurRad="101600" dist="508" dir="5400000">
              <a:srgbClr val="000000">
                <a:alpha val="10000"/>
              </a:srgbClr>
            </a:outerShdw>
          </a:effectLst>
        </p:spPr>
      </p:sp>
      <p:sp>
        <p:nvSpPr>
          <p:cNvPr id="17" name="Text 15"/>
          <p:cNvSpPr/>
          <p:nvPr/>
        </p:nvSpPr>
        <p:spPr>
          <a:xfrm>
            <a:off x="841248" y="4041648"/>
            <a:ext cx="1097280" cy="274320"/>
          </a:xfrm>
          <a:prstGeom prst="rect">
            <a:avLst/>
          </a:prstGeom>
          <a:noFill/>
          <a:ln/>
        </p:spPr>
        <p:txBody>
          <a:bodyPr wrap="square" lIns="0" tIns="0" rIns="0" bIns="0" rtlCol="0" anchor="ctr"/>
          <a:lstStyle/>
          <a:p>
            <a:pPr indent="0" marL="0">
              <a:buNone/>
            </a:pPr>
            <a:r>
              <a:rPr lang="en-US" sz="1150" b="1" dirty="0">
                <a:solidFill>
                  <a:srgbClr val="8E3B32"/>
                </a:solidFill>
                <a:latin typeface="Calibri" pitchFamily="34" charset="0"/>
                <a:ea typeface="Calibri" pitchFamily="34" charset="-122"/>
                <a:cs typeface="Calibri" pitchFamily="34" charset="-120"/>
              </a:rPr>
              <a:t>The fix</a:t>
            </a:r>
            <a:endParaRPr lang="en-US" sz="1150" dirty="0"/>
          </a:p>
        </p:txBody>
      </p:sp>
      <p:sp>
        <p:nvSpPr>
          <p:cNvPr id="18" name="Text 16"/>
          <p:cNvSpPr/>
          <p:nvPr/>
        </p:nvSpPr>
        <p:spPr>
          <a:xfrm>
            <a:off x="1847088" y="4041648"/>
            <a:ext cx="9418320" cy="640080"/>
          </a:xfrm>
          <a:prstGeom prst="rect">
            <a:avLst/>
          </a:prstGeom>
          <a:noFill/>
          <a:ln/>
        </p:spPr>
        <p:txBody>
          <a:bodyPr wrap="square" lIns="0" tIns="0" rIns="0" bIns="0" rtlCol="0" anchor="ctr"/>
          <a:lstStyle/>
          <a:p>
            <a:pPr indent="0" marL="0">
              <a:buNone/>
            </a:pPr>
            <a:r>
              <a:rPr lang="en-US" sz="1200" dirty="0">
                <a:solidFill>
                  <a:srgbClr val="2B2118"/>
                </a:solidFill>
                <a:latin typeface="Calibri" pitchFamily="34" charset="0"/>
                <a:ea typeface="Calibri" pitchFamily="34" charset="-122"/>
                <a:cs typeface="Calibri" pitchFamily="34" charset="-120"/>
              </a:rPr>
              <a:t>Specific disallows first, and no blanket Allow: / at all — unmatched paths are permitted by default, so it bought nothing and silently broke the rule beneath it.</a:t>
            </a:r>
            <a:endParaRPr lang="en-US" sz="1200" dirty="0"/>
          </a:p>
        </p:txBody>
      </p:sp>
      <p:sp>
        <p:nvSpPr>
          <p:cNvPr id="19" name="Shape 17"/>
          <p:cNvSpPr/>
          <p:nvPr/>
        </p:nvSpPr>
        <p:spPr>
          <a:xfrm>
            <a:off x="566928" y="4992624"/>
            <a:ext cx="11055096" cy="786384"/>
          </a:xfrm>
          <a:prstGeom prst="roundRect">
            <a:avLst>
              <a:gd name="adj" fmla="val 6977"/>
            </a:avLst>
          </a:prstGeom>
          <a:solidFill>
            <a:srgbClr val="B85042"/>
          </a:solidFill>
          <a:ln/>
          <a:effectLst>
            <a:outerShdw sx="100000" sy="100000" kx="0" ky="0" algn="bl" rotWithShape="0" blurRad="101600" dist="508" dir="5400000">
              <a:srgbClr val="000000">
                <a:alpha val="10000"/>
              </a:srgbClr>
            </a:outerShdw>
          </a:effectLst>
        </p:spPr>
      </p:sp>
      <p:sp>
        <p:nvSpPr>
          <p:cNvPr id="20" name="Text 18"/>
          <p:cNvSpPr/>
          <p:nvPr/>
        </p:nvSpPr>
        <p:spPr>
          <a:xfrm>
            <a:off x="566928" y="4992624"/>
            <a:ext cx="11055096" cy="7863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 test for the happy path proves nothing about a rule whose entire job is to say no.</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HONEST ASSESSMENT</a:t>
            </a:r>
            <a:endParaRPr lang="en-US" sz="1100" dirty="0"/>
          </a:p>
        </p:txBody>
      </p:sp>
      <p:sp>
        <p:nvSpPr>
          <p:cNvPr id="3" name="Text 1"/>
          <p:cNvSpPr/>
          <p:nvPr/>
        </p:nvSpPr>
        <p:spPr>
          <a:xfrm>
            <a:off x="566928" y="566928"/>
            <a:ext cx="11055096" cy="914400"/>
          </a:xfrm>
          <a:prstGeom prst="rect">
            <a:avLst/>
          </a:prstGeom>
          <a:noFill/>
          <a:ln/>
        </p:spPr>
        <p:txBody>
          <a:bodyPr wrap="square" lIns="0" tIns="0" rIns="0" bIns="0" rtlCol="0" anchor="ctr"/>
          <a:lstStyle/>
          <a:p>
            <a:pPr indent="0" marL="0">
              <a:buNone/>
            </a:pPr>
            <a:r>
              <a:rPr lang="en-US" sz="3200" b="1" dirty="0">
                <a:solidFill>
                  <a:srgbClr val="2B2118"/>
                </a:solidFill>
                <a:latin typeface="Cambria" pitchFamily="34" charset="0"/>
                <a:ea typeface="Cambria" pitchFamily="34" charset="-122"/>
                <a:cs typeface="Cambria" pitchFamily="34" charset="-120"/>
              </a:rPr>
              <a:t>What it is not, and what comes next</a:t>
            </a:r>
            <a:endParaRPr lang="en-US" sz="3200" dirty="0"/>
          </a:p>
        </p:txBody>
      </p:sp>
      <p:sp>
        <p:nvSpPr>
          <p:cNvPr id="4" name="Text 2"/>
          <p:cNvSpPr/>
          <p:nvPr/>
        </p:nvSpPr>
        <p:spPr>
          <a:xfrm>
            <a:off x="566928" y="1463040"/>
            <a:ext cx="5394960" cy="329184"/>
          </a:xfrm>
          <a:prstGeom prst="rect">
            <a:avLst/>
          </a:prstGeom>
          <a:noFill/>
          <a:ln/>
        </p:spPr>
        <p:txBody>
          <a:bodyPr wrap="square" lIns="0" tIns="0" rIns="0" bIns="0" rtlCol="0" anchor="ctr"/>
          <a:lstStyle/>
          <a:p>
            <a:pPr indent="0" marL="0">
              <a:buNone/>
            </a:pPr>
            <a:r>
              <a:rPr lang="en-US" sz="1700" b="1" dirty="0">
                <a:solidFill>
                  <a:srgbClr val="8E3B32"/>
                </a:solidFill>
                <a:latin typeface="Cambria" pitchFamily="34" charset="0"/>
                <a:ea typeface="Cambria" pitchFamily="34" charset="-122"/>
                <a:cs typeface="Cambria" pitchFamily="34" charset="-120"/>
              </a:rPr>
              <a:t>Known limitations</a:t>
            </a:r>
            <a:endParaRPr lang="en-US" sz="1700" dirty="0"/>
          </a:p>
        </p:txBody>
      </p:sp>
      <p:sp>
        <p:nvSpPr>
          <p:cNvPr id="5" name="Text 3"/>
          <p:cNvSpPr/>
          <p:nvPr/>
        </p:nvSpPr>
        <p:spPr>
          <a:xfrm>
            <a:off x="566928" y="1883664"/>
            <a:ext cx="5394960" cy="310896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One year of synthetic history — not enough to identify yearly seasonality, which is why Prophet's yearly term is off.</a:t>
            </a:r>
            <a:endParaRPr lang="en-US" sz="1200" dirty="0"/>
          </a:p>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No authentication. Which also means the agent's read-only guarantee is in-process rather than a credential.</a:t>
            </a:r>
            <a:endParaRPr lang="en-US" sz="1200" dirty="0"/>
          </a:p>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Single Kafka broker, replication factor 1 — correct for local development, not for production.</a:t>
            </a:r>
            <a:endParaRPr lang="en-US" sz="1200" dirty="0"/>
          </a:p>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POST /models/train is synchronous; at real scale it becomes an enqueue returning 202.</a:t>
            </a:r>
            <a:endParaRPr lang="en-US" sz="1200" dirty="0"/>
          </a:p>
          <a:p>
            <a:pPr marL="342900" indent="-342900">
              <a:spcAft>
                <a:spcPts val="700"/>
              </a:spcAft>
              <a:buSzPct val="100000"/>
              <a:buChar char="•"/>
            </a:pPr>
            <a:r>
              <a:rPr lang="en-US" sz="1200" dirty="0">
                <a:solidFill>
                  <a:srgbClr val="2B2118"/>
                </a:solidFill>
                <a:latin typeface="Calibri" pitchFamily="34" charset="0"/>
                <a:ea typeface="Calibri" pitchFamily="34" charset="-122"/>
                <a:cs typeface="Calibri" pitchFamily="34" charset="-120"/>
              </a:rPr>
              <a:t>The demo OTA is a real site, but its rates are generated. "The ingestion path works", not "these are the prices in Goa".</a:t>
            </a:r>
            <a:endParaRPr lang="en-US" sz="1200" dirty="0"/>
          </a:p>
        </p:txBody>
      </p:sp>
      <p:sp>
        <p:nvSpPr>
          <p:cNvPr id="6" name="Text 4"/>
          <p:cNvSpPr/>
          <p:nvPr/>
        </p:nvSpPr>
        <p:spPr>
          <a:xfrm>
            <a:off x="6236208" y="1463040"/>
            <a:ext cx="5385816" cy="329184"/>
          </a:xfrm>
          <a:prstGeom prst="rect">
            <a:avLst/>
          </a:prstGeom>
          <a:noFill/>
          <a:ln/>
        </p:spPr>
        <p:txBody>
          <a:bodyPr wrap="square" lIns="0" tIns="0" rIns="0" bIns="0" rtlCol="0" anchor="ctr"/>
          <a:lstStyle/>
          <a:p>
            <a:pPr indent="0" marL="0">
              <a:buNone/>
            </a:pPr>
            <a:r>
              <a:rPr lang="en-US" sz="1700" b="1" dirty="0">
                <a:solidFill>
                  <a:srgbClr val="8E3B32"/>
                </a:solidFill>
                <a:latin typeface="Cambria" pitchFamily="34" charset="0"/>
                <a:ea typeface="Cambria" pitchFamily="34" charset="-122"/>
                <a:cs typeface="Cambria" pitchFamily="34" charset="-120"/>
              </a:rPr>
              <a:t>What I would do next</a:t>
            </a:r>
            <a:endParaRPr lang="en-US" sz="1700" dirty="0"/>
          </a:p>
        </p:txBody>
      </p:sp>
      <p:sp>
        <p:nvSpPr>
          <p:cNvPr id="7" name="Shape 5"/>
          <p:cNvSpPr/>
          <p:nvPr/>
        </p:nvSpPr>
        <p:spPr>
          <a:xfrm>
            <a:off x="6236208" y="1883664"/>
            <a:ext cx="402336" cy="402336"/>
          </a:xfrm>
          <a:prstGeom prst="ellipse">
            <a:avLst/>
          </a:prstGeom>
          <a:solidFill>
            <a:srgbClr val="B85042"/>
          </a:solidFill>
          <a:ln/>
        </p:spPr>
      </p:sp>
      <p:sp>
        <p:nvSpPr>
          <p:cNvPr id="8" name="Text 6"/>
          <p:cNvSpPr/>
          <p:nvPr/>
        </p:nvSpPr>
        <p:spPr>
          <a:xfrm>
            <a:off x="6236208" y="18836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6784848" y="1865376"/>
            <a:ext cx="4846320" cy="292608"/>
          </a:xfrm>
          <a:prstGeom prst="rect">
            <a:avLst/>
          </a:prstGeom>
          <a:noFill/>
          <a:ln/>
        </p:spPr>
        <p:txBody>
          <a:bodyPr wrap="square" lIns="0" tIns="0" rIns="0" bIns="0" rtlCol="0" anchor="ctr"/>
          <a:lstStyle/>
          <a:p>
            <a:pPr indent="0" marL="0">
              <a:buNone/>
            </a:pPr>
            <a:r>
              <a:rPr lang="en-US" sz="1250" b="1" dirty="0">
                <a:solidFill>
                  <a:srgbClr val="2B2118"/>
                </a:solidFill>
                <a:latin typeface="Calibri" pitchFamily="34" charset="0"/>
                <a:ea typeface="Calibri" pitchFamily="34" charset="-122"/>
                <a:cs typeface="Calibri" pitchFamily="34" charset="-120"/>
              </a:rPr>
              <a:t>Two years of history</a:t>
            </a:r>
            <a:endParaRPr lang="en-US" sz="1250" dirty="0"/>
          </a:p>
        </p:txBody>
      </p:sp>
      <p:sp>
        <p:nvSpPr>
          <p:cNvPr id="10" name="Text 8"/>
          <p:cNvSpPr/>
          <p:nvPr/>
        </p:nvSpPr>
        <p:spPr>
          <a:xfrm>
            <a:off x="6784848" y="2157984"/>
            <a:ext cx="4846320" cy="457200"/>
          </a:xfrm>
          <a:prstGeom prst="rect">
            <a:avLst/>
          </a:prstGeom>
          <a:noFill/>
          <a:ln/>
        </p:spPr>
        <p:txBody>
          <a:bodyPr wrap="square" lIns="0" tIns="0" rIns="0" bIns="0" rtlCol="0" anchor="ctr"/>
          <a:lstStyle/>
          <a:p>
            <a:pPr indent="0" marL="0">
              <a:buNone/>
            </a:pPr>
            <a:r>
              <a:rPr lang="en-US" sz="1050" dirty="0">
                <a:solidFill>
                  <a:srgbClr val="776A5F"/>
                </a:solidFill>
                <a:latin typeface="Calibri" pitchFamily="34" charset="0"/>
                <a:ea typeface="Calibri" pitchFamily="34" charset="-122"/>
                <a:cs typeface="Calibri" pitchFamily="34" charset="-120"/>
              </a:rPr>
              <a:t>The single change that most improves the forecast — it re-enables yearly seasonality</a:t>
            </a:r>
            <a:endParaRPr lang="en-US" sz="1050" dirty="0"/>
          </a:p>
        </p:txBody>
      </p:sp>
      <p:sp>
        <p:nvSpPr>
          <p:cNvPr id="11" name="Shape 9"/>
          <p:cNvSpPr/>
          <p:nvPr/>
        </p:nvSpPr>
        <p:spPr>
          <a:xfrm>
            <a:off x="6236208" y="2724912"/>
            <a:ext cx="402336" cy="402336"/>
          </a:xfrm>
          <a:prstGeom prst="ellipse">
            <a:avLst/>
          </a:prstGeom>
          <a:solidFill>
            <a:srgbClr val="B85042"/>
          </a:solidFill>
          <a:ln/>
        </p:spPr>
      </p:sp>
      <p:sp>
        <p:nvSpPr>
          <p:cNvPr id="12" name="Text 10"/>
          <p:cNvSpPr/>
          <p:nvPr/>
        </p:nvSpPr>
        <p:spPr>
          <a:xfrm>
            <a:off x="6236208" y="27249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6784848" y="2706624"/>
            <a:ext cx="4846320" cy="292608"/>
          </a:xfrm>
          <a:prstGeom prst="rect">
            <a:avLst/>
          </a:prstGeom>
          <a:noFill/>
          <a:ln/>
        </p:spPr>
        <p:txBody>
          <a:bodyPr wrap="square" lIns="0" tIns="0" rIns="0" bIns="0" rtlCol="0" anchor="ctr"/>
          <a:lstStyle/>
          <a:p>
            <a:pPr indent="0" marL="0">
              <a:buNone/>
            </a:pPr>
            <a:r>
              <a:rPr lang="en-US" sz="1250" b="1" dirty="0">
                <a:solidFill>
                  <a:srgbClr val="2B2118"/>
                </a:solidFill>
                <a:latin typeface="Calibri" pitchFamily="34" charset="0"/>
                <a:ea typeface="Calibri" pitchFamily="34" charset="-122"/>
                <a:cs typeface="Calibri" pitchFamily="34" charset="-120"/>
              </a:rPr>
              <a:t>Price elasticity</a:t>
            </a:r>
            <a:endParaRPr lang="en-US" sz="1250" dirty="0"/>
          </a:p>
        </p:txBody>
      </p:sp>
      <p:sp>
        <p:nvSpPr>
          <p:cNvPr id="14" name="Text 12"/>
          <p:cNvSpPr/>
          <p:nvPr/>
        </p:nvSpPr>
        <p:spPr>
          <a:xfrm>
            <a:off x="6784848" y="2999232"/>
            <a:ext cx="4846320" cy="457200"/>
          </a:xfrm>
          <a:prstGeom prst="rect">
            <a:avLst/>
          </a:prstGeom>
          <a:noFill/>
          <a:ln/>
        </p:spPr>
        <p:txBody>
          <a:bodyPr wrap="square" lIns="0" tIns="0" rIns="0" bIns="0" rtlCol="0" anchor="ctr"/>
          <a:lstStyle/>
          <a:p>
            <a:pPr indent="0" marL="0">
              <a:buNone/>
            </a:pPr>
            <a:r>
              <a:rPr lang="en-US" sz="1050" dirty="0">
                <a:solidFill>
                  <a:srgbClr val="776A5F"/>
                </a:solidFill>
                <a:latin typeface="Calibri" pitchFamily="34" charset="0"/>
                <a:ea typeface="Calibri" pitchFamily="34" charset="-122"/>
                <a:cs typeface="Calibri" pitchFamily="34" charset="-120"/>
              </a:rPr>
              <a:t>The engine prices TO forecast demand; it does not model how demand responds to the price it sets</a:t>
            </a:r>
            <a:endParaRPr lang="en-US" sz="1050" dirty="0"/>
          </a:p>
        </p:txBody>
      </p:sp>
      <p:sp>
        <p:nvSpPr>
          <p:cNvPr id="15" name="Shape 13"/>
          <p:cNvSpPr/>
          <p:nvPr/>
        </p:nvSpPr>
        <p:spPr>
          <a:xfrm>
            <a:off x="6236208" y="3566160"/>
            <a:ext cx="402336" cy="402336"/>
          </a:xfrm>
          <a:prstGeom prst="ellipse">
            <a:avLst/>
          </a:prstGeom>
          <a:solidFill>
            <a:srgbClr val="B85042"/>
          </a:solidFill>
          <a:ln/>
        </p:spPr>
      </p:sp>
      <p:sp>
        <p:nvSpPr>
          <p:cNvPr id="16" name="Text 14"/>
          <p:cNvSpPr/>
          <p:nvPr/>
        </p:nvSpPr>
        <p:spPr>
          <a:xfrm>
            <a:off x="6236208" y="35661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6784848" y="3547872"/>
            <a:ext cx="4846320" cy="292608"/>
          </a:xfrm>
          <a:prstGeom prst="rect">
            <a:avLst/>
          </a:prstGeom>
          <a:noFill/>
          <a:ln/>
        </p:spPr>
        <p:txBody>
          <a:bodyPr wrap="square" lIns="0" tIns="0" rIns="0" bIns="0" rtlCol="0" anchor="ctr"/>
          <a:lstStyle/>
          <a:p>
            <a:pPr indent="0" marL="0">
              <a:buNone/>
            </a:pPr>
            <a:r>
              <a:rPr lang="en-US" sz="1250" b="1" dirty="0">
                <a:solidFill>
                  <a:srgbClr val="2B2118"/>
                </a:solidFill>
                <a:latin typeface="Calibri" pitchFamily="34" charset="0"/>
                <a:ea typeface="Calibri" pitchFamily="34" charset="-122"/>
                <a:cs typeface="Calibri" pitchFamily="34" charset="-120"/>
              </a:rPr>
              <a:t>Authentication</a:t>
            </a:r>
            <a:endParaRPr lang="en-US" sz="1250" dirty="0"/>
          </a:p>
        </p:txBody>
      </p:sp>
      <p:sp>
        <p:nvSpPr>
          <p:cNvPr id="18" name="Text 16"/>
          <p:cNvSpPr/>
          <p:nvPr/>
        </p:nvSpPr>
        <p:spPr>
          <a:xfrm>
            <a:off x="6784848" y="3840480"/>
            <a:ext cx="4846320" cy="457200"/>
          </a:xfrm>
          <a:prstGeom prst="rect">
            <a:avLst/>
          </a:prstGeom>
          <a:noFill/>
          <a:ln/>
        </p:spPr>
        <p:txBody>
          <a:bodyPr wrap="square" lIns="0" tIns="0" rIns="0" bIns="0" rtlCol="0" anchor="ctr"/>
          <a:lstStyle/>
          <a:p>
            <a:pPr indent="0" marL="0">
              <a:buNone/>
            </a:pPr>
            <a:r>
              <a:rPr lang="en-US" sz="1050" dirty="0">
                <a:solidFill>
                  <a:srgbClr val="776A5F"/>
                </a:solidFill>
                <a:latin typeface="Calibri" pitchFamily="34" charset="0"/>
                <a:ea typeface="Calibri" pitchFamily="34" charset="-122"/>
                <a:cs typeface="Calibri" pitchFamily="34" charset="-120"/>
              </a:rPr>
              <a:t>Also upgrades the agent's guarantee from in-process to network-level</a:t>
            </a:r>
            <a:endParaRPr lang="en-US" sz="1050" dirty="0"/>
          </a:p>
        </p:txBody>
      </p:sp>
      <p:sp>
        <p:nvSpPr>
          <p:cNvPr id="19" name="Shape 17"/>
          <p:cNvSpPr/>
          <p:nvPr/>
        </p:nvSpPr>
        <p:spPr>
          <a:xfrm>
            <a:off x="6236208" y="4407408"/>
            <a:ext cx="402336" cy="402336"/>
          </a:xfrm>
          <a:prstGeom prst="ellipse">
            <a:avLst/>
          </a:prstGeom>
          <a:solidFill>
            <a:srgbClr val="B85042"/>
          </a:solidFill>
          <a:ln/>
        </p:spPr>
      </p:sp>
      <p:sp>
        <p:nvSpPr>
          <p:cNvPr id="20" name="Text 18"/>
          <p:cNvSpPr/>
          <p:nvPr/>
        </p:nvSpPr>
        <p:spPr>
          <a:xfrm>
            <a:off x="6236208" y="44074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6784848" y="4389120"/>
            <a:ext cx="4846320" cy="292608"/>
          </a:xfrm>
          <a:prstGeom prst="rect">
            <a:avLst/>
          </a:prstGeom>
          <a:noFill/>
          <a:ln/>
        </p:spPr>
        <p:txBody>
          <a:bodyPr wrap="square" lIns="0" tIns="0" rIns="0" bIns="0" rtlCol="0" anchor="ctr"/>
          <a:lstStyle/>
          <a:p>
            <a:pPr indent="0" marL="0">
              <a:buNone/>
            </a:pPr>
            <a:r>
              <a:rPr lang="en-US" sz="1250" b="1" dirty="0">
                <a:solidFill>
                  <a:srgbClr val="2B2118"/>
                </a:solidFill>
                <a:latin typeface="Calibri" pitchFamily="34" charset="0"/>
                <a:ea typeface="Calibri" pitchFamily="34" charset="-122"/>
                <a:cs typeface="Calibri" pitchFamily="34" charset="-120"/>
              </a:rPr>
              <a:t>Event extraction agent</a:t>
            </a:r>
            <a:endParaRPr lang="en-US" sz="1250" dirty="0"/>
          </a:p>
        </p:txBody>
      </p:sp>
      <p:sp>
        <p:nvSpPr>
          <p:cNvPr id="22" name="Text 20"/>
          <p:cNvSpPr/>
          <p:nvPr/>
        </p:nvSpPr>
        <p:spPr>
          <a:xfrm>
            <a:off x="6784848" y="4681728"/>
            <a:ext cx="4846320" cy="457200"/>
          </a:xfrm>
          <a:prstGeom prst="rect">
            <a:avLst/>
          </a:prstGeom>
          <a:noFill/>
          <a:ln/>
        </p:spPr>
        <p:txBody>
          <a:bodyPr wrap="square" lIns="0" tIns="0" rIns="0" bIns="0" rtlCol="0" anchor="ctr"/>
          <a:lstStyle/>
          <a:p>
            <a:pPr indent="0" marL="0">
              <a:buNone/>
            </a:pPr>
            <a:r>
              <a:rPr lang="en-US" sz="1050" dirty="0">
                <a:solidFill>
                  <a:srgbClr val="776A5F"/>
                </a:solidFill>
                <a:latin typeface="Calibri" pitchFamily="34" charset="0"/>
                <a:ea typeface="Calibri" pitchFamily="34" charset="-122"/>
                <a:cs typeface="Calibri" pitchFamily="34" charset="-120"/>
              </a:rPr>
              <a:t>The one LLM use that improves the model rather than the operator experience</a:t>
            </a:r>
            <a:endParaRPr lang="en-US" sz="1050" dirty="0"/>
          </a:p>
        </p:txBody>
      </p:sp>
      <p:sp>
        <p:nvSpPr>
          <p:cNvPr id="23" name="Shape 21"/>
          <p:cNvSpPr/>
          <p:nvPr/>
        </p:nvSpPr>
        <p:spPr>
          <a:xfrm>
            <a:off x="566928" y="5193792"/>
            <a:ext cx="11055096" cy="658368"/>
          </a:xfrm>
          <a:prstGeom prst="roundRect">
            <a:avLst>
              <a:gd name="adj" fmla="val 8333"/>
            </a:avLst>
          </a:prstGeom>
          <a:solidFill>
            <a:srgbClr val="EFEAD8"/>
          </a:solidFill>
          <a:ln/>
          <a:effectLst>
            <a:outerShdw sx="100000" sy="100000" kx="0" ky="0" algn="bl" rotWithShape="0" blurRad="101600" dist="508" dir="5400000">
              <a:srgbClr val="000000">
                <a:alpha val="10000"/>
              </a:srgbClr>
            </a:outerShdw>
          </a:effectLst>
        </p:spPr>
      </p:sp>
      <p:sp>
        <p:nvSpPr>
          <p:cNvPr id="24" name="Text 22"/>
          <p:cNvSpPr/>
          <p:nvPr/>
        </p:nvSpPr>
        <p:spPr>
          <a:xfrm>
            <a:off x="566928" y="5193792"/>
            <a:ext cx="11055096" cy="658368"/>
          </a:xfrm>
          <a:prstGeom prst="rect">
            <a:avLst/>
          </a:prstGeom>
          <a:noFill/>
          <a:ln/>
        </p:spPr>
        <p:txBody>
          <a:bodyPr wrap="square" lIns="0" tIns="0" rIns="0" bIns="0" rtlCol="0" anchor="ctr"/>
          <a:lstStyle/>
          <a:p>
            <a:pPr algn="ctr" indent="0" marL="0">
              <a:buNone/>
            </a:pPr>
            <a:r>
              <a:rPr lang="en-US" sz="1250" b="1" i="1" dirty="0">
                <a:solidFill>
                  <a:srgbClr val="8E3B32"/>
                </a:solidFill>
                <a:latin typeface="Calibri" pitchFamily="34" charset="0"/>
                <a:ea typeface="Calibri" pitchFamily="34" charset="-122"/>
                <a:cs typeface="Calibri" pitchFamily="34" charset="-120"/>
              </a:rPr>
              <a:t>Production-shaped, with a written gap list — which is a stronger claim than "production-ready".</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B2118"/>
        </a:solidFill>
      </p:bgPr>
    </p:bg>
    <p:spTree>
      <p:nvGrpSpPr>
        <p:cNvPr id="1" name=""/>
        <p:cNvGrpSpPr/>
        <p:nvPr/>
      </p:nvGrpSpPr>
      <p:grpSpPr>
        <a:xfrm>
          <a:off x="0" y="0"/>
          <a:ext cx="0" cy="0"/>
          <a:chOff x="0" y="0"/>
          <a:chExt cx="0" cy="0"/>
        </a:xfrm>
      </p:grpSpPr>
      <p:sp>
        <p:nvSpPr>
          <p:cNvPr id="2" name="Text 0"/>
          <p:cNvSpPr/>
          <p:nvPr/>
        </p:nvSpPr>
        <p:spPr>
          <a:xfrm>
            <a:off x="566928" y="786384"/>
            <a:ext cx="11055096"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to remember</a:t>
            </a:r>
            <a:endParaRPr lang="en-US" sz="3400" dirty="0"/>
          </a:p>
        </p:txBody>
      </p:sp>
      <p:sp>
        <p:nvSpPr>
          <p:cNvPr id="3" name="Shape 1"/>
          <p:cNvSpPr/>
          <p:nvPr/>
        </p:nvSpPr>
        <p:spPr>
          <a:xfrm>
            <a:off x="566928" y="1700784"/>
            <a:ext cx="457200" cy="457200"/>
          </a:xfrm>
          <a:prstGeom prst="ellipse">
            <a:avLst/>
          </a:prstGeom>
          <a:solidFill>
            <a:srgbClr val="B85042"/>
          </a:solidFill>
          <a:ln/>
        </p:spPr>
      </p:sp>
      <p:sp>
        <p:nvSpPr>
          <p:cNvPr id="4" name="Text 2"/>
          <p:cNvSpPr/>
          <p:nvPr/>
        </p:nvSpPr>
        <p:spPr>
          <a:xfrm>
            <a:off x="566928" y="1700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p:nvPr/>
        </p:nvSpPr>
        <p:spPr>
          <a:xfrm>
            <a:off x="1225296" y="1664208"/>
            <a:ext cx="10241280" cy="329184"/>
          </a:xfrm>
          <a:prstGeom prst="rect">
            <a:avLst/>
          </a:prstGeom>
          <a:noFill/>
          <a:ln/>
        </p:spPr>
        <p:txBody>
          <a:bodyPr wrap="square" lIns="0" tIns="0" rIns="0" bIns="0" rtlCol="0" anchor="ctr"/>
          <a:lstStyle/>
          <a:p>
            <a:pPr indent="0" marL="0">
              <a:buNone/>
            </a:pPr>
            <a:r>
              <a:rPr lang="en-US" sz="1600" b="1" dirty="0">
                <a:solidFill>
                  <a:srgbClr val="B85042"/>
                </a:solidFill>
                <a:latin typeface="Cambria" pitchFamily="34" charset="0"/>
                <a:ea typeface="Cambria" pitchFamily="34" charset="-122"/>
                <a:cs typeface="Cambria" pitchFamily="34" charset="-120"/>
              </a:rPr>
              <a:t>Explainability was the constraint, not a feature</a:t>
            </a:r>
            <a:endParaRPr lang="en-US" sz="1600" dirty="0"/>
          </a:p>
        </p:txBody>
      </p:sp>
      <p:sp>
        <p:nvSpPr>
          <p:cNvPr id="6" name="Text 4"/>
          <p:cNvSpPr/>
          <p:nvPr/>
        </p:nvSpPr>
        <p:spPr>
          <a:xfrm>
            <a:off x="1225296" y="2011680"/>
            <a:ext cx="10241280" cy="475488"/>
          </a:xfrm>
          <a:prstGeom prst="rect">
            <a:avLst/>
          </a:prstGeom>
          <a:noFill/>
          <a:ln/>
        </p:spPr>
        <p:txBody>
          <a:bodyPr wrap="square" lIns="0" tIns="0" rIns="0" bIns="0" rtlCol="0" anchor="ctr"/>
          <a:lstStyle/>
          <a:p>
            <a:pPr indent="0" marL="0">
              <a:buNone/>
            </a:pPr>
            <a:r>
              <a:rPr lang="en-US" sz="1200" dirty="0">
                <a:solidFill>
                  <a:srgbClr val="C9BFB2"/>
                </a:solidFill>
                <a:latin typeface="Calibri" pitchFamily="34" charset="0"/>
                <a:ea typeface="Calibri" pitchFamily="34" charset="-122"/>
                <a:cs typeface="Calibri" pitchFamily="34" charset="-120"/>
              </a:rPr>
              <a:t>Every adjustment is named, clamped and logged, because a price nobody can interrogate gets overridden.</a:t>
            </a:r>
            <a:endParaRPr lang="en-US" sz="1200" dirty="0"/>
          </a:p>
        </p:txBody>
      </p:sp>
      <p:sp>
        <p:nvSpPr>
          <p:cNvPr id="7" name="Shape 5"/>
          <p:cNvSpPr/>
          <p:nvPr/>
        </p:nvSpPr>
        <p:spPr>
          <a:xfrm>
            <a:off x="566928" y="2761488"/>
            <a:ext cx="457200" cy="457200"/>
          </a:xfrm>
          <a:prstGeom prst="ellipse">
            <a:avLst/>
          </a:prstGeom>
          <a:solidFill>
            <a:srgbClr val="B85042"/>
          </a:solidFill>
          <a:ln/>
        </p:spPr>
      </p:sp>
      <p:sp>
        <p:nvSpPr>
          <p:cNvPr id="8" name="Text 6"/>
          <p:cNvSpPr/>
          <p:nvPr/>
        </p:nvSpPr>
        <p:spPr>
          <a:xfrm>
            <a:off x="566928" y="27614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225296" y="2724912"/>
            <a:ext cx="10241280" cy="329184"/>
          </a:xfrm>
          <a:prstGeom prst="rect">
            <a:avLst/>
          </a:prstGeom>
          <a:noFill/>
          <a:ln/>
        </p:spPr>
        <p:txBody>
          <a:bodyPr wrap="square" lIns="0" tIns="0" rIns="0" bIns="0" rtlCol="0" anchor="ctr"/>
          <a:lstStyle/>
          <a:p>
            <a:pPr indent="0" marL="0">
              <a:buNone/>
            </a:pPr>
            <a:r>
              <a:rPr lang="en-US" sz="1600" b="1" dirty="0">
                <a:solidFill>
                  <a:srgbClr val="B85042"/>
                </a:solidFill>
                <a:latin typeface="Cambria" pitchFamily="34" charset="0"/>
                <a:ea typeface="Cambria" pitchFamily="34" charset="-122"/>
                <a:cs typeface="Cambria" pitchFamily="34" charset="-120"/>
              </a:rPr>
              <a:t>Every metric is quoted against a baseline</a:t>
            </a:r>
            <a:endParaRPr lang="en-US" sz="1600" dirty="0"/>
          </a:p>
        </p:txBody>
      </p:sp>
      <p:sp>
        <p:nvSpPr>
          <p:cNvPr id="10" name="Text 8"/>
          <p:cNvSpPr/>
          <p:nvPr/>
        </p:nvSpPr>
        <p:spPr>
          <a:xfrm>
            <a:off x="1225296" y="3072384"/>
            <a:ext cx="10241280" cy="475488"/>
          </a:xfrm>
          <a:prstGeom prst="rect">
            <a:avLst/>
          </a:prstGeom>
          <a:noFill/>
          <a:ln/>
        </p:spPr>
        <p:txBody>
          <a:bodyPr wrap="square" lIns="0" tIns="0" rIns="0" bIns="0" rtlCol="0" anchor="ctr"/>
          <a:lstStyle/>
          <a:p>
            <a:pPr indent="0" marL="0">
              <a:buNone/>
            </a:pPr>
            <a:r>
              <a:rPr lang="en-US" sz="1200" dirty="0">
                <a:solidFill>
                  <a:srgbClr val="C9BFB2"/>
                </a:solidFill>
                <a:latin typeface="Calibri" pitchFamily="34" charset="0"/>
                <a:ea typeface="Calibri" pitchFamily="34" charset="-122"/>
                <a:cs typeface="Calibri" pitchFamily="34" charset="-120"/>
              </a:rPr>
              <a:t>GBR MAE 0.0644 against 0.1430 — 55% better. On a chronological split, never shuffled.</a:t>
            </a:r>
            <a:endParaRPr lang="en-US" sz="1200" dirty="0"/>
          </a:p>
        </p:txBody>
      </p:sp>
      <p:sp>
        <p:nvSpPr>
          <p:cNvPr id="11" name="Shape 9"/>
          <p:cNvSpPr/>
          <p:nvPr/>
        </p:nvSpPr>
        <p:spPr>
          <a:xfrm>
            <a:off x="566928" y="3822192"/>
            <a:ext cx="457200" cy="457200"/>
          </a:xfrm>
          <a:prstGeom prst="ellipse">
            <a:avLst/>
          </a:prstGeom>
          <a:solidFill>
            <a:srgbClr val="B85042"/>
          </a:solidFill>
          <a:ln/>
        </p:spPr>
      </p:sp>
      <p:sp>
        <p:nvSpPr>
          <p:cNvPr id="12" name="Text 10"/>
          <p:cNvSpPr/>
          <p:nvPr/>
        </p:nvSpPr>
        <p:spPr>
          <a:xfrm>
            <a:off x="566928" y="38221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1225296" y="3785616"/>
            <a:ext cx="10241280" cy="329184"/>
          </a:xfrm>
          <a:prstGeom prst="rect">
            <a:avLst/>
          </a:prstGeom>
          <a:noFill/>
          <a:ln/>
        </p:spPr>
        <p:txBody>
          <a:bodyPr wrap="square" lIns="0" tIns="0" rIns="0" bIns="0" rtlCol="0" anchor="ctr"/>
          <a:lstStyle/>
          <a:p>
            <a:pPr indent="0" marL="0">
              <a:buNone/>
            </a:pPr>
            <a:r>
              <a:rPr lang="en-US" sz="1600" b="1" dirty="0">
                <a:solidFill>
                  <a:srgbClr val="B85042"/>
                </a:solidFill>
                <a:latin typeface="Cambria" pitchFamily="34" charset="0"/>
                <a:ea typeface="Cambria" pitchFamily="34" charset="-122"/>
                <a:cs typeface="Cambria" pitchFamily="34" charset="-120"/>
              </a:rPr>
              <a:t>Guarantees are structural, not conventional</a:t>
            </a:r>
            <a:endParaRPr lang="en-US" sz="1600" dirty="0"/>
          </a:p>
        </p:txBody>
      </p:sp>
      <p:sp>
        <p:nvSpPr>
          <p:cNvPr id="14" name="Text 12"/>
          <p:cNvSpPr/>
          <p:nvPr/>
        </p:nvSpPr>
        <p:spPr>
          <a:xfrm>
            <a:off x="1225296" y="4133088"/>
            <a:ext cx="10241280" cy="475488"/>
          </a:xfrm>
          <a:prstGeom prst="rect">
            <a:avLst/>
          </a:prstGeom>
          <a:noFill/>
          <a:ln/>
        </p:spPr>
        <p:txBody>
          <a:bodyPr wrap="square" lIns="0" tIns="0" rIns="0" bIns="0" rtlCol="0" anchor="ctr"/>
          <a:lstStyle/>
          <a:p>
            <a:pPr indent="0" marL="0">
              <a:buNone/>
            </a:pPr>
            <a:r>
              <a:rPr lang="en-US" sz="1200" dirty="0">
                <a:solidFill>
                  <a:srgbClr val="C9BFB2"/>
                </a:solidFill>
                <a:latin typeface="Calibri" pitchFamily="34" charset="0"/>
                <a:ea typeface="Calibri" pitchFamily="34" charset="-122"/>
                <a:cs typeface="Calibri" pitchFamily="34" charset="-120"/>
              </a:rPr>
              <a:t>A price that skipped the guardrails cannot be constructed. The agent cannot reach a write endpoint.</a:t>
            </a:r>
            <a:endParaRPr lang="en-US" sz="1200" dirty="0"/>
          </a:p>
        </p:txBody>
      </p:sp>
      <p:sp>
        <p:nvSpPr>
          <p:cNvPr id="15" name="Shape 13"/>
          <p:cNvSpPr/>
          <p:nvPr/>
        </p:nvSpPr>
        <p:spPr>
          <a:xfrm>
            <a:off x="566928" y="4882896"/>
            <a:ext cx="457200" cy="457200"/>
          </a:xfrm>
          <a:prstGeom prst="ellipse">
            <a:avLst/>
          </a:prstGeom>
          <a:solidFill>
            <a:srgbClr val="B85042"/>
          </a:solidFill>
          <a:ln/>
        </p:spPr>
      </p:sp>
      <p:sp>
        <p:nvSpPr>
          <p:cNvPr id="16" name="Text 14"/>
          <p:cNvSpPr/>
          <p:nvPr/>
        </p:nvSpPr>
        <p:spPr>
          <a:xfrm>
            <a:off x="566928" y="48828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225296" y="4846320"/>
            <a:ext cx="10241280" cy="329184"/>
          </a:xfrm>
          <a:prstGeom prst="rect">
            <a:avLst/>
          </a:prstGeom>
          <a:noFill/>
          <a:ln/>
        </p:spPr>
        <p:txBody>
          <a:bodyPr wrap="square" lIns="0" tIns="0" rIns="0" bIns="0" rtlCol="0" anchor="ctr"/>
          <a:lstStyle/>
          <a:p>
            <a:pPr indent="0" marL="0">
              <a:buNone/>
            </a:pPr>
            <a:r>
              <a:rPr lang="en-US" sz="1600" b="1" dirty="0">
                <a:solidFill>
                  <a:srgbClr val="B85042"/>
                </a:solidFill>
                <a:latin typeface="Cambria" pitchFamily="34" charset="0"/>
                <a:ea typeface="Cambria" pitchFamily="34" charset="-122"/>
                <a:cs typeface="Cambria" pitchFamily="34" charset="-120"/>
              </a:rPr>
              <a:t>The bugs are the interesting part</a:t>
            </a:r>
            <a:endParaRPr lang="en-US" sz="1600" dirty="0"/>
          </a:p>
        </p:txBody>
      </p:sp>
      <p:sp>
        <p:nvSpPr>
          <p:cNvPr id="18" name="Text 16"/>
          <p:cNvSpPr/>
          <p:nvPr/>
        </p:nvSpPr>
        <p:spPr>
          <a:xfrm>
            <a:off x="1225296" y="5193792"/>
            <a:ext cx="10241280" cy="475488"/>
          </a:xfrm>
          <a:prstGeom prst="rect">
            <a:avLst/>
          </a:prstGeom>
          <a:noFill/>
          <a:ln/>
        </p:spPr>
        <p:txBody>
          <a:bodyPr wrap="square" lIns="0" tIns="0" rIns="0" bIns="0" rtlCol="0" anchor="ctr"/>
          <a:lstStyle/>
          <a:p>
            <a:pPr indent="0" marL="0">
              <a:buNone/>
            </a:pPr>
            <a:r>
              <a:rPr lang="en-US" sz="1200" dirty="0">
                <a:solidFill>
                  <a:srgbClr val="C9BFB2"/>
                </a:solidFill>
                <a:latin typeface="Calibri" pitchFamily="34" charset="0"/>
                <a:ea typeface="Calibri" pitchFamily="34" charset="-122"/>
                <a:cs typeface="Calibri" pitchFamily="34" charset="-120"/>
              </a:rPr>
              <a:t>A model that passed every test and was worse than nothing; a column with the right mean and the wrong values.</a:t>
            </a:r>
            <a:endParaRPr lang="en-US" sz="1200" dirty="0"/>
          </a:p>
        </p:txBody>
      </p:sp>
      <p:sp>
        <p:nvSpPr>
          <p:cNvPr id="19" name="Text 17"/>
          <p:cNvSpPr/>
          <p:nvPr/>
        </p:nvSpPr>
        <p:spPr>
          <a:xfrm>
            <a:off x="566928" y="6053328"/>
            <a:ext cx="11055096" cy="365760"/>
          </a:xfrm>
          <a:prstGeom prst="rect">
            <a:avLst/>
          </a:prstGeom>
          <a:noFill/>
          <a:ln/>
        </p:spPr>
        <p:txBody>
          <a:bodyPr wrap="square" lIns="0" tIns="0" rIns="0" bIns="0" rtlCol="0" anchor="ctr"/>
          <a:lstStyle/>
          <a:p>
            <a:pPr indent="0" marL="0">
              <a:buNone/>
            </a:pPr>
            <a:r>
              <a:rPr lang="en-US" sz="1250" dirty="0">
                <a:solidFill>
                  <a:srgbClr val="776A5F"/>
                </a:solidFill>
                <a:latin typeface="Courier New" pitchFamily="34" charset="0"/>
                <a:ea typeface="Courier New" pitchFamily="34" charset="-122"/>
                <a:cs typeface="Courier New" pitchFamily="34" charset="-120"/>
              </a:rPr>
              <a:t>docker compose up --build     →     localhost:8501</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Dynamic Hotel Pricing System</dc:title>
  <dc:subject>PptxGenJS Presentation</dc:subject>
  <dc:creator>Sanchay</dc:creator>
  <cp:lastModifiedBy>Sanchay</cp:lastModifiedBy>
  <cp:revision>1</cp:revision>
  <dcterms:created xsi:type="dcterms:W3CDTF">2026-08-25T05:28:47Z</dcterms:created>
  <dcterms:modified xsi:type="dcterms:W3CDTF">2026-08-25T05:28:47Z</dcterms:modified>
</cp:coreProperties>
</file>